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rgbClr val="E45728"/>
            </a:solidFill>
            <a:ln w="31750" cap="flat">
              <a:solidFill>
                <a:srgbClr val="E457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B1B0F"/>
                    </a:solidFill>
                    <a:latin typeface="La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5728"/>
              </a:solidFill>
              <a:ln w="9525" cap="flat">
                <a:solidFill>
                  <a:srgbClr val="E457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fév. 25</c:v>
                  </c:pt>
                  <c:pt idx="1">
                    <c:v>mars</c:v>
                  </c:pt>
                  <c:pt idx="2">
                    <c:v>avr.</c:v>
                  </c:pt>
                  <c:pt idx="3">
                    <c:v>mai</c:v>
                  </c:pt>
                  <c:pt idx="4">
                    <c:v>juin</c:v>
                  </c:pt>
                  <c:pt idx="5">
                    <c:v>juil.</c:v>
                  </c:pt>
                  <c:pt idx="6">
                    <c:v>août</c:v>
                  </c:pt>
                  <c:pt idx="7">
                    <c:v>sept.</c:v>
                  </c:pt>
                  <c:pt idx="8">
                    <c:v>oct.</c:v>
                  </c:pt>
                  <c:pt idx="9">
                    <c:v>nov.</c:v>
                  </c:pt>
                  <c:pt idx="10">
                    <c:v>déc.</c:v>
                  </c:pt>
                  <c:pt idx="11">
                    <c:v>janv. 26</c:v>
                  </c:pt>
                  <c:pt idx="12">
                    <c:v>fév.</c:v>
                  </c:pt>
                  <c:pt idx="13">
                    <c:v>mars</c:v>
                  </c:pt>
                  <c:pt idx="14">
                    <c:v>avr.</c:v>
                  </c:pt>
                  <c:pt idx="15">
                    <c:v>mai</c:v>
                  </c:pt>
                  <c:pt idx="16">
                    <c:v>juin</c:v>
                  </c:pt>
                  <c:pt idx="17">
                    <c:v>juil. 26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1042</c:v>
                </c:pt>
                <c:pt idx="1">
                  <c:v>1039</c:v>
                </c:pt>
                <c:pt idx="2">
                  <c:v>1039</c:v>
                </c:pt>
                <c:pt idx="3">
                  <c:v>1234</c:v>
                </c:pt>
                <c:pt idx="4">
                  <c:v>1418</c:v>
                </c:pt>
                <c:pt idx="5">
                  <c:v>1591</c:v>
                </c:pt>
                <c:pt idx="6">
                  <c:v>1746</c:v>
                </c:pt>
                <c:pt idx="7">
                  <c:v>1948</c:v>
                </c:pt>
                <c:pt idx="8">
                  <c:v>2292</c:v>
                </c:pt>
                <c:pt idx="9">
                  <c:v>2596</c:v>
                </c:pt>
                <c:pt idx="10">
                  <c:v>2590</c:v>
                </c:pt>
                <c:pt idx="11">
                  <c:v>2571</c:v>
                </c:pt>
                <c:pt idx="12">
                  <c:v>2558</c:v>
                </c:pt>
                <c:pt idx="13">
                  <c:v>2696</c:v>
                </c:pt>
                <c:pt idx="14">
                  <c:v>2929</c:v>
                </c:pt>
                <c:pt idx="15">
                  <c:v>3162</c:v>
                </c:pt>
                <c:pt idx="16">
                  <c:v>3295</c:v>
                </c:pt>
                <c:pt idx="17">
                  <c:v>3496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rgbClr val="922D18"/>
            </a:solidFill>
            <a:ln w="31750" cap="flat">
              <a:solidFill>
                <a:srgbClr val="922D1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B1B0F"/>
                    </a:solidFill>
                    <a:latin typeface="La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22D18"/>
              </a:solidFill>
              <a:ln w="9525" cap="flat">
                <a:solidFill>
                  <a:srgbClr val="922D1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fév. 25</c:v>
                  </c:pt>
                  <c:pt idx="1">
                    <c:v>mars</c:v>
                  </c:pt>
                  <c:pt idx="2">
                    <c:v>avr.</c:v>
                  </c:pt>
                  <c:pt idx="3">
                    <c:v>mai</c:v>
                  </c:pt>
                  <c:pt idx="4">
                    <c:v>juin</c:v>
                  </c:pt>
                  <c:pt idx="5">
                    <c:v>juil.</c:v>
                  </c:pt>
                  <c:pt idx="6">
                    <c:v>août</c:v>
                  </c:pt>
                  <c:pt idx="7">
                    <c:v>sept.</c:v>
                  </c:pt>
                  <c:pt idx="8">
                    <c:v>oct.</c:v>
                  </c:pt>
                  <c:pt idx="9">
                    <c:v>nov.</c:v>
                  </c:pt>
                  <c:pt idx="10">
                    <c:v>déc.</c:v>
                  </c:pt>
                  <c:pt idx="11">
                    <c:v>janv. 26</c:v>
                  </c:pt>
                  <c:pt idx="12">
                    <c:v>fév.</c:v>
                  </c:pt>
                  <c:pt idx="13">
                    <c:v>mars</c:v>
                  </c:pt>
                  <c:pt idx="14">
                    <c:v>avr.</c:v>
                  </c:pt>
                  <c:pt idx="15">
                    <c:v>mai</c:v>
                  </c:pt>
                  <c:pt idx="16">
                    <c:v>juin</c:v>
                  </c:pt>
                  <c:pt idx="17">
                    <c:v>juil. 26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33</c:v>
                </c:pt>
                <c:pt idx="4">
                  <c:v>82</c:v>
                </c:pt>
                <c:pt idx="5">
                  <c:v>172</c:v>
                </c:pt>
                <c:pt idx="6">
                  <c:v>267</c:v>
                </c:pt>
                <c:pt idx="7">
                  <c:v>343</c:v>
                </c:pt>
                <c:pt idx="8">
                  <c:v>454</c:v>
                </c:pt>
                <c:pt idx="9">
                  <c:v>464</c:v>
                </c:pt>
                <c:pt idx="10">
                  <c:v>457</c:v>
                </c:pt>
                <c:pt idx="11">
                  <c:v>445</c:v>
                </c:pt>
                <c:pt idx="12">
                  <c:v>438</c:v>
                </c:pt>
                <c:pt idx="13">
                  <c:v>455</c:v>
                </c:pt>
                <c:pt idx="14">
                  <c:v>517</c:v>
                </c:pt>
                <c:pt idx="15">
                  <c:v>572</c:v>
                </c:pt>
                <c:pt idx="16">
                  <c:v>702</c:v>
                </c:pt>
                <c:pt idx="17">
                  <c:v>813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3B1B0F"/>
                  </a:solidFill>
                  <a:latin typeface="La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900" b="0" i="0" u="none" strike="noStrike">
                <a:solidFill>
                  <a:srgbClr val="7A5A4A"/>
                </a:solidFill>
                <a:latin typeface="La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l"/>
        <c:majorGridlines>
          <c:spPr>
            <a:ln w="6350" cap="flat">
              <a:solidFill>
                <a:srgbClr val="E6D9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5A4A"/>
                </a:solidFill>
                <a:latin typeface="La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B1B0F"/>
              </a:solidFill>
              <a:latin typeface="Lato"/>
              <a:cs typeface="Lato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22D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B1B0F"/>
                    </a:solidFill>
                    <a:latin typeface="La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mars</c:v>
                  </c:pt>
                  <c:pt idx="1">
                    <c:v>avr.</c:v>
                  </c:pt>
                  <c:pt idx="2">
                    <c:v>mai</c:v>
                  </c:pt>
                  <c:pt idx="3">
                    <c:v>juin</c:v>
                  </c:pt>
                  <c:pt idx="4">
                    <c:v>juil.</c:v>
                  </c:pt>
                  <c:pt idx="5">
                    <c:v>août</c:v>
                  </c:pt>
                  <c:pt idx="6">
                    <c:v>sept.</c:v>
                  </c:pt>
                  <c:pt idx="7">
                    <c:v>oct.</c:v>
                  </c:pt>
                  <c:pt idx="8">
                    <c:v>nov.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1173</c:v>
                </c:pt>
                <c:pt idx="3">
                  <c:v>4988</c:v>
                </c:pt>
                <c:pt idx="4">
                  <c:v>10546</c:v>
                </c:pt>
                <c:pt idx="5">
                  <c:v>10757</c:v>
                </c:pt>
                <c:pt idx="6">
                  <c:v>8487</c:v>
                </c:pt>
                <c:pt idx="7">
                  <c:v>10021</c:v>
                </c:pt>
                <c:pt idx="8">
                  <c:v>2049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457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B1B0F"/>
                    </a:solidFill>
                    <a:latin typeface="La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mars</c:v>
                  </c:pt>
                  <c:pt idx="1">
                    <c:v>avr.</c:v>
                  </c:pt>
                  <c:pt idx="2">
                    <c:v>mai</c:v>
                  </c:pt>
                  <c:pt idx="3">
                    <c:v>juin</c:v>
                  </c:pt>
                  <c:pt idx="4">
                    <c:v>juil.</c:v>
                  </c:pt>
                  <c:pt idx="5">
                    <c:v>août</c:v>
                  </c:pt>
                  <c:pt idx="6">
                    <c:v>sept.</c:v>
                  </c:pt>
                  <c:pt idx="7">
                    <c:v>oct.</c:v>
                  </c:pt>
                  <c:pt idx="8">
                    <c:v>nov.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984</c:v>
                </c:pt>
                <c:pt idx="1">
                  <c:v>2882</c:v>
                </c:pt>
                <c:pt idx="2">
                  <c:v>12050</c:v>
                </c:pt>
                <c:pt idx="3">
                  <c:v>15112</c:v>
                </c:pt>
                <c:pt idx="4">
                  <c:v>14258</c:v>
                </c:pt>
                <c:pt idx="5">
                  <c:v>18186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3B1B0F"/>
                  </a:solidFill>
                  <a:latin typeface="La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5A4A"/>
                </a:solidFill>
                <a:latin typeface="La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D9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5A4A"/>
                </a:solidFill>
                <a:latin typeface="La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B1B0F"/>
              </a:solidFill>
              <a:latin typeface="Lato"/>
              <a:cs typeface="Lato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22D18"/>
            </a:solidFill>
            <a:ln w="31750" cap="flat">
              <a:solidFill>
                <a:srgbClr val="922D1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B1B0F"/>
                    </a:solidFill>
                    <a:latin typeface="La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22D18"/>
              </a:solidFill>
              <a:ln w="9525" cap="flat">
                <a:solidFill>
                  <a:srgbClr val="922D1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  <c:pt idx="5">
                    <c:v>juin</c:v>
                  </c:pt>
                  <c:pt idx="6">
                    <c:v>juil.</c:v>
                  </c:pt>
                  <c:pt idx="7">
                    <c:v>août</c:v>
                  </c:pt>
                  <c:pt idx="8">
                    <c:v>sept.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déc.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1317</c:v>
                </c:pt>
                <c:pt idx="1">
                  <c:v>1425</c:v>
                </c:pt>
                <c:pt idx="2">
                  <c:v>1443</c:v>
                </c:pt>
                <c:pt idx="3">
                  <c:v>1451</c:v>
                </c:pt>
                <c:pt idx="4">
                  <c:v>1875</c:v>
                </c:pt>
                <c:pt idx="5">
                  <c:v>4174</c:v>
                </c:pt>
                <c:pt idx="6">
                  <c:v>9991</c:v>
                </c:pt>
                <c:pt idx="7">
                  <c:v>12075</c:v>
                </c:pt>
                <c:pt idx="8">
                  <c:v>11687</c:v>
                </c:pt>
                <c:pt idx="9">
                  <c:v>12143</c:v>
                </c:pt>
                <c:pt idx="10">
                  <c:v>4189</c:v>
                </c:pt>
                <c:pt idx="11">
                  <c:v>1309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45728"/>
            </a:solidFill>
            <a:ln w="31750" cap="flat">
              <a:solidFill>
                <a:srgbClr val="E457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B1B0F"/>
                    </a:solidFill>
                    <a:latin typeface="La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5728"/>
              </a:solidFill>
              <a:ln w="9525" cap="flat">
                <a:solidFill>
                  <a:srgbClr val="E457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  <c:pt idx="5">
                    <c:v>juin</c:v>
                  </c:pt>
                  <c:pt idx="6">
                    <c:v>juil.</c:v>
                  </c:pt>
                  <c:pt idx="7">
                    <c:v>août</c:v>
                  </c:pt>
                  <c:pt idx="8">
                    <c:v>sept.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déc.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2153</c:v>
                </c:pt>
                <c:pt idx="1">
                  <c:v>1562</c:v>
                </c:pt>
                <c:pt idx="2">
                  <c:v>2036</c:v>
                </c:pt>
                <c:pt idx="3">
                  <c:v>2336</c:v>
                </c:pt>
                <c:pt idx="4">
                  <c:v>5496</c:v>
                </c:pt>
                <c:pt idx="5">
                  <c:v>12202</c:v>
                </c:pt>
                <c:pt idx="6">
                  <c:v>18005</c:v>
                </c:pt>
                <c:pt idx="7">
                  <c:v>22425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3B1B0F"/>
                  </a:solidFill>
                  <a:latin typeface="La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5A4A"/>
                </a:solidFill>
                <a:latin typeface="La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D9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5A4A"/>
                </a:solidFill>
                <a:latin typeface="La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B1B0F"/>
              </a:solidFill>
              <a:latin typeface="Lato"/>
              <a:cs typeface="Lato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45728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922D18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EBE5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4E7A3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C9B7A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3B1B0F"/>
                      </a:solidFill>
                      <a:latin typeface="Lato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3B1B0F"/>
                      </a:solidFill>
                      <a:latin typeface="Lato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3B1B0F"/>
                      </a:solidFill>
                      <a:latin typeface="Lato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3B1B0F"/>
                      </a:solidFill>
                      <a:latin typeface="Lato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3B1B0F"/>
                      </a:solidFill>
                      <a:latin typeface="Lato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Paid social 78 %</c:v>
                </c:pt>
                <c:pt idx="1">
                  <c:v>Direct 16 %</c:v>
                </c:pt>
                <c:pt idx="2">
                  <c:v>SEO 4 %</c:v>
                </c:pt>
                <c:pt idx="3">
                  <c:v>Social organique 1 %</c:v>
                </c:pt>
                <c:pt idx="4">
                  <c:v>Autres 1 %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51792</c:v>
                </c:pt>
                <c:pt idx="1">
                  <c:v>10629</c:v>
                </c:pt>
                <c:pt idx="2">
                  <c:v>2527</c:v>
                </c:pt>
                <c:pt idx="3">
                  <c:v>846</c:v>
                </c:pt>
                <c:pt idx="4">
                  <c:v>425</c:v>
                </c:pt>
              </c:numCache>
            </c:numRef>
          </c:val>
        </c:ser>
        <c:firstSliceAng val="0"/>
        <c:holeSize val="55"/>
      </c:doughnutChart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50">
              <a:solidFill>
                <a:srgbClr val="3B1B0F"/>
              </a:solidFill>
              <a:latin typeface="Lato"/>
              <a:cs typeface="Lato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de bilan pour préparer la reconduction 2027. Sources : GA4 (propriété chasseursdegraines.fr), API Meta Ads (compte ANMF), reportings mensuels Looker 2025 et juin 2026, board Monday PE 2025/2026, relevés d'abonnés de fin de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: board Monday PE 2025 et PE 2026, stratégie 2026, reportings Looker. 12,6 M = 1,02 M impressions Meta + 10,7 M TikTok Ads sur mai-nov. 2025. Sessions : 33 751 (jan.-août 2025) vs 66 215 (jan.-août 2026), GA4.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Instagram : creux nov. 2025 → fév. 2026 pendant l'inter-campagne (2 596 → 2 558), puis +938 entre mars et juillet 2026. TikTok : idem, stagnation hors campagne (464 → 438), reprise dès avril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 2025 : 3 275,42 € pour 1 023 895 impressions, 48 021 clics, 41 384 vues à 100 %. Meta 2026 mars-août : 2 542,39 € pour 1 116 233 impressions, 63 472 clics, 58 751 vues à 100 %. TikTok : cumul 2026 non disponible dans les données récupérées (Supermetrics expiré) — seul juin 2026 est documenté : 483 € pour 1,85 M d'impressions, 1,76 M de vues, 7 536 visites.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 : 63 079 sessions, 20,9 % engagées. 2026 jan.-août : 66 215 sessions, 18,4 % engagées. Août 2026 : 22 425 sessions (+86 % vs août 2025). Canaux 2026 : paid social 51 792, direct 10 629, organic search 2 527, organic social 846. Pages fantômes du thème encore servies : /produit/woo-album-4, /elements/tabs,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8229600" cy="5486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2377440"/>
            <a:ext cx="5029200" cy="5029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tmp/claude-0/-home-user-Dashboard-Antidotes/19e64f65-f236-5057-97fe-8b787e5e46cb/scratchpad/assets/ChasseursDeGraines_Logo_Quad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2377440" cy="1143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874520"/>
            <a:ext cx="3246120" cy="329184"/>
          </a:xfrm>
          <a:prstGeom prst="roundRect">
            <a:avLst>
              <a:gd name="adj" fmla="val 50000"/>
            </a:avLst>
          </a:prstGeom>
          <a:solidFill>
            <a:srgbClr val="922D18"/>
          </a:solidFill>
          <a:ln w="12700">
            <a:solidFill>
              <a:srgbClr val="922D1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87452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ANMF · CHASSEURS DE GRAINES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922D1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Bilan 2025-2026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546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457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&amp; cap 2027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06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 que les réseaux, la médiatisation et le site ont produit, et ce qu'on arrête, garde et ajoute pour aller plus loin.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Septembre 2026 · Alessandro Di Giovanni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949440" y="1051560"/>
            <a:ext cx="1874520" cy="3842766"/>
          </a:xfrm>
          <a:prstGeom prst="roundRect">
            <a:avLst>
              <a:gd name="adj" fmla="val 15610"/>
            </a:avLst>
          </a:prstGeom>
          <a:solidFill>
            <a:srgbClr val="1C1410"/>
          </a:solidFill>
          <a:ln w="12700">
            <a:solidFill>
              <a:srgbClr val="1C141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13448" y="1115568"/>
            <a:ext cx="1746504" cy="3714750"/>
          </a:xfrm>
          <a:prstGeom prst="roundRect">
            <a:avLst>
              <a:gd name="adj" fmla="val 13613"/>
            </a:avLst>
          </a:prstGeom>
          <a:solidFill>
            <a:srgbClr val="FFFFFF"/>
          </a:solidFill>
          <a:ln w="12700">
            <a:solidFill>
              <a:srgbClr val="1C1410"/>
            </a:solidFill>
            <a:prstDash val="solid"/>
          </a:ln>
        </p:spPr>
      </p:sp>
      <p:pic>
        <p:nvPicPr>
          <p:cNvPr id="13" name="Image 1" descr="/tmp/claude-0/-home-user-Dashboard-Antidotes/19e64f65-f236-5057-97fe-8b787e5e46cb/scratchpad/assets/GRAIN_DE_VERIT_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13448" y="1115568"/>
            <a:ext cx="1746504" cy="37147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605522" y="1179576"/>
            <a:ext cx="562356" cy="100584"/>
          </a:xfrm>
          <a:prstGeom prst="roundRect">
            <a:avLst>
              <a:gd name="adj" fmla="val 50000"/>
            </a:avLst>
          </a:prstGeom>
          <a:solidFill>
            <a:srgbClr val="1C1410"/>
          </a:solidFill>
          <a:ln w="12700">
            <a:solidFill>
              <a:srgbClr val="1C141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281160" y="2148840"/>
            <a:ext cx="1874520" cy="3842766"/>
          </a:xfrm>
          <a:prstGeom prst="roundRect">
            <a:avLst>
              <a:gd name="adj" fmla="val 15610"/>
            </a:avLst>
          </a:prstGeom>
          <a:solidFill>
            <a:srgbClr val="1C1410"/>
          </a:solidFill>
          <a:ln w="12700">
            <a:solidFill>
              <a:srgbClr val="1C141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45168" y="2212848"/>
            <a:ext cx="1746504" cy="3714750"/>
          </a:xfrm>
          <a:prstGeom prst="roundRect">
            <a:avLst>
              <a:gd name="adj" fmla="val 13613"/>
            </a:avLst>
          </a:prstGeom>
          <a:solidFill>
            <a:srgbClr val="FFFFFF"/>
          </a:solidFill>
          <a:ln w="12700">
            <a:solidFill>
              <a:srgbClr val="1C1410"/>
            </a:solidFill>
            <a:prstDash val="solid"/>
          </a:ln>
        </p:spPr>
      </p:sp>
      <p:pic>
        <p:nvPicPr>
          <p:cNvPr id="17" name="Image 2" descr="/tmp/claude-0/-home-user-Dashboard-Antidotes/19e64f65-f236-5057-97fe-8b787e5e46cb/scratchpad/assets/T_ES_PLUT_T_1_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45168" y="2212848"/>
            <a:ext cx="1746504" cy="371475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937242" y="2276856"/>
            <a:ext cx="562356" cy="100584"/>
          </a:xfrm>
          <a:prstGeom prst="roundRect">
            <a:avLst>
              <a:gd name="adj" fmla="val 50000"/>
            </a:avLst>
          </a:prstGeom>
          <a:solidFill>
            <a:srgbClr val="1C1410"/>
          </a:solidFill>
          <a:ln w="12700">
            <a:solidFill>
              <a:srgbClr val="1C141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75320" y="4526280"/>
            <a:ext cx="1737360" cy="2167128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pic>
        <p:nvPicPr>
          <p:cNvPr id="20" name="Image 3" descr="/tmp/claude-0/-home-user-Dashboard-Antidotes/19e64f65-f236-5057-97fe-8b787e5e46cb/scratchpad/assets/UNPOPULAR_OPINIO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4590288"/>
            <a:ext cx="1609344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ashboard-Antidotes/19e64f65-f236-5057-97fe-8b787e5e46cb/scratchpad/assets/2025_04_17_chasseurs-de-graines-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94960"/>
            <a:ext cx="4206240" cy="1463040"/>
          </a:xfrm>
          <a:prstGeom prst="rect">
            <a:avLst/>
          </a:prstGeom>
          <a:solidFill>
            <a:srgbClr val="922D18">
              <a:alpha val="85000"/>
            </a:srgbClr>
          </a:solidFill>
          <a:ln w="12700">
            <a:solidFill>
              <a:srgbClr val="922D18">
                <a:alpha val="85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74320" y="5989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Shooting 2025 · banque d'images Chasseurs de Graines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4114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22D1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Ce qu'on a construit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572000" y="18288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ANS DE CAMPAGNE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0" y="1417320"/>
            <a:ext cx="3429000" cy="3977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84632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22D1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2025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2377440"/>
            <a:ext cx="2880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Lancement TikTok : 0 → 464 abonnés en 8 mois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Première campagne d'influence (2 créateurs)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nouveaux piliers de contenus testés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Dark ads Meta + TikTok : 3 300 € HT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Trafic site ×10 sur les mois de campagne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83880" y="1417320"/>
            <a:ext cx="3429000" cy="3977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45820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2026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2377440"/>
            <a:ext cx="2880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Nouvelle DA + claim, comptes remis à jour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 à 18 publications / mois tenues depuis mars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sets de stories interactives / mois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jours de tournage : 20 vidéos (immersion, FAQ expert, portraits, beauty shots)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Film de campagne 30 s + créatrice UGC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+236 %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5989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abonnés Instagram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fév. 2025 → juil. 2026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967728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12,6 M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967728" y="5989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impressions payantes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Meta + TikTok en 2025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363456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×2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363456" y="5989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sessions sur le site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jan.-août 2026 vs 2025</a:t>
            </a:r>
            <a:endParaRPr lang="en-US" sz="900" dirty="0"/>
          </a:p>
        </p:txBody>
      </p:sp>
      <p:pic>
        <p:nvPicPr>
          <p:cNvPr id="20" name="Image 1" descr="/tmp/claude-0/-home-user-Dashboard-Antidotes/19e64f65-f236-5057-97fe-8b787e5e46cb/scratchpad/assets/ChasseursDeGraines_Logo_Quad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263640"/>
            <a:ext cx="118872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LES COMMUNAUTÉS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22D1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Des communautés qui grandissent, sauf X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223760" cy="4892040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Abonnés en fin de mois · Instagram et TikTok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82880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001000" y="1371600"/>
            <a:ext cx="3657600" cy="115214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+236 %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1847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21396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1 042 → 3 496 abonnés. Reprise nette depuis mars 2026 (+200 / mois).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8001000" y="2615184"/>
            <a:ext cx="3657600" cy="115214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0" y="2724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813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3090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TikTok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33832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Compte ouvert en mars 2025. Deux paliers : campagnes 2025 puis reprise avril 2026.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001000" y="3858768"/>
            <a:ext cx="3657600" cy="115214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229600" y="39684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+27 %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4334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LinkedIn ANMF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6268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5 229 → 6 632. Croissance régulière, audience pro et prescripteurs.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8001000" y="5102352"/>
            <a:ext cx="3657600" cy="115214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229600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5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1 423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 (Twitter)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58704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1 429 en mars 2023. Aucun mouvement en 3 ans, 0 publication en 2026.</a:t>
            </a:r>
            <a:endParaRPr lang="en-US" sz="93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Sources : relevés d'abonnés de fin de mois (tableau ANMF I Reporting DS), fév. 2025 → juil. 2026. Facebook : 83 → 166.</a:t>
            </a:r>
            <a:endParaRPr lang="en-US" sz="850" dirty="0"/>
          </a:p>
        </p:txBody>
      </p:sp>
      <p:pic>
        <p:nvPicPr>
          <p:cNvPr id="25" name="Image 0" descr="/tmp/claude-0/-home-user-Dashboard-Antidotes/19e64f65-f236-5057-97fe-8b787e5e46cb/scratchpad/assets/ChasseursDeGraines_Logo_Quad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263640"/>
            <a:ext cx="118872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MÉDIATISATION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22D1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Plus de résultats pour moins de budget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897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Meta Ads · campagne 2025 (mai-nov.) vs 2026 (mars-août)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1234440"/>
                <a:gridCol w="123444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5A4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2025 · 7 mois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5A4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2026 · 6 mois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5A4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Évolution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Budget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3 275 €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2 542 €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−22 %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Impressions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1,02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1,12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+9 %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Clics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48 021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63 472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+32 %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CTR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4,69 %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5,69 %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+21 %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CPM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3,20 €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2,28 €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−29 %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CPC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0,07 €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0,04 €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−43 %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Vidéos vues à 100 %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41 384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58 751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+42 %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97680"/>
            <a:ext cx="5897880" cy="1965960"/>
          </a:xfrm>
          <a:prstGeom prst="roundRect">
            <a:avLst>
              <a:gd name="adj" fmla="val 8372"/>
            </a:avLst>
          </a:prstGeom>
          <a:solidFill>
            <a:srgbClr val="922D18"/>
          </a:solidFill>
          <a:ln w="12700">
            <a:solidFill>
              <a:srgbClr val="922D18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EBE5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TikTok Ads · la machine à volume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800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10,7 M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3492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3E3D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impressions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3E3D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mai-nov. 2025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4800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0,30 €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53492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3E3D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CPM 2025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3E3D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0,26 € en juin 2026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4800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10 302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53492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3E3D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visites du site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3E3D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générées en 2025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4800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36 %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53492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3E3D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hook rate du POV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3E3D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« tes potes en stage »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675120" y="1371600"/>
            <a:ext cx="4983480" cy="4892040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90372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Clics Meta par mois · 2025 vs 2026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812280" y="1828800"/>
          <a:ext cx="4754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6903720" y="5715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Août 2026 : 18 186 clics à 0,03 € — le meilleur mois depuis le début de la campagne.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Sources : API Meta Ads, compte ANMF (relevé du 04/09/2026) ; reportings Looker campagne 2025 et juin 2026 pour TikTok Ads.</a:t>
            </a:r>
            <a:endParaRPr lang="en-US" sz="850" dirty="0"/>
          </a:p>
        </p:txBody>
      </p:sp>
      <p:pic>
        <p:nvPicPr>
          <p:cNvPr id="23" name="Image 0" descr="/tmp/claude-0/-home-user-Dashboard-Antidotes/19e64f65-f236-5057-97fe-8b787e5e46cb/scratchpad/assets/ChasseursDeGraines_Logo_Quad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263640"/>
            <a:ext cx="118872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"/>
            <a:ext cx="2697480" cy="274320"/>
          </a:xfrm>
          <a:prstGeom prst="roundRect">
            <a:avLst>
              <a:gd name="adj" fmla="val 50000"/>
            </a:avLst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 SITE WEB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22D1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 site : le trafic double, pas l'attention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5836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Sessions mensuelles · 2025 vs 2026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783080"/>
          <a:ext cx="6400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360920" y="1371600"/>
            <a:ext cx="42976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589520" y="1481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D'où vient le trafic 2026 (jan.-août)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7452360" y="178308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800600"/>
            <a:ext cx="2697480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77240" y="4910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8 %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52760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 sessions engagées (paid social)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556869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contre 66 % depuis Google. Le clic est acheté 0,04 €, puis perdu.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3374136" y="4800600"/>
            <a:ext cx="2697480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602736" y="4910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30 s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3602736" y="52760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 visite moyenne en campagne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3602736" y="556869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97 s hors campagne. La home : 61 000 sessions, 18 % d'engagement.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6199632" y="4800600"/>
            <a:ext cx="2697480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428232" y="4910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3,8 %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6428232" y="52760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 trafic SEO seulement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428232" y="556869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Fiches métiers et guides : 400 vues chacun en 8 mois. Le site n'existe pas sur Google.</a:t>
            </a:r>
            <a:endParaRPr lang="en-US" sz="930" dirty="0"/>
          </a:p>
        </p:txBody>
      </p:sp>
      <p:sp>
        <p:nvSpPr>
          <p:cNvPr id="23" name="Shape 19"/>
          <p:cNvSpPr/>
          <p:nvPr/>
        </p:nvSpPr>
        <p:spPr>
          <a:xfrm>
            <a:off x="9025128" y="4800600"/>
            <a:ext cx="2697480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9253728" y="4910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9253728" y="52760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objectif de conversion configuré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9253728" y="556869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 formulaires et 280 téléchargements en 8 mois, jamais comptés : rien ne prouve une candidature.</a:t>
            </a:r>
            <a:endParaRPr lang="en-US" sz="93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 : GA4, propriété chasseursdegraines.fr, 1er janv. 2025 → 31 août 2026. Sessions engagées = &gt; 10 s, ou 2 pages, ou une conversion.</a:t>
            </a:r>
            <a:endParaRPr lang="en-US" sz="850" dirty="0"/>
          </a:p>
        </p:txBody>
      </p:sp>
      <p:pic>
        <p:nvPicPr>
          <p:cNvPr id="28" name="Image 0" descr="/tmp/claude-0/-home-user-Dashboard-Antidotes/19e64f65-f236-5057-97fe-8b787e5e46cb/scratchpad/assets/ChasseursDeGraines_Logo_Quadr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263640"/>
            <a:ext cx="118872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922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RECOMMANDATIONS · 1/3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On arrête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E3D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Cinq choses qui coûtent du temps ou du budget sans preuve de résultat.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1344168"/>
          </a:xfrm>
          <a:prstGeom prst="roundRect">
            <a:avLst>
              <a:gd name="adj" fmla="val 12245"/>
            </a:avLst>
          </a:prstGeom>
          <a:solidFill>
            <a:srgbClr val="A6391F"/>
          </a:solidFill>
          <a:ln w="12700">
            <a:solidFill>
              <a:srgbClr val="B548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11096"/>
            <a:ext cx="457200" cy="457200"/>
          </a:xfrm>
          <a:prstGeom prst="ellipse">
            <a:avLst/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✕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83794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BE5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X (Twitter)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945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1 429 abonnés en mars 2023, 1 423 en mai 2026. Zéro publication en 2026 : on ferme proprement le compte (post de redirection, bio) au lieu de le laisser mourir.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440680" cy="1344168"/>
          </a:xfrm>
          <a:prstGeom prst="roundRect">
            <a:avLst>
              <a:gd name="adj" fmla="val 12245"/>
            </a:avLst>
          </a:prstGeom>
          <a:solidFill>
            <a:srgbClr val="A6391F"/>
          </a:solidFill>
          <a:ln w="12700">
            <a:solidFill>
              <a:srgbClr val="B548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1911096"/>
            <a:ext cx="457200" cy="457200"/>
          </a:xfrm>
          <a:prstGeom prst="ellipse">
            <a:avLst/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183794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BE5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Envoyer les ads sur la page d'accueil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1945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78 % du trafic 2026 vient du paid social et seulement 8 % de ces sessions sont engagées. Un clic à 0,04 € qui atterrit sur une home généraliste est un clic jeté.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5440680" cy="1344168"/>
          </a:xfrm>
          <a:prstGeom prst="roundRect">
            <a:avLst>
              <a:gd name="adj" fmla="val 12245"/>
            </a:avLst>
          </a:prstGeom>
          <a:solidFill>
            <a:srgbClr val="A6391F"/>
          </a:solidFill>
          <a:ln w="12700">
            <a:solidFill>
              <a:srgbClr val="B548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392424"/>
            <a:ext cx="457200" cy="457200"/>
          </a:xfrm>
          <a:prstGeom prst="ellipse">
            <a:avLst/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31927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BE5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 boost uniforme à 50 / 70 € par publication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67588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Les POV font 10,6 % de CTR, les reels inspirationnels 3,5 %. On arrête d'arroser tout le planning : le budget va aux 3 formats qui convertissent.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172968"/>
            <a:ext cx="5440680" cy="1344168"/>
          </a:xfrm>
          <a:prstGeom prst="roundRect">
            <a:avLst>
              <a:gd name="adj" fmla="val 12245"/>
            </a:avLst>
          </a:prstGeom>
          <a:solidFill>
            <a:srgbClr val="A6391F"/>
          </a:solidFill>
          <a:ln w="12700">
            <a:solidFill>
              <a:srgbClr val="B548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9088" y="3392424"/>
            <a:ext cx="457200" cy="457200"/>
          </a:xfrm>
          <a:prstGeom prst="ellipse">
            <a:avLst/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19088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✕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331927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BE5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Les posts « débat » sans animation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67588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Baromètre, Donne ta définition, Unpopular opinion : 12 à 83 commentaires par mois pour 250 000 à 1 M d'impressions. Ils ne restent que s'ils sont animés (réponses, relance en story).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654296"/>
            <a:ext cx="11109960" cy="1344168"/>
          </a:xfrm>
          <a:prstGeom prst="roundRect">
            <a:avLst>
              <a:gd name="adj" fmla="val 12245"/>
            </a:avLst>
          </a:prstGeom>
          <a:solidFill>
            <a:srgbClr val="A6391F"/>
          </a:solidFill>
          <a:ln w="12700">
            <a:solidFill>
              <a:srgbClr val="B548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873752"/>
            <a:ext cx="457200" cy="457200"/>
          </a:xfrm>
          <a:prstGeom prst="ellipse">
            <a:avLst/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✕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800600"/>
            <a:ext cx="10104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BE5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Les livrables sans calendrier ferme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5157216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ligne UGC prévue chaque mois depuis avril n'a été publiée qu'en septembre. Toute ligne budgétaire 2027 est datée, sinon elle est réallouée en tournage.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9D6C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Chiffres : relevés d'abonnés, GA4 2026, API Meta Ads (juin 2026 : POV 10,59 % de CTR vs 3,46 % reel Inside 2025), board Monday PE 2026.</a:t>
            </a:r>
            <a:endParaRPr lang="en-US" sz="850" dirty="0"/>
          </a:p>
        </p:txBody>
      </p:sp>
      <p:pic>
        <p:nvPicPr>
          <p:cNvPr id="32" name="Image 0" descr="/tmp/claude-0/-home-user-Dashboard-Antidotes/19e64f65-f236-5057-97fe-8b787e5e46cb/scratchpad/assets/ChasseursDeGraines_Logo_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263640"/>
            <a:ext cx="118872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"/>
            <a:ext cx="3154680" cy="274320"/>
          </a:xfrm>
          <a:prstGeom prst="roundRect">
            <a:avLst>
              <a:gd name="adj" fmla="val 50000"/>
            </a:avLst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RECOMMANDATIONS · 2/3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22D1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On continue, et on améliore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 qui marche est prouvé par les chiffres. On le garde, et on le pousse un cran plus loin.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40680" cy="4617720"/>
          </a:xfrm>
          <a:prstGeom prst="roundRect">
            <a:avLst>
              <a:gd name="adj" fmla="val 35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288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4E7A3A"/>
          </a:solidFill>
          <a:ln w="12700">
            <a:solidFill>
              <a:srgbClr val="4E7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ON CONTINUE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TikTok Ads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054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CPM 0,26-0,30 €, 10,7 M d'impressions en 2025, 1,85 M rien qu'en juin 2026. Le levier le moins cher pour toucher les 13-24 ans (42 % de l'audience).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26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Inside · POV · Micro-trottoir · FAQ expert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918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Les meilleurs hook rates (36 % sur le POV « tes potes en stage ») et la totalité des visites site issues des ads.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13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cadence 16-18 publications / mois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0782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Tenue sans trou depuis mars 2026 : c'est ce qui a relancé Instagram (+938 abonnés en 5 mois).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994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LinkedIn ANMF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646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Taux d'engagement 10 % en 2025, 25 % en juin 2026, +27 % d'abonnés. Le seul canal qui parle aux prescripteurs.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3858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Les stories interactives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6509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Grain de vérité, T'es plutôt, La bonne graine, Le compte est bon : 3 sets par mois, mécaniques natives, zéro média.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5440680" cy="4617720"/>
          </a:xfrm>
          <a:prstGeom prst="roundRect">
            <a:avLst>
              <a:gd name="adj" fmla="val 35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18288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1828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ON AMÉLIORE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 ciblage Meta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5054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45-54 ans = 22 % de l'audience 2025, 65+ en tête des impressions en juin 2026. Cible 16-30 : audiences, placements Reels et créas jeunes en priorité.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026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L'optimisation des campagnes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2918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Aujourd'hui sur le clic. Demain sur la session engagée puis le lead, via événements GA4 et pixels Meta / TikTok.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813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 retargeting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0782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60 000 visiteurs en 2026 jamais recontactés. Une audience site + engagés vidéo à relancer avec les témoignages.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5994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mesure des stories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48646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sets par mois, aucun KPI dans le reporting. Réponses aux stickers et clics lien à intégrer au dashboard.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53858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L'UGC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56509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Passer d'une créatrice à un programme d'apprentis-ambassadeurs : 4 profils, 1 vidéo par mois chacun, brief et cadre contractuel.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Chiffres : reportings Looker 2025 et juin 2026, API Meta Ads, GA4, board Monday PE 2026.</a:t>
            </a:r>
            <a:endParaRPr lang="en-US" sz="850" dirty="0"/>
          </a:p>
        </p:txBody>
      </p:sp>
      <p:pic>
        <p:nvPicPr>
          <p:cNvPr id="33" name="Image 0" descr="/tmp/claude-0/-home-user-Dashboard-Antidotes/19e64f65-f236-5057-97fe-8b787e5e46cb/scratchpad/assets/ChasseursDeGraines_Logo_Quad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263640"/>
            <a:ext cx="118872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"/>
            <a:ext cx="3154680" cy="274320"/>
          </a:xfrm>
          <a:prstGeom prst="roundRect">
            <a:avLst>
              <a:gd name="adj" fmla="val 50000"/>
            </a:avLst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RECOMMANDATIONS · 3/3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22D1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On ajoute : le site convertit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 social sait créer l'attention. En 2027, chasseursdegraines.fr doit la transformer et la prouver.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64792"/>
            <a:ext cx="384048" cy="384048"/>
          </a:xfrm>
          <a:prstGeom prst="ellipse">
            <a:avLst/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37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pages d'atterrissage par cible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01168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Lycéen · reconversion · prescripteur, chacune branchée sur ses ads. Objectif : passer de 8 % à 30 % de sessions engagées depuis le paid.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384048" cy="384048"/>
          </a:xfrm>
          <a:prstGeom prst="ellipse">
            <a:avLst/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6334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 tunnel mesurable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907792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« Visiter un moulin », « être rappelé », « candidater en alternance » : formulaires courts, événements GA4, pixels Meta et TikTok. Premier chiffre de leads dès le T1.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384048" cy="384048"/>
          </a:xfrm>
          <a:prstGeom prst="ellipse">
            <a:avLst/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5295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 SEO de fond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803904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Fiches métiers et guides de formation réécrits pour la recherche (66 % d'engagement sur ce trafic aujourd'hui), pages fantômes du thème supprimées, Search Console suivie.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48640" y="4453128"/>
            <a:ext cx="384048" cy="384048"/>
          </a:xfrm>
          <a:prstGeom prst="ellipse">
            <a:avLst/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4256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carte des moulins et les offres en vitrine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700016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Jamais poussées en social : elles deviennent la destination des POV et des témoignages.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617220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7240" y="5422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Et côté social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6692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Calendrier Parcoursup (vœux janv.-mars, admissions mai-juin) avec un dark saisonnalisé · YouTube Shorts en repost des 20 vidéos · kit prescripteurs sur LinkedIn (la 4e cible n'a aucun contenu dédié) · reporting unifié social + site chaque mois.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178040" y="1920240"/>
            <a:ext cx="4526280" cy="2715768"/>
          </a:xfrm>
          <a:prstGeom prst="roundRect">
            <a:avLst>
              <a:gd name="adj" fmla="val 5387"/>
            </a:avLst>
          </a:prstGeom>
          <a:solidFill>
            <a:srgbClr val="1C1410"/>
          </a:solidFill>
          <a:ln w="12700">
            <a:solidFill>
              <a:srgbClr val="1C141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60336" y="2002536"/>
            <a:ext cx="4361688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6463" y="4636008"/>
            <a:ext cx="5069434" cy="146304"/>
          </a:xfrm>
          <a:prstGeom prst="roundRect">
            <a:avLst>
              <a:gd name="adj" fmla="val 37500"/>
            </a:avLst>
          </a:prstGeom>
          <a:solidFill>
            <a:srgbClr val="D8D3CC"/>
          </a:solidFill>
          <a:ln w="12700">
            <a:solidFill>
              <a:srgbClr val="D8D3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88552" y="4636008"/>
            <a:ext cx="905256" cy="45720"/>
          </a:xfrm>
          <a:prstGeom prst="rect">
            <a:avLst/>
          </a:prstGeom>
          <a:solidFill>
            <a:srgbClr val="B9B3AA"/>
          </a:solidFill>
          <a:ln w="12700">
            <a:solidFill>
              <a:srgbClr val="B9B3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0336" y="2002536"/>
            <a:ext cx="4361688" cy="2551176"/>
          </a:xfrm>
          <a:prstGeom prst="rect">
            <a:avLst/>
          </a:prstGeom>
          <a:solidFill>
            <a:srgbClr val="F6EBDA"/>
          </a:solidFill>
          <a:ln w="12700">
            <a:solidFill>
              <a:srgbClr val="F6EB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60336" y="2002536"/>
            <a:ext cx="436168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0" descr="/tmp/claude-0/-home-user-Dashboard-Antidotes/19e64f65-f236-5057-97fe-8b787e5e46cb/scratchpad/assets/ChasseursDeGraines_Logo_Quad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76" y="2020824"/>
            <a:ext cx="548640" cy="265176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8357616" y="20482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Métiers   Formations   Moulins   Offres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10479024" y="2048256"/>
            <a:ext cx="1051560" cy="201168"/>
          </a:xfrm>
          <a:prstGeom prst="roundRect">
            <a:avLst>
              <a:gd name="adj" fmla="val 50000"/>
            </a:avLst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479024" y="20482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Je visite un moulin</a:t>
            </a:r>
            <a:endParaRPr lang="en-US" sz="650" dirty="0"/>
          </a:p>
        </p:txBody>
      </p:sp>
      <p:sp>
        <p:nvSpPr>
          <p:cNvPr id="35" name="Text 32"/>
          <p:cNvSpPr txBox="1"/>
          <p:nvPr/>
        </p:nvSpPr>
        <p:spPr>
          <a:xfrm>
            <a:off x="7488936" y="2414016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922D1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25 000 postes. Et si c'était toi ?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7488936" y="2962656"/>
            <a:ext cx="3904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Choisis ton profil, on te montre le chemin.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488936" y="3282696"/>
            <a:ext cx="124053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ADCC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598664" y="3392424"/>
            <a:ext cx="201168" cy="201168"/>
          </a:xfrm>
          <a:prstGeom prst="ellipse">
            <a:avLst/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854696" y="3374136"/>
            <a:ext cx="82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Lycéen·ne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7854696" y="3630168"/>
            <a:ext cx="82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 ma page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820912" y="3282696"/>
            <a:ext cx="124053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ADCC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930640" y="3392424"/>
            <a:ext cx="201168" cy="201168"/>
          </a:xfrm>
          <a:prstGeom prst="ellipse">
            <a:avLst/>
          </a:prstGeom>
          <a:solidFill>
            <a:srgbClr val="922D18"/>
          </a:solidFill>
          <a:ln w="12700">
            <a:solidFill>
              <a:srgbClr val="922D1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86672" y="3374136"/>
            <a:ext cx="82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reconversion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9186672" y="3630168"/>
            <a:ext cx="82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 ma page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10152888" y="3282696"/>
            <a:ext cx="124053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ADCC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262616" y="3392424"/>
            <a:ext cx="201168" cy="201168"/>
          </a:xfrm>
          <a:prstGeom prst="ellipse">
            <a:avLst/>
          </a:prstGeom>
          <a:solidFill>
            <a:srgbClr val="FEBE5C"/>
          </a:solidFill>
          <a:ln w="12700">
            <a:solidFill>
              <a:srgbClr val="FEBE5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0518648" y="3374136"/>
            <a:ext cx="82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Prof / CIO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10518648" y="3630168"/>
            <a:ext cx="82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 ma page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7488936" y="4059936"/>
            <a:ext cx="3904488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ADCC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607808" y="4059936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Ton e-mail pour recevoir le guide Parcoursup × meunerie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10204704" y="4133088"/>
            <a:ext cx="1097280" cy="265176"/>
          </a:xfrm>
          <a:prstGeom prst="roundRect">
            <a:avLst>
              <a:gd name="adj" fmla="val 50000"/>
            </a:avLst>
          </a:prstGeom>
          <a:solidFill>
            <a:srgbClr val="922D18"/>
          </a:solidFill>
          <a:ln w="12700">
            <a:solidFill>
              <a:srgbClr val="922D18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204704" y="4133088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Je reçois le guide</a:t>
            </a:r>
            <a:endParaRPr lang="en-US" sz="700" dirty="0"/>
          </a:p>
        </p:txBody>
      </p:sp>
      <p:sp>
        <p:nvSpPr>
          <p:cNvPr id="53" name="Text 50"/>
          <p:cNvSpPr txBox="1"/>
          <p:nvPr/>
        </p:nvSpPr>
        <p:spPr>
          <a:xfrm>
            <a:off x="7223760" y="5120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Principe de page d'atterrissage « lycéen » — maquette de travail, à concevoir.</a:t>
            </a:r>
            <a:endParaRPr lang="en-US" sz="850" dirty="0"/>
          </a:p>
        </p:txBody>
      </p:sp>
      <p:sp>
        <p:nvSpPr>
          <p:cNvPr id="54" name="Text 51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Chiffres : GA4 2026 (sessions engagées paid social 8 %, organic search 66 %). Les pages /produit/… et /elements/tabs du thème sont encore servies et comptées.</a:t>
            </a:r>
            <a:endParaRPr lang="en-US" sz="850" dirty="0"/>
          </a:p>
        </p:txBody>
      </p:sp>
      <p:pic>
        <p:nvPicPr>
          <p:cNvPr id="55" name="Image 1" descr="/tmp/claude-0/-home-user-Dashboard-Antidotes/19e64f65-f236-5057-97fe-8b787e5e46cb/scratchpad/assets/ChasseursDeGraines_Logo_Quad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263640"/>
            <a:ext cx="118872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CAP 2027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22D1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Ce qu'on vise, et comment on y va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40080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Objectifs proposés pour 2027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5943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A5A4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Indicateur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5A4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Aujourd'hui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5A4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Objectif 2027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Abonnés Instagram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3 496 (juil. 2026)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5 000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Abonnés TikTok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813 (juil. 2026)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1 500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Abonnés LinkedIn ANMF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6 632 (juil. 2026)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7 500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Sessions site / an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66 215 (8 mois 2026)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120 000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Sessions engagées depuis le paid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8 %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30 %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Leads mesurés (visite, rappel, candidature)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non mesuré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500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CPC Meta · CPM TikTok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1B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0,04 € · 0,26 €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457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≤ 0,05 € · ≤ 0,30 €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178040" y="1371600"/>
            <a:ext cx="4480560" cy="3246120"/>
          </a:xfrm>
          <a:prstGeom prst="roundRect">
            <a:avLst>
              <a:gd name="adj" fmla="val 5070"/>
            </a:avLst>
          </a:prstGeom>
          <a:solidFill>
            <a:srgbClr val="922D18"/>
          </a:solidFill>
          <a:ln w="12700">
            <a:solidFill>
              <a:srgbClr val="922D18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06640" y="14813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EBE5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 dispositif 2027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1874520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 mois d'accompagnement, sans trou d'inter-campagne : les abonnés stagnent dès que ça s'arrête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18 publications / mois + 3 sets de stories, 80 % meunerie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tournages (moulin + CFA) et 4 apprentis-ambassadeurs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Dark ads saisonnalisé sur Parcoursup et la rentrée, optimisé sur le lead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Chantier site : 3 pages d'atterrissage, tunnel, SEO trimestriel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 dashboard social + site, lu ensemble chaque mois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4846320"/>
            <a:ext cx="269748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5029200"/>
            <a:ext cx="329184" cy="329184"/>
          </a:xfrm>
          <a:prstGeom prst="ellipse">
            <a:avLst/>
          </a:prstGeom>
          <a:solidFill>
            <a:srgbClr val="FEBE5C"/>
          </a:solidFill>
          <a:ln w="12700">
            <a:solidFill>
              <a:srgbClr val="FEBE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2D1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5029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Octobre 2026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5440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Présentation du bilan et des recommandations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3374136" y="4846320"/>
            <a:ext cx="269748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75304" y="5029200"/>
            <a:ext cx="329184" cy="329184"/>
          </a:xfrm>
          <a:prstGeom prst="ellipse">
            <a:avLst/>
          </a:prstGeom>
          <a:solidFill>
            <a:srgbClr val="FEBE5C"/>
          </a:solidFill>
          <a:ln w="12700">
            <a:solidFill>
              <a:srgbClr val="FEBE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75304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2D1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014216" y="5029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Novembre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575304" y="5440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Proposition 2027 chiffrée : social + site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6199632" y="4846320"/>
            <a:ext cx="269748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5029200"/>
            <a:ext cx="329184" cy="329184"/>
          </a:xfrm>
          <a:prstGeom prst="ellipse">
            <a:avLst/>
          </a:prstGeom>
          <a:solidFill>
            <a:srgbClr val="FEBE5C"/>
          </a:solidFill>
          <a:ln w="12700">
            <a:solidFill>
              <a:srgbClr val="FEBE5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0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2D1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839712" y="5029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Décembre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5440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Signature, brief créa et plan de tournage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9025128" y="4846320"/>
            <a:ext cx="269748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5A3A28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226296" y="5029200"/>
            <a:ext cx="329184" cy="329184"/>
          </a:xfrm>
          <a:prstGeom prst="ellipse">
            <a:avLst/>
          </a:prstGeom>
          <a:solidFill>
            <a:srgbClr val="E45728"/>
          </a:solidFill>
          <a:ln w="12700">
            <a:solidFill>
              <a:srgbClr val="E4572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26296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665208" y="5029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2D1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Janvier 2027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9226296" y="5440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1B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Pages d'atterrissage en ligne avant les vœux Parcoursup</a:t>
            </a:r>
            <a:endParaRPr lang="en-US" sz="98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5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Objectifs proposés à partir des tendances 2025-2026 ; à valider avec l'ANMF. « Leads mesurés » suppose le tunnel et les événements GA4 décrits en page précédente.</a:t>
            </a:r>
            <a:endParaRPr lang="en-US" sz="850" dirty="0"/>
          </a:p>
        </p:txBody>
      </p:sp>
      <p:pic>
        <p:nvPicPr>
          <p:cNvPr id="32" name="Image 0" descr="/tmp/claude-0/-home-user-Dashboard-Antidotes/19e64f65-f236-5057-97fe-8b787e5e46cb/scratchpad/assets/ChasseursDeGraines_Logo_Quad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263640"/>
            <a:ext cx="1188720" cy="576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Chasseurs de Graines — Bilan 2025-2026 &amp; cap 2027</dc:title>
  <dc:subject>PptxGenJS Presentation</dc:subject>
  <dc:creator>Alessandro Di Giovanni</dc:creator>
  <cp:lastModifiedBy>Alessandro Di Giovanni</cp:lastModifiedBy>
  <cp:revision>1</cp:revision>
  <dcterms:created xsi:type="dcterms:W3CDTF">2026-09-04T10:17:28Z</dcterms:created>
  <dcterms:modified xsi:type="dcterms:W3CDTF">2026-09-04T10:17:28Z</dcterms:modified>
</cp:coreProperties>
</file>