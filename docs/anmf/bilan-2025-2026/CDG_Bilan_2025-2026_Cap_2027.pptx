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Instagram</c:v>
                </c:pt>
              </c:strCache>
            </c:strRef>
          </c:tx>
          <c:spPr>
            <a:solidFill>
              <a:srgbClr val="E45728"/>
            </a:solidFill>
            <a:ln w="31750" cap="flat">
              <a:solidFill>
                <a:srgbClr val="E45728"/>
              </a:solidFill>
              <a:prstDash val="solid"/>
              <a:round/>
            </a:ln>
            <a:effectLst/>
          </c:spPr>
          <c:invertIfNegative val="0"/>
          <c:dLbls>
            <c:numFmt formatCode="#,##0" sourceLinked="0"/>
            <c:txPr>
              <a:bodyPr/>
              <a:lstStyle/>
              <a:p>
                <a:pPr>
                  <a:defRPr b="0" i="0" strike="noStrike" sz="850" u="none">
                    <a:solidFill>
                      <a:srgbClr val="3B1B0F"/>
                    </a:solidFill>
                    <a:latin typeface="Lato"/>
                  </a:defRPr>
                </a:pPr>
              </a:p>
            </c:txPr>
            <c:showLegendKey val="0"/>
            <c:showVal val="0"/>
            <c:showCatName val="0"/>
            <c:showSerName val="0"/>
            <c:showPercent val="0"/>
            <c:showBubbleSize val="0"/>
            <c:showLeaderLines val="0"/>
          </c:dLbls>
          <c:marker>
            <c:symbol val="circle"/>
            <c:size val="5"/>
            <c:spPr>
              <a:solidFill>
                <a:srgbClr val="E45728"/>
              </a:solidFill>
              <a:ln w="9525" cap="flat">
                <a:solidFill>
                  <a:srgbClr val="E45728"/>
                </a:solidFill>
                <a:prstDash val="solid"/>
                <a:round/>
              </a:ln>
              <a:effectLst/>
            </c:spPr>
          </c:marker>
          <c:cat>
            <c:multiLvlStrRef>
              <c:f>Sheet1!$A$2:$A$19</c:f>
              <c:multiLvlStrCache>
                <c:ptCount val="18"/>
                <c:lvl>
                  <c:pt idx="0">
                    <c:v>fév. 25</c:v>
                  </c:pt>
                  <c:pt idx="1">
                    <c:v>mars</c:v>
                  </c:pt>
                  <c:pt idx="2">
                    <c:v>avr.</c:v>
                  </c:pt>
                  <c:pt idx="3">
                    <c:v>mai</c:v>
                  </c:pt>
                  <c:pt idx="4">
                    <c:v>juin</c:v>
                  </c:pt>
                  <c:pt idx="5">
                    <c:v>juil.</c:v>
                  </c:pt>
                  <c:pt idx="6">
                    <c:v>août</c:v>
                  </c:pt>
                  <c:pt idx="7">
                    <c:v>sept.</c:v>
                  </c:pt>
                  <c:pt idx="8">
                    <c:v>oct.</c:v>
                  </c:pt>
                  <c:pt idx="9">
                    <c:v>nov.</c:v>
                  </c:pt>
                  <c:pt idx="10">
                    <c:v>déc.</c:v>
                  </c:pt>
                  <c:pt idx="11">
                    <c:v>janv. 26</c:v>
                  </c:pt>
                  <c:pt idx="12">
                    <c:v>fév.</c:v>
                  </c:pt>
                  <c:pt idx="13">
                    <c:v>mars</c:v>
                  </c:pt>
                  <c:pt idx="14">
                    <c:v>avr.</c:v>
                  </c:pt>
                  <c:pt idx="15">
                    <c:v>mai</c:v>
                  </c:pt>
                  <c:pt idx="16">
                    <c:v>juin</c:v>
                  </c:pt>
                  <c:pt idx="17">
                    <c:v>juil. 26</c:v>
                  </c:pt>
                </c:lvl>
              </c:multiLvlStrCache>
            </c:multiLvlStrRef>
          </c:cat>
          <c:val>
            <c:numRef>
              <c:f>Sheet1!$B$2:$B$19</c:f>
              <c:numCache>
                <c:formatCode>General</c:formatCode>
                <c:ptCount val="18"/>
                <c:pt idx="0">
                  <c:v>1042</c:v>
                </c:pt>
                <c:pt idx="1">
                  <c:v>1039</c:v>
                </c:pt>
                <c:pt idx="2">
                  <c:v>1039</c:v>
                </c:pt>
                <c:pt idx="3">
                  <c:v>1234</c:v>
                </c:pt>
                <c:pt idx="4">
                  <c:v>1418</c:v>
                </c:pt>
                <c:pt idx="5">
                  <c:v>1591</c:v>
                </c:pt>
                <c:pt idx="6">
                  <c:v>1746</c:v>
                </c:pt>
                <c:pt idx="7">
                  <c:v>1948</c:v>
                </c:pt>
                <c:pt idx="8">
                  <c:v>2292</c:v>
                </c:pt>
                <c:pt idx="9">
                  <c:v>2596</c:v>
                </c:pt>
                <c:pt idx="10">
                  <c:v>2590</c:v>
                </c:pt>
                <c:pt idx="11">
                  <c:v>2571</c:v>
                </c:pt>
                <c:pt idx="12">
                  <c:v>2558</c:v>
                </c:pt>
                <c:pt idx="13">
                  <c:v>2696</c:v>
                </c:pt>
                <c:pt idx="14">
                  <c:v>2929</c:v>
                </c:pt>
                <c:pt idx="15">
                  <c:v>3162</c:v>
                </c:pt>
                <c:pt idx="16">
                  <c:v>3295</c:v>
                </c:pt>
                <c:pt idx="17">
                  <c:v>3496</c:v>
                </c:pt>
              </c:numCache>
            </c:numRef>
          </c:val>
          <c:smooth val="0"/>
        </c:ser>
        <c:ser>
          <c:idx val="1"/>
          <c:order val="1"/>
          <c:tx>
            <c:strRef>
              <c:f>Sheet1!$C$1</c:f>
              <c:strCache>
                <c:ptCount val="1"/>
                <c:pt idx="0">
                  <c:v>TikTok</c:v>
                </c:pt>
              </c:strCache>
            </c:strRef>
          </c:tx>
          <c:spPr>
            <a:solidFill>
              <a:srgbClr val="922D18"/>
            </a:solidFill>
            <a:ln w="31750" cap="flat">
              <a:solidFill>
                <a:srgbClr val="922D18"/>
              </a:solidFill>
              <a:prstDash val="solid"/>
              <a:round/>
            </a:ln>
            <a:effectLst/>
          </c:spPr>
          <c:invertIfNegative val="0"/>
          <c:dLbls>
            <c:numFmt formatCode="#,##0" sourceLinked="0"/>
            <c:txPr>
              <a:bodyPr/>
              <a:lstStyle/>
              <a:p>
                <a:pPr>
                  <a:defRPr b="0" i="0" strike="noStrike" sz="850" u="none">
                    <a:solidFill>
                      <a:srgbClr val="3B1B0F"/>
                    </a:solidFill>
                    <a:latin typeface="Lato"/>
                  </a:defRPr>
                </a:pPr>
              </a:p>
            </c:txPr>
            <c:showLegendKey val="0"/>
            <c:showVal val="0"/>
            <c:showCatName val="0"/>
            <c:showSerName val="0"/>
            <c:showPercent val="0"/>
            <c:showBubbleSize val="0"/>
            <c:showLeaderLines val="0"/>
          </c:dLbls>
          <c:marker>
            <c:symbol val="circle"/>
            <c:size val="5"/>
            <c:spPr>
              <a:solidFill>
                <a:srgbClr val="922D18"/>
              </a:solidFill>
              <a:ln w="9525" cap="flat">
                <a:solidFill>
                  <a:srgbClr val="922D18"/>
                </a:solidFill>
                <a:prstDash val="solid"/>
                <a:round/>
              </a:ln>
              <a:effectLst/>
            </c:spPr>
          </c:marker>
          <c:cat>
            <c:multiLvlStrRef>
              <c:f>Sheet1!$A$2:$A$19</c:f>
              <c:multiLvlStrCache>
                <c:ptCount val="18"/>
                <c:lvl>
                  <c:pt idx="0">
                    <c:v>fév. 25</c:v>
                  </c:pt>
                  <c:pt idx="1">
                    <c:v>mars</c:v>
                  </c:pt>
                  <c:pt idx="2">
                    <c:v>avr.</c:v>
                  </c:pt>
                  <c:pt idx="3">
                    <c:v>mai</c:v>
                  </c:pt>
                  <c:pt idx="4">
                    <c:v>juin</c:v>
                  </c:pt>
                  <c:pt idx="5">
                    <c:v>juil.</c:v>
                  </c:pt>
                  <c:pt idx="6">
                    <c:v>août</c:v>
                  </c:pt>
                  <c:pt idx="7">
                    <c:v>sept.</c:v>
                  </c:pt>
                  <c:pt idx="8">
                    <c:v>oct.</c:v>
                  </c:pt>
                  <c:pt idx="9">
                    <c:v>nov.</c:v>
                  </c:pt>
                  <c:pt idx="10">
                    <c:v>déc.</c:v>
                  </c:pt>
                  <c:pt idx="11">
                    <c:v>janv. 26</c:v>
                  </c:pt>
                  <c:pt idx="12">
                    <c:v>fév.</c:v>
                  </c:pt>
                  <c:pt idx="13">
                    <c:v>mars</c:v>
                  </c:pt>
                  <c:pt idx="14">
                    <c:v>avr.</c:v>
                  </c:pt>
                  <c:pt idx="15">
                    <c:v>mai</c:v>
                  </c:pt>
                  <c:pt idx="16">
                    <c:v>juin</c:v>
                  </c:pt>
                  <c:pt idx="17">
                    <c:v>juil. 26</c:v>
                  </c:pt>
                </c:lvl>
              </c:multiLvlStrCache>
            </c:multiLvlStrRef>
          </c:cat>
          <c:val>
            <c:numRef>
              <c:f>Sheet1!$C$2:$C$19</c:f>
              <c:numCache>
                <c:formatCode>General</c:formatCode>
                <c:ptCount val="18"/>
                <c:pt idx="0">
                  <c:v>0</c:v>
                </c:pt>
                <c:pt idx="1">
                  <c:v>0</c:v>
                </c:pt>
                <c:pt idx="2">
                  <c:v>1</c:v>
                </c:pt>
                <c:pt idx="3">
                  <c:v>33</c:v>
                </c:pt>
                <c:pt idx="4">
                  <c:v>82</c:v>
                </c:pt>
                <c:pt idx="5">
                  <c:v>172</c:v>
                </c:pt>
                <c:pt idx="6">
                  <c:v>267</c:v>
                </c:pt>
                <c:pt idx="7">
                  <c:v>343</c:v>
                </c:pt>
                <c:pt idx="8">
                  <c:v>454</c:v>
                </c:pt>
                <c:pt idx="9">
                  <c:v>464</c:v>
                </c:pt>
                <c:pt idx="10">
                  <c:v>457</c:v>
                </c:pt>
                <c:pt idx="11">
                  <c:v>445</c:v>
                </c:pt>
                <c:pt idx="12">
                  <c:v>438</c:v>
                </c:pt>
                <c:pt idx="13">
                  <c:v>455</c:v>
                </c:pt>
                <c:pt idx="14">
                  <c:v>517</c:v>
                </c:pt>
                <c:pt idx="15">
                  <c:v>572</c:v>
                </c:pt>
                <c:pt idx="16">
                  <c:v>702</c:v>
                </c:pt>
                <c:pt idx="17">
                  <c:v>813</c:v>
                </c:pt>
              </c:numCache>
            </c:numRef>
          </c:val>
          <c:smooth val="0"/>
        </c:ser>
        <c:dLbls>
          <c:numFmt formatCode="#,##0" sourceLinked="0"/>
          <c:txPr>
            <a:bodyPr/>
            <a:lstStyle/>
            <a:p>
              <a:pPr>
                <a:defRPr b="0" i="0" strike="noStrike" sz="850" u="none">
                  <a:solidFill>
                    <a:srgbClr val="3B1B0F"/>
                  </a:solidFill>
                  <a:latin typeface="Lato"/>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900" b="0" i="0" u="none" strike="noStrike">
                <a:solidFill>
                  <a:srgbClr val="7A5A4A"/>
                </a:solidFill>
                <a:latin typeface="Lato"/>
              </a:defRPr>
            </a:pPr>
            <a:endParaRPr lang="en-US"/>
          </a:p>
        </c:txPr>
        <c:crossAx val="2094734552"/>
        <c:crosses val="autoZero"/>
        <c:auto val="1"/>
        <c:lblAlgn val="ctr"/>
        <c:noMultiLvlLbl val="1"/>
      </c:catAx>
      <c:valAx>
        <c:axId val="2094734552"/>
        <c:scaling>
          <c:orientation val="minMax"/>
          <c:max val="4000"/>
          <c:min val="0"/>
        </c:scaling>
        <c:delete val="0"/>
        <c:axPos val="l"/>
        <c:majorGridlines>
          <c:spPr>
            <a:ln w="6350" cap="flat">
              <a:solidFill>
                <a:srgbClr val="E6D9C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A5A4A"/>
                </a:solidFill>
                <a:latin typeface="Lato"/>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50">
              <a:solidFill>
                <a:srgbClr val="3B1B0F"/>
              </a:solidFill>
              <a:latin typeface="Lato"/>
              <a:cs typeface="Lato"/>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2025</c:v>
                </c:pt>
              </c:strCache>
            </c:strRef>
          </c:tx>
          <c:spPr>
            <a:solidFill>
              <a:srgbClr val="922D18"/>
            </a:solidFill>
            <a:effectLst/>
          </c:spPr>
          <c:invertIfNegative val="0"/>
          <c:dLbls>
            <c:numFmt formatCode="#,##0" sourceLinked="0"/>
            <c:txPr>
              <a:bodyPr/>
              <a:lstStyle/>
              <a:p>
                <a:pPr>
                  <a:defRPr b="0" i="0" strike="noStrike" sz="850" u="none">
                    <a:solidFill>
                      <a:srgbClr val="3B1B0F"/>
                    </a:solidFill>
                    <a:latin typeface="Lato"/>
                  </a:defRPr>
                </a:pPr>
              </a:p>
            </c:txPr>
            <c:showLegendKey val="0"/>
            <c:showVal val="0"/>
            <c:showCatName val="0"/>
            <c:showSerName val="0"/>
            <c:showPercent val="0"/>
            <c:showBubbleSize val="0"/>
            <c:showLeaderLines val="0"/>
          </c:dLbls>
          <c:cat>
            <c:multiLvlStrRef>
              <c:f>Sheet1!$A$2:$A$10</c:f>
              <c:multiLvlStrCache>
                <c:ptCount val="9"/>
                <c:lvl>
                  <c:pt idx="0">
                    <c:v>mars</c:v>
                  </c:pt>
                  <c:pt idx="1">
                    <c:v>avr.</c:v>
                  </c:pt>
                  <c:pt idx="2">
                    <c:v>mai</c:v>
                  </c:pt>
                  <c:pt idx="3">
                    <c:v>juin</c:v>
                  </c:pt>
                  <c:pt idx="4">
                    <c:v>juil.</c:v>
                  </c:pt>
                  <c:pt idx="5">
                    <c:v>août</c:v>
                  </c:pt>
                  <c:pt idx="6">
                    <c:v>sept.</c:v>
                  </c:pt>
                  <c:pt idx="7">
                    <c:v>oct.</c:v>
                  </c:pt>
                  <c:pt idx="8">
                    <c:v>nov.</c:v>
                  </c:pt>
                </c:lvl>
              </c:multiLvlStrCache>
            </c:multiLvlStrRef>
          </c:cat>
          <c:val>
            <c:numRef>
              <c:f>Sheet1!$B$2:$B$10</c:f>
              <c:numCache>
                <c:formatCode>General</c:formatCode>
                <c:ptCount val="9"/>
                <c:pt idx="0">
                  <c:v>0</c:v>
                </c:pt>
                <c:pt idx="1">
                  <c:v>0</c:v>
                </c:pt>
                <c:pt idx="2">
                  <c:v>1173</c:v>
                </c:pt>
                <c:pt idx="3">
                  <c:v>4988</c:v>
                </c:pt>
                <c:pt idx="4">
                  <c:v>10546</c:v>
                </c:pt>
                <c:pt idx="5">
                  <c:v>10757</c:v>
                </c:pt>
                <c:pt idx="6">
                  <c:v>8487</c:v>
                </c:pt>
                <c:pt idx="7">
                  <c:v>10021</c:v>
                </c:pt>
                <c:pt idx="8">
                  <c:v>2049</c:v>
                </c:pt>
              </c:numCache>
            </c:numRef>
          </c:val>
        </c:ser>
        <c:ser>
          <c:idx val="1"/>
          <c:order val="1"/>
          <c:tx>
            <c:strRef>
              <c:f>Sheet1!$C$1</c:f>
              <c:strCache>
                <c:ptCount val="1"/>
                <c:pt idx="0">
                  <c:v>2026</c:v>
                </c:pt>
              </c:strCache>
            </c:strRef>
          </c:tx>
          <c:spPr>
            <a:solidFill>
              <a:srgbClr val="E45728"/>
            </a:solidFill>
            <a:effectLst/>
          </c:spPr>
          <c:invertIfNegative val="0"/>
          <c:dLbls>
            <c:numFmt formatCode="#,##0" sourceLinked="0"/>
            <c:txPr>
              <a:bodyPr/>
              <a:lstStyle/>
              <a:p>
                <a:pPr>
                  <a:defRPr b="0" i="0" strike="noStrike" sz="850" u="none">
                    <a:solidFill>
                      <a:srgbClr val="3B1B0F"/>
                    </a:solidFill>
                    <a:latin typeface="Lato"/>
                  </a:defRPr>
                </a:pPr>
              </a:p>
            </c:txPr>
            <c:showLegendKey val="0"/>
            <c:showVal val="0"/>
            <c:showCatName val="0"/>
            <c:showSerName val="0"/>
            <c:showPercent val="0"/>
            <c:showBubbleSize val="0"/>
            <c:showLeaderLines val="0"/>
          </c:dLbls>
          <c:cat>
            <c:multiLvlStrRef>
              <c:f>Sheet1!$A$2:$A$10</c:f>
              <c:multiLvlStrCache>
                <c:ptCount val="9"/>
                <c:lvl>
                  <c:pt idx="0">
                    <c:v>mars</c:v>
                  </c:pt>
                  <c:pt idx="1">
                    <c:v>avr.</c:v>
                  </c:pt>
                  <c:pt idx="2">
                    <c:v>mai</c:v>
                  </c:pt>
                  <c:pt idx="3">
                    <c:v>juin</c:v>
                  </c:pt>
                  <c:pt idx="4">
                    <c:v>juil.</c:v>
                  </c:pt>
                  <c:pt idx="5">
                    <c:v>août</c:v>
                  </c:pt>
                  <c:pt idx="6">
                    <c:v>sept.</c:v>
                  </c:pt>
                  <c:pt idx="7">
                    <c:v>oct.</c:v>
                  </c:pt>
                  <c:pt idx="8">
                    <c:v>nov.</c:v>
                  </c:pt>
                </c:lvl>
              </c:multiLvlStrCache>
            </c:multiLvlStrRef>
          </c:cat>
          <c:val>
            <c:numRef>
              <c:f>Sheet1!$C$2:$C$10</c:f>
              <c:numCache>
                <c:formatCode>General</c:formatCode>
                <c:ptCount val="9"/>
                <c:pt idx="0">
                  <c:v>984</c:v>
                </c:pt>
                <c:pt idx="1">
                  <c:v>2882</c:v>
                </c:pt>
                <c:pt idx="2">
                  <c:v>12050</c:v>
                </c:pt>
                <c:pt idx="3">
                  <c:v>15112</c:v>
                </c:pt>
                <c:pt idx="4">
                  <c:v>14258</c:v>
                </c:pt>
                <c:pt idx="5">
                  <c:v>18186</c:v>
                </c:pt>
                <c:pt idx="6">
                  <c:v>0</c:v>
                </c:pt>
                <c:pt idx="7">
                  <c:v>0</c:v>
                </c:pt>
                <c:pt idx="8">
                  <c:v>0</c:v>
                </c:pt>
              </c:numCache>
            </c:numRef>
          </c:val>
        </c:ser>
        <c:dLbls>
          <c:numFmt formatCode="#,##0" sourceLinked="0"/>
          <c:txPr>
            <a:bodyPr/>
            <a:lstStyle/>
            <a:p>
              <a:pPr>
                <a:defRPr b="0" i="0" strike="noStrike" sz="850" u="none">
                  <a:solidFill>
                    <a:srgbClr val="3B1B0F"/>
                  </a:solidFill>
                  <a:latin typeface="Lato"/>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7A5A4A"/>
                </a:solidFill>
                <a:latin typeface="Lato"/>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6D9C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A5A4A"/>
                </a:solidFill>
                <a:latin typeface="Lato"/>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50">
              <a:solidFill>
                <a:srgbClr val="3B1B0F"/>
              </a:solidFill>
              <a:latin typeface="Lato"/>
              <a:cs typeface="Lato"/>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22D18"/>
            </a:solidFill>
            <a:ln w="31750" cap="flat">
              <a:solidFill>
                <a:srgbClr val="922D18"/>
              </a:solidFill>
              <a:prstDash val="solid"/>
              <a:round/>
            </a:ln>
            <a:effectLst/>
          </c:spPr>
          <c:invertIfNegative val="0"/>
          <c:dLbls>
            <c:numFmt formatCode="#,##0" sourceLinked="0"/>
            <c:txPr>
              <a:bodyPr/>
              <a:lstStyle/>
              <a:p>
                <a:pPr>
                  <a:defRPr b="0" i="0" strike="noStrike" sz="850" u="none">
                    <a:solidFill>
                      <a:srgbClr val="3B1B0F"/>
                    </a:solidFill>
                    <a:latin typeface="Lato"/>
                  </a:defRPr>
                </a:pPr>
              </a:p>
            </c:txPr>
            <c:showLegendKey val="0"/>
            <c:showVal val="0"/>
            <c:showCatName val="0"/>
            <c:showSerName val="0"/>
            <c:showPercent val="0"/>
            <c:showBubbleSize val="0"/>
            <c:showLeaderLines val="0"/>
          </c:dLbls>
          <c:marker>
            <c:symbol val="circle"/>
            <c:size val="5"/>
            <c:spPr>
              <a:solidFill>
                <a:srgbClr val="922D18"/>
              </a:solidFill>
              <a:ln w="9525" cap="flat">
                <a:solidFill>
                  <a:srgbClr val="922D18"/>
                </a:solidFill>
                <a:prstDash val="solid"/>
                <a:round/>
              </a:ln>
              <a:effectLst/>
            </c:spPr>
          </c:marker>
          <c:cat>
            <c:multiLvlStrRef>
              <c:f>Sheet1!$A$2:$A$13</c:f>
              <c:multiLvlStrCache>
                <c:ptCount val="12"/>
                <c:lvl>
                  <c:pt idx="0">
                    <c:v>janv.</c:v>
                  </c:pt>
                  <c:pt idx="1">
                    <c:v>févr.</c:v>
                  </c:pt>
                  <c:pt idx="2">
                    <c:v>mars</c:v>
                  </c:pt>
                  <c:pt idx="3">
                    <c:v>avr.</c:v>
                  </c:pt>
                  <c:pt idx="4">
                    <c:v>mai</c:v>
                  </c:pt>
                  <c:pt idx="5">
                    <c:v>juin</c:v>
                  </c:pt>
                  <c:pt idx="6">
                    <c:v>juil.</c:v>
                  </c:pt>
                  <c:pt idx="7">
                    <c:v>août</c:v>
                  </c:pt>
                  <c:pt idx="8">
                    <c:v>sept.</c:v>
                  </c:pt>
                  <c:pt idx="9">
                    <c:v>oct.</c:v>
                  </c:pt>
                  <c:pt idx="10">
                    <c:v>nov.</c:v>
                  </c:pt>
                  <c:pt idx="11">
                    <c:v>déc.</c:v>
                  </c:pt>
                </c:lvl>
              </c:multiLvlStrCache>
            </c:multiLvlStrRef>
          </c:cat>
          <c:val>
            <c:numRef>
              <c:f>Sheet1!$B$2:$B$13</c:f>
              <c:numCache>
                <c:formatCode>General</c:formatCode>
                <c:ptCount val="12"/>
                <c:pt idx="0">
                  <c:v>1317</c:v>
                </c:pt>
                <c:pt idx="1">
                  <c:v>1425</c:v>
                </c:pt>
                <c:pt idx="2">
                  <c:v>1443</c:v>
                </c:pt>
                <c:pt idx="3">
                  <c:v>1451</c:v>
                </c:pt>
                <c:pt idx="4">
                  <c:v>1875</c:v>
                </c:pt>
                <c:pt idx="5">
                  <c:v>4174</c:v>
                </c:pt>
                <c:pt idx="6">
                  <c:v>9991</c:v>
                </c:pt>
                <c:pt idx="7">
                  <c:v>12075</c:v>
                </c:pt>
                <c:pt idx="8">
                  <c:v>11687</c:v>
                </c:pt>
                <c:pt idx="9">
                  <c:v>12143</c:v>
                </c:pt>
                <c:pt idx="10">
                  <c:v>4189</c:v>
                </c:pt>
                <c:pt idx="11">
                  <c:v>1309</c:v>
                </c:pt>
              </c:numCache>
            </c:numRef>
          </c:val>
          <c:smooth val="0"/>
        </c:ser>
        <c:ser>
          <c:idx val="1"/>
          <c:order val="1"/>
          <c:tx>
            <c:strRef>
              <c:f>Sheet1!$C$1</c:f>
              <c:strCache>
                <c:ptCount val="1"/>
                <c:pt idx="0">
                  <c:v>2026</c:v>
                </c:pt>
              </c:strCache>
            </c:strRef>
          </c:tx>
          <c:spPr>
            <a:solidFill>
              <a:srgbClr val="E45728"/>
            </a:solidFill>
            <a:ln w="31750" cap="flat">
              <a:solidFill>
                <a:srgbClr val="E45728"/>
              </a:solidFill>
              <a:prstDash val="solid"/>
              <a:round/>
            </a:ln>
            <a:effectLst/>
          </c:spPr>
          <c:invertIfNegative val="0"/>
          <c:dLbls>
            <c:numFmt formatCode="#,##0" sourceLinked="0"/>
            <c:txPr>
              <a:bodyPr/>
              <a:lstStyle/>
              <a:p>
                <a:pPr>
                  <a:defRPr b="0" i="0" strike="noStrike" sz="850" u="none">
                    <a:solidFill>
                      <a:srgbClr val="3B1B0F"/>
                    </a:solidFill>
                    <a:latin typeface="Lato"/>
                  </a:defRPr>
                </a:pPr>
              </a:p>
            </c:txPr>
            <c:showLegendKey val="0"/>
            <c:showVal val="0"/>
            <c:showCatName val="0"/>
            <c:showSerName val="0"/>
            <c:showPercent val="0"/>
            <c:showBubbleSize val="0"/>
            <c:showLeaderLines val="0"/>
          </c:dLbls>
          <c:marker>
            <c:symbol val="circle"/>
            <c:size val="5"/>
            <c:spPr>
              <a:solidFill>
                <a:srgbClr val="E45728"/>
              </a:solidFill>
              <a:ln w="9525" cap="flat">
                <a:solidFill>
                  <a:srgbClr val="E45728"/>
                </a:solidFill>
                <a:prstDash val="solid"/>
                <a:round/>
              </a:ln>
              <a:effectLst/>
            </c:spPr>
          </c:marker>
          <c:cat>
            <c:multiLvlStrRef>
              <c:f>Sheet1!$A$2:$A$13</c:f>
              <c:multiLvlStrCache>
                <c:ptCount val="12"/>
                <c:lvl>
                  <c:pt idx="0">
                    <c:v>janv.</c:v>
                  </c:pt>
                  <c:pt idx="1">
                    <c:v>févr.</c:v>
                  </c:pt>
                  <c:pt idx="2">
                    <c:v>mars</c:v>
                  </c:pt>
                  <c:pt idx="3">
                    <c:v>avr.</c:v>
                  </c:pt>
                  <c:pt idx="4">
                    <c:v>mai</c:v>
                  </c:pt>
                  <c:pt idx="5">
                    <c:v>juin</c:v>
                  </c:pt>
                  <c:pt idx="6">
                    <c:v>juil.</c:v>
                  </c:pt>
                  <c:pt idx="7">
                    <c:v>août</c:v>
                  </c:pt>
                  <c:pt idx="8">
                    <c:v>sept.</c:v>
                  </c:pt>
                  <c:pt idx="9">
                    <c:v>oct.</c:v>
                  </c:pt>
                  <c:pt idx="10">
                    <c:v>nov.</c:v>
                  </c:pt>
                  <c:pt idx="11">
                    <c:v>déc.</c:v>
                  </c:pt>
                </c:lvl>
              </c:multiLvlStrCache>
            </c:multiLvlStrRef>
          </c:cat>
          <c:val>
            <c:numRef>
              <c:f>Sheet1!$C$2:$C$13</c:f>
              <c:numCache>
                <c:formatCode>General</c:formatCode>
                <c:ptCount val="12"/>
                <c:pt idx="0">
                  <c:v>2153</c:v>
                </c:pt>
                <c:pt idx="1">
                  <c:v>1562</c:v>
                </c:pt>
                <c:pt idx="2">
                  <c:v>2036</c:v>
                </c:pt>
                <c:pt idx="3">
                  <c:v>2336</c:v>
                </c:pt>
                <c:pt idx="4">
                  <c:v>5496</c:v>
                </c:pt>
                <c:pt idx="5">
                  <c:v>12202</c:v>
                </c:pt>
                <c:pt idx="6">
                  <c:v>18005</c:v>
                </c:pt>
                <c:pt idx="7">
                  <c:v>22425</c:v>
                </c:pt>
              </c:numCache>
            </c:numRef>
          </c:val>
          <c:smooth val="0"/>
        </c:ser>
        <c:dLbls>
          <c:numFmt formatCode="#,##0" sourceLinked="0"/>
          <c:txPr>
            <a:bodyPr/>
            <a:lstStyle/>
            <a:p>
              <a:pPr>
                <a:defRPr b="0" i="0" strike="noStrike" sz="850" u="none">
                  <a:solidFill>
                    <a:srgbClr val="3B1B0F"/>
                  </a:solidFill>
                  <a:latin typeface="Lato"/>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7A5A4A"/>
                </a:solidFill>
                <a:latin typeface="Lato"/>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6D9C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A5A4A"/>
                </a:solidFill>
                <a:latin typeface="Lato"/>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50">
              <a:solidFill>
                <a:srgbClr val="3B1B0F"/>
              </a:solidFill>
              <a:latin typeface="Lato"/>
              <a:cs typeface="Lato"/>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Sessions</c:v>
                </c:pt>
              </c:strCache>
            </c:strRef>
          </c:tx>
          <c:spPr>
            <a:solidFill>
              <a:schemeClr val="accent1"/>
            </a:solidFill>
            <a:ln w="9525" cap="flat">
              <a:solidFill>
                <a:srgbClr val="F9F9F9"/>
              </a:solidFill>
              <a:prstDash val="solid"/>
              <a:round/>
            </a:ln>
            <a:effectLst/>
          </c:spPr>
          <c:dPt>
            <c:idx val="0"/>
            <c:bubble3D val="0"/>
            <c:spPr>
              <a:solidFill>
                <a:srgbClr val="E45728"/>
              </a:solidFill>
              <a:ln w="12700" cap="flat">
                <a:solidFill>
                  <a:srgbClr val="FFFFFF"/>
                </a:solidFill>
                <a:prstDash val="solid"/>
                <a:round/>
              </a:ln>
              <a:effectLst/>
            </c:spPr>
          </c:dPt>
          <c:dPt>
            <c:idx val="1"/>
            <c:bubble3D val="0"/>
            <c:spPr>
              <a:solidFill>
                <a:srgbClr val="922D18"/>
              </a:solidFill>
              <a:ln w="12700" cap="flat">
                <a:solidFill>
                  <a:srgbClr val="FFFFFF"/>
                </a:solidFill>
                <a:prstDash val="solid"/>
                <a:round/>
              </a:ln>
              <a:effectLst/>
            </c:spPr>
          </c:dPt>
          <c:dPt>
            <c:idx val="2"/>
            <c:bubble3D val="0"/>
            <c:spPr>
              <a:solidFill>
                <a:srgbClr val="FEBE5C"/>
              </a:solidFill>
              <a:ln w="12700" cap="flat">
                <a:solidFill>
                  <a:srgbClr val="FFFFFF"/>
                </a:solidFill>
                <a:prstDash val="solid"/>
                <a:round/>
              </a:ln>
              <a:effectLst/>
            </c:spPr>
          </c:dPt>
          <c:dPt>
            <c:idx val="3"/>
            <c:bubble3D val="0"/>
            <c:spPr>
              <a:solidFill>
                <a:srgbClr val="4E7A3A"/>
              </a:solidFill>
              <a:ln w="12700" cap="flat">
                <a:solidFill>
                  <a:srgbClr val="FFFFFF"/>
                </a:solidFill>
                <a:prstDash val="solid"/>
                <a:round/>
              </a:ln>
              <a:effectLst/>
            </c:spPr>
          </c:dPt>
          <c:dPt>
            <c:idx val="4"/>
            <c:bubble3D val="0"/>
            <c:spPr>
              <a:solidFill>
                <a:srgbClr val="C9B7A6"/>
              </a:solidFill>
              <a:ln w="12700" cap="flat">
                <a:solidFill>
                  <a:srgbClr val="FFFFFF"/>
                </a:solidFill>
                <a:prstDash val="solid"/>
                <a:round/>
              </a:ln>
              <a:effectLst/>
            </c:spPr>
          </c:dPt>
          <c:dLbls>
            <c:dLbl>
              <c:idx val="0"/>
              <c:numFmt formatCode="General" sourceLinked="0"/>
              <c:spPr/>
              <c:txPr>
                <a:bodyPr/>
                <a:lstStyle/>
                <a:p>
                  <a:pPr>
                    <a:defRPr sz="850" b="0" i="0" u="none" strike="noStrike">
                      <a:solidFill>
                        <a:srgbClr val="3B1B0F"/>
                      </a:solidFill>
                      <a:latin typeface="Lato"/>
                    </a:defRPr>
                  </a:pPr>
                </a:p>
              </c:txPr>
              <c:showLegendKey val="0"/>
              <c:showVal val="0"/>
              <c:showCatName val="0"/>
              <c:showSerName val="0"/>
              <c:showPercent val="0"/>
              <c:showBubbleSize val="0"/>
            </c:dLbl>
            <c:dLbl>
              <c:idx val="1"/>
              <c:numFmt formatCode="General" sourceLinked="0"/>
              <c:spPr/>
              <c:txPr>
                <a:bodyPr/>
                <a:lstStyle/>
                <a:p>
                  <a:pPr>
                    <a:defRPr sz="850" b="0" i="0" u="none" strike="noStrike">
                      <a:solidFill>
                        <a:srgbClr val="3B1B0F"/>
                      </a:solidFill>
                      <a:latin typeface="Lato"/>
                    </a:defRPr>
                  </a:pPr>
                </a:p>
              </c:txPr>
              <c:showLegendKey val="0"/>
              <c:showVal val="0"/>
              <c:showCatName val="0"/>
              <c:showSerName val="0"/>
              <c:showPercent val="0"/>
              <c:showBubbleSize val="0"/>
            </c:dLbl>
            <c:dLbl>
              <c:idx val="2"/>
              <c:numFmt formatCode="General" sourceLinked="0"/>
              <c:spPr/>
              <c:txPr>
                <a:bodyPr/>
                <a:lstStyle/>
                <a:p>
                  <a:pPr>
                    <a:defRPr sz="850" b="0" i="0" u="none" strike="noStrike">
                      <a:solidFill>
                        <a:srgbClr val="3B1B0F"/>
                      </a:solidFill>
                      <a:latin typeface="Lato"/>
                    </a:defRPr>
                  </a:pPr>
                </a:p>
              </c:txPr>
              <c:showLegendKey val="0"/>
              <c:showVal val="0"/>
              <c:showCatName val="0"/>
              <c:showSerName val="0"/>
              <c:showPercent val="0"/>
              <c:showBubbleSize val="0"/>
            </c:dLbl>
            <c:dLbl>
              <c:idx val="3"/>
              <c:numFmt formatCode="General" sourceLinked="0"/>
              <c:spPr/>
              <c:txPr>
                <a:bodyPr/>
                <a:lstStyle/>
                <a:p>
                  <a:pPr>
                    <a:defRPr sz="850" b="0" i="0" u="none" strike="noStrike">
                      <a:solidFill>
                        <a:srgbClr val="3B1B0F"/>
                      </a:solidFill>
                      <a:latin typeface="Lato"/>
                    </a:defRPr>
                  </a:pPr>
                </a:p>
              </c:txPr>
              <c:showLegendKey val="0"/>
              <c:showVal val="0"/>
              <c:showCatName val="0"/>
              <c:showSerName val="0"/>
              <c:showPercent val="0"/>
              <c:showBubbleSize val="0"/>
            </c:dLbl>
            <c:dLbl>
              <c:idx val="4"/>
              <c:numFmt formatCode="General" sourceLinked="0"/>
              <c:spPr/>
              <c:txPr>
                <a:bodyPr/>
                <a:lstStyle/>
                <a:p>
                  <a:pPr>
                    <a:defRPr sz="850" b="0" i="0" u="none" strike="noStrike">
                      <a:solidFill>
                        <a:srgbClr val="3B1B0F"/>
                      </a:solidFill>
                      <a:latin typeface="Lato"/>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Paid social 78 %</c:v>
                </c:pt>
                <c:pt idx="1">
                  <c:v>Direct 16 %</c:v>
                </c:pt>
                <c:pt idx="2">
                  <c:v>SEO 4 %</c:v>
                </c:pt>
                <c:pt idx="3">
                  <c:v>Social organique 1 %</c:v>
                </c:pt>
                <c:pt idx="4">
                  <c:v>Autres 1 %</c:v>
                </c:pt>
              </c:strCache>
            </c:strRef>
          </c:cat>
          <c:val>
            <c:numRef>
              <c:f>Sheet1!$B$2:$B$6</c:f>
              <c:numCache>
                <c:ptCount val="5"/>
                <c:pt idx="0">
                  <c:v>51792</c:v>
                </c:pt>
                <c:pt idx="1">
                  <c:v>10629</c:v>
                </c:pt>
                <c:pt idx="2">
                  <c:v>2527</c:v>
                </c:pt>
                <c:pt idx="3">
                  <c:v>846</c:v>
                </c:pt>
                <c:pt idx="4">
                  <c:v>425</c:v>
                </c:pt>
              </c:numCache>
            </c:numRef>
          </c:val>
        </c:ser>
        <c:firstSliceAng val="0"/>
        <c:holeSize val="55"/>
      </c:doughnutChart>
      <c:spPr>
        <a:solidFill>
          <a:srgbClr val="FFFFFF"/>
        </a:solidFill>
        <a:ln>
          <a:noFill/>
        </a:ln>
        <a:effectLst/>
      </c:spPr>
    </c:plotArea>
    <c:legend>
      <c:legendPos val="r"/>
      <c:overlay val="0"/>
      <c:txPr>
        <a:bodyPr/>
        <a:lstStyle/>
        <a:p>
          <a:pPr>
            <a:defRPr sz="950">
              <a:solidFill>
                <a:srgbClr val="3B1B0F"/>
              </a:solidFill>
              <a:latin typeface="Lato"/>
              <a:cs typeface="Lato"/>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de bilan pour préparer la reconduction 2027. Sources : GA4 (propriété chasseursdegraines.fr), API Meta Ads (compte ANMF), reportings mensuels Looker 2025 et juin 2026, board Monday PE 2025/2026, relevés d'abonnés de fin de mois.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board Monday PE 2025 et PE 2026, stratégie 2026, reportings Looker. 12,6 M = 1,02 M impressions Meta + 10,7 M TikTok Ads sur mai-nov. 2025. Sessions : 33 751 (jan.-août 2025) vs 66 215 (jan.-août 2026), GA4.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Instagram : creux nov. 2025 → fév. 2026 pendant l'inter-campagne (2 596 → 2 558), puis +938 entre mars et juillet 2026. TikTok : idem, stagnation hors campagne (464 → 438), reprise dès avril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 2025 : 3 275,42 € pour 1 023 895 impressions, 48 021 clics, 41 384 vues à 100 %. Meta 2026 mars-août : 2 542,39 € pour 1 116 233 impressions, 63 472 clics, 58 751 vues à 100 %. TikTok : cumul 2026 non disponible dans les données récupérées (Supermetrics expiré) — seul juin 2026 est documenté : 483 € pour 1,85 M d'impressions, 1,76 M de vues, 7 536 visites.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 : 63 079 sessions, 20,9 % engagées. 2026 jan.-août : 66 215 sessions, 18,4 % engagées. Août 2026 : 22 425 sessions (+86 % vs août 2025). Canaux 2026 : paid social 51 792, direct 10 629, organic search 2 527, organic social 846. Pages fantômes du thème encore servies : /produit/woo-album-4, /elements/tabs, etc.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levier répond à un trou vu dans la donnée : la saisonnalité du site (×10 en campagne, rien hors campagne) pour Parcoursup ; la ligne UGC non tenue pour les ambassadeurs ; le ciblage Meta vieillissant pour l'influence orientation et Snapchat ; les commentaires quasi nuls des posts fixes pour les DM automatisés ; la 4e cible sans contenu pour le terrain.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image" Target="../media/image-5-1.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EBDA"/>
        </a:solidFill>
      </p:bgPr>
    </p:bg>
    <p:spTree>
      <p:nvGrpSpPr>
        <p:cNvPr id="1" name=""/>
        <p:cNvGrpSpPr/>
        <p:nvPr/>
      </p:nvGrpSpPr>
      <p:grpSpPr>
        <a:xfrm>
          <a:off x="0" y="0"/>
          <a:ext cx="0" cy="0"/>
          <a:chOff x="0" y="0"/>
          <a:chExt cx="0" cy="0"/>
        </a:xfrm>
      </p:grpSpPr>
      <p:sp>
        <p:nvSpPr>
          <p:cNvPr id="2" name="Shape 0"/>
          <p:cNvSpPr/>
          <p:nvPr/>
        </p:nvSpPr>
        <p:spPr>
          <a:xfrm>
            <a:off x="-2011680" y="4206240"/>
            <a:ext cx="8229600" cy="5486400"/>
          </a:xfrm>
          <a:prstGeom prst="ellipse">
            <a:avLst/>
          </a:prstGeom>
          <a:solidFill>
            <a:srgbClr val="FFFFFF"/>
          </a:solidFill>
          <a:ln w="12700">
            <a:solidFill>
              <a:srgbClr val="FFFFFF"/>
            </a:solidFill>
            <a:prstDash val="solid"/>
          </a:ln>
        </p:spPr>
      </p:sp>
      <p:sp>
        <p:nvSpPr>
          <p:cNvPr id="3" name="Shape 1"/>
          <p:cNvSpPr/>
          <p:nvPr/>
        </p:nvSpPr>
        <p:spPr>
          <a:xfrm>
            <a:off x="8686800" y="-2377440"/>
            <a:ext cx="5029200" cy="5029200"/>
          </a:xfrm>
          <a:prstGeom prst="ellipse">
            <a:avLst/>
          </a:prstGeom>
          <a:solidFill>
            <a:srgbClr val="FFFFFF"/>
          </a:solidFill>
          <a:ln w="12700">
            <a:solidFill>
              <a:srgbClr val="FFFFFF"/>
            </a:solidFill>
            <a:prstDash val="solid"/>
          </a:ln>
        </p:spPr>
      </p:sp>
      <p:pic>
        <p:nvPicPr>
          <p:cNvPr id="4" name="Image 0" descr="/tmp/claude-0/-home-user-Dashboard-Antidotes/19e64f65-f236-5057-97fe-8b787e5e46cb/scratchpad/assets/ChasseursDeGraines_Logo_Quadri.png">    </p:cNvPr>
          <p:cNvPicPr>
            <a:picLocks noChangeAspect="1"/>
          </p:cNvPicPr>
          <p:nvPr/>
        </p:nvPicPr>
        <p:blipFill>
          <a:blip r:embed="rId1"/>
          <a:stretch>
            <a:fillRect/>
          </a:stretch>
        </p:blipFill>
        <p:spPr>
          <a:xfrm>
            <a:off x="502920" y="411480"/>
            <a:ext cx="2377440" cy="1143000"/>
          </a:xfrm>
          <a:prstGeom prst="rect">
            <a:avLst/>
          </a:prstGeom>
        </p:spPr>
      </p:pic>
      <p:sp>
        <p:nvSpPr>
          <p:cNvPr id="5" name="Shape 2"/>
          <p:cNvSpPr/>
          <p:nvPr/>
        </p:nvSpPr>
        <p:spPr>
          <a:xfrm>
            <a:off x="594360" y="1874520"/>
            <a:ext cx="3246120" cy="329184"/>
          </a:xfrm>
          <a:prstGeom prst="roundRect">
            <a:avLst>
              <a:gd name="adj" fmla="val 50000"/>
            </a:avLst>
          </a:prstGeom>
          <a:solidFill>
            <a:srgbClr val="922D18"/>
          </a:solidFill>
          <a:ln w="12700">
            <a:solidFill>
              <a:srgbClr val="922D18"/>
            </a:solidFill>
            <a:prstDash val="solid"/>
          </a:ln>
        </p:spPr>
      </p:sp>
      <p:sp>
        <p:nvSpPr>
          <p:cNvPr id="6" name="Text 3"/>
          <p:cNvSpPr txBox="1"/>
          <p:nvPr/>
        </p:nvSpPr>
        <p:spPr>
          <a:xfrm>
            <a:off x="594360" y="1874520"/>
            <a:ext cx="3246120" cy="329184"/>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Fredoka" pitchFamily="34" charset="0"/>
                <a:ea typeface="Fredoka" pitchFamily="34" charset="-122"/>
                <a:cs typeface="Fredoka" pitchFamily="34" charset="-120"/>
              </a:rPr>
              <a:t>ANMF · CHASSEURS DE GRAINES</a:t>
            </a:r>
            <a:endParaRPr lang="en-US" sz="1050" dirty="0"/>
          </a:p>
        </p:txBody>
      </p:sp>
      <p:sp>
        <p:nvSpPr>
          <p:cNvPr id="7" name="Text 4"/>
          <p:cNvSpPr txBox="1"/>
          <p:nvPr/>
        </p:nvSpPr>
        <p:spPr>
          <a:xfrm>
            <a:off x="548640" y="2331720"/>
            <a:ext cx="6035040" cy="914400"/>
          </a:xfrm>
          <a:prstGeom prst="rect">
            <a:avLst/>
          </a:prstGeom>
          <a:noFill/>
          <a:ln/>
        </p:spPr>
        <p:txBody>
          <a:bodyPr wrap="square" lIns="0" tIns="0" rIns="0" bIns="0" rtlCol="0" anchor="t"/>
          <a:lstStyle/>
          <a:p>
            <a:pPr indent="0" marL="0">
              <a:buNone/>
            </a:pPr>
            <a:r>
              <a:rPr lang="en-US" sz="4600" b="1" dirty="0">
                <a:solidFill>
                  <a:srgbClr val="922D18"/>
                </a:solidFill>
                <a:latin typeface="Fredoka" pitchFamily="34" charset="0"/>
                <a:ea typeface="Fredoka" pitchFamily="34" charset="-122"/>
                <a:cs typeface="Fredoka" pitchFamily="34" charset="-120"/>
              </a:rPr>
              <a:t>Bilan 2025-2026</a:t>
            </a:r>
            <a:endParaRPr lang="en-US" sz="4600" dirty="0"/>
          </a:p>
        </p:txBody>
      </p:sp>
      <p:sp>
        <p:nvSpPr>
          <p:cNvPr id="8" name="Text 5"/>
          <p:cNvSpPr txBox="1"/>
          <p:nvPr/>
        </p:nvSpPr>
        <p:spPr>
          <a:xfrm>
            <a:off x="548640" y="3154680"/>
            <a:ext cx="6035040" cy="914400"/>
          </a:xfrm>
          <a:prstGeom prst="rect">
            <a:avLst/>
          </a:prstGeom>
          <a:noFill/>
          <a:ln/>
        </p:spPr>
        <p:txBody>
          <a:bodyPr wrap="square" lIns="0" tIns="0" rIns="0" bIns="0" rtlCol="0" anchor="t"/>
          <a:lstStyle/>
          <a:p>
            <a:pPr indent="0" marL="0">
              <a:buNone/>
            </a:pPr>
            <a:r>
              <a:rPr lang="en-US" sz="4600" b="1" dirty="0">
                <a:solidFill>
                  <a:srgbClr val="E45728"/>
                </a:solidFill>
                <a:latin typeface="Fredoka" pitchFamily="34" charset="0"/>
                <a:ea typeface="Fredoka" pitchFamily="34" charset="-122"/>
                <a:cs typeface="Fredoka" pitchFamily="34" charset="-120"/>
              </a:rPr>
              <a:t>&amp; cap 2027</a:t>
            </a:r>
            <a:endParaRPr lang="en-US" sz="4600" dirty="0"/>
          </a:p>
        </p:txBody>
      </p:sp>
      <p:sp>
        <p:nvSpPr>
          <p:cNvPr id="9" name="Text 6"/>
          <p:cNvSpPr txBox="1"/>
          <p:nvPr/>
        </p:nvSpPr>
        <p:spPr>
          <a:xfrm>
            <a:off x="548640" y="4206240"/>
            <a:ext cx="5120640" cy="822960"/>
          </a:xfrm>
          <a:prstGeom prst="rect">
            <a:avLst/>
          </a:prstGeom>
          <a:noFill/>
          <a:ln/>
        </p:spPr>
        <p:txBody>
          <a:bodyPr wrap="square" lIns="0" tIns="0" rIns="0" bIns="0" rtlCol="0" anchor="t"/>
          <a:lstStyle/>
          <a:p>
            <a:pPr indent="0" marL="0">
              <a:lnSpc>
                <a:spcPct val="115000"/>
              </a:lnSpc>
              <a:buNone/>
            </a:pPr>
            <a:r>
              <a:rPr lang="en-US" sz="1400" dirty="0">
                <a:solidFill>
                  <a:srgbClr val="3B1B0F"/>
                </a:solidFill>
                <a:latin typeface="Lato" pitchFamily="34" charset="0"/>
                <a:ea typeface="Lato" pitchFamily="34" charset="-122"/>
                <a:cs typeface="Lato" pitchFamily="34" charset="-120"/>
              </a:rPr>
              <a:t>Ce que les réseaux, la médiatisation et le site ont produit, et ce qu'on arrête, garde et ajoute pour aller plus loin.</a:t>
            </a:r>
            <a:endParaRPr lang="en-US" sz="1400" dirty="0"/>
          </a:p>
        </p:txBody>
      </p:sp>
      <p:sp>
        <p:nvSpPr>
          <p:cNvPr id="10" name="Text 7"/>
          <p:cNvSpPr txBox="1"/>
          <p:nvPr/>
        </p:nvSpPr>
        <p:spPr>
          <a:xfrm>
            <a:off x="548640" y="6126480"/>
            <a:ext cx="5486400" cy="320040"/>
          </a:xfrm>
          <a:prstGeom prst="rect">
            <a:avLst/>
          </a:prstGeom>
          <a:noFill/>
          <a:ln/>
        </p:spPr>
        <p:txBody>
          <a:bodyPr wrap="square" lIns="0" tIns="0" rIns="0" bIns="0" rtlCol="0" anchor="t"/>
          <a:lstStyle/>
          <a:p>
            <a:pPr indent="0" marL="0">
              <a:buNone/>
            </a:pPr>
            <a:r>
              <a:rPr lang="en-US" sz="1050" dirty="0">
                <a:solidFill>
                  <a:srgbClr val="7A5A4A"/>
                </a:solidFill>
                <a:latin typeface="Lato" pitchFamily="34" charset="0"/>
                <a:ea typeface="Lato" pitchFamily="34" charset="-122"/>
                <a:cs typeface="Lato" pitchFamily="34" charset="-120"/>
              </a:rPr>
              <a:t>Septembre 2026 · Alessandro Di Giovanni</a:t>
            </a:r>
            <a:endParaRPr lang="en-US" sz="1050" dirty="0"/>
          </a:p>
        </p:txBody>
      </p:sp>
      <p:sp>
        <p:nvSpPr>
          <p:cNvPr id="11" name="Shape 8"/>
          <p:cNvSpPr/>
          <p:nvPr/>
        </p:nvSpPr>
        <p:spPr>
          <a:xfrm>
            <a:off x="6949440" y="1051560"/>
            <a:ext cx="1874520" cy="3842766"/>
          </a:xfrm>
          <a:prstGeom prst="roundRect">
            <a:avLst>
              <a:gd name="adj" fmla="val 15610"/>
            </a:avLst>
          </a:prstGeom>
          <a:solidFill>
            <a:srgbClr val="1C1410"/>
          </a:solidFill>
          <a:ln w="12700">
            <a:solidFill>
              <a:srgbClr val="1C1410"/>
            </a:solidFill>
            <a:prstDash val="solid"/>
          </a:ln>
          <a:effectLst>
            <a:outerShdw sx="100000" sy="100000" kx="0" ky="0" algn="bl" rotWithShape="0" blurRad="127000" dist="50800" dir="5400000">
              <a:srgbClr val="000000">
                <a:alpha val="25000"/>
              </a:srgbClr>
            </a:outerShdw>
          </a:effectLst>
        </p:spPr>
      </p:sp>
      <p:sp>
        <p:nvSpPr>
          <p:cNvPr id="12" name="Shape 9"/>
          <p:cNvSpPr/>
          <p:nvPr/>
        </p:nvSpPr>
        <p:spPr>
          <a:xfrm>
            <a:off x="7013448" y="1115568"/>
            <a:ext cx="1746504" cy="3714750"/>
          </a:xfrm>
          <a:prstGeom prst="roundRect">
            <a:avLst>
              <a:gd name="adj" fmla="val 13613"/>
            </a:avLst>
          </a:prstGeom>
          <a:solidFill>
            <a:srgbClr val="FFFFFF"/>
          </a:solidFill>
          <a:ln w="12700">
            <a:solidFill>
              <a:srgbClr val="1C1410"/>
            </a:solidFill>
            <a:prstDash val="solid"/>
          </a:ln>
        </p:spPr>
      </p:sp>
      <p:pic>
        <p:nvPicPr>
          <p:cNvPr id="13" name="Image 1" descr="/tmp/claude-0/-home-user-Dashboard-Antidotes/19e64f65-f236-5057-97fe-8b787e5e46cb/scratchpad/assets/GRAIN_DE_VERIT_1.jpg">    </p:cNvPr>
          <p:cNvPicPr>
            <a:picLocks noChangeAspect="1"/>
          </p:cNvPicPr>
          <p:nvPr/>
        </p:nvPicPr>
        <p:blipFill>
          <a:blip r:embed="rId2"/>
          <a:srcRect l="0" r="0" t="0" b="0"/>
          <a:stretch/>
        </p:blipFill>
        <p:spPr>
          <a:xfrm>
            <a:off x="7013448" y="1115568"/>
            <a:ext cx="1746504" cy="3714750"/>
          </a:xfrm>
          <a:prstGeom prst="rect">
            <a:avLst/>
          </a:prstGeom>
        </p:spPr>
      </p:pic>
      <p:sp>
        <p:nvSpPr>
          <p:cNvPr id="14" name="Shape 10"/>
          <p:cNvSpPr/>
          <p:nvPr/>
        </p:nvSpPr>
        <p:spPr>
          <a:xfrm>
            <a:off x="7605522" y="1179576"/>
            <a:ext cx="562356" cy="100584"/>
          </a:xfrm>
          <a:prstGeom prst="roundRect">
            <a:avLst>
              <a:gd name="adj" fmla="val 50000"/>
            </a:avLst>
          </a:prstGeom>
          <a:solidFill>
            <a:srgbClr val="1C1410"/>
          </a:solidFill>
          <a:ln w="12700">
            <a:solidFill>
              <a:srgbClr val="1C1410"/>
            </a:solidFill>
            <a:prstDash val="solid"/>
          </a:ln>
        </p:spPr>
      </p:sp>
      <p:sp>
        <p:nvSpPr>
          <p:cNvPr id="15" name="Shape 11"/>
          <p:cNvSpPr/>
          <p:nvPr/>
        </p:nvSpPr>
        <p:spPr>
          <a:xfrm>
            <a:off x="9281160" y="2148840"/>
            <a:ext cx="1874520" cy="3842766"/>
          </a:xfrm>
          <a:prstGeom prst="roundRect">
            <a:avLst>
              <a:gd name="adj" fmla="val 15610"/>
            </a:avLst>
          </a:prstGeom>
          <a:solidFill>
            <a:srgbClr val="1C1410"/>
          </a:solidFill>
          <a:ln w="12700">
            <a:solidFill>
              <a:srgbClr val="1C1410"/>
            </a:solidFill>
            <a:prstDash val="solid"/>
          </a:ln>
          <a:effectLst>
            <a:outerShdw sx="100000" sy="100000" kx="0" ky="0" algn="bl" rotWithShape="0" blurRad="127000" dist="50800" dir="5400000">
              <a:srgbClr val="000000">
                <a:alpha val="25000"/>
              </a:srgbClr>
            </a:outerShdw>
          </a:effectLst>
        </p:spPr>
      </p:sp>
      <p:sp>
        <p:nvSpPr>
          <p:cNvPr id="16" name="Shape 12"/>
          <p:cNvSpPr/>
          <p:nvPr/>
        </p:nvSpPr>
        <p:spPr>
          <a:xfrm>
            <a:off x="9345168" y="2212848"/>
            <a:ext cx="1746504" cy="3714750"/>
          </a:xfrm>
          <a:prstGeom prst="roundRect">
            <a:avLst>
              <a:gd name="adj" fmla="val 13613"/>
            </a:avLst>
          </a:prstGeom>
          <a:solidFill>
            <a:srgbClr val="FFFFFF"/>
          </a:solidFill>
          <a:ln w="12700">
            <a:solidFill>
              <a:srgbClr val="1C1410"/>
            </a:solidFill>
            <a:prstDash val="solid"/>
          </a:ln>
        </p:spPr>
      </p:sp>
      <p:pic>
        <p:nvPicPr>
          <p:cNvPr id="17" name="Image 2" descr="/tmp/claude-0/-home-user-Dashboard-Antidotes/19e64f65-f236-5057-97fe-8b787e5e46cb/scratchpad/assets/T_ES_PLUT_T_1_.jpg">    </p:cNvPr>
          <p:cNvPicPr>
            <a:picLocks noChangeAspect="1"/>
          </p:cNvPicPr>
          <p:nvPr/>
        </p:nvPicPr>
        <p:blipFill>
          <a:blip r:embed="rId3"/>
          <a:srcRect l="0" r="0" t="0" b="0"/>
          <a:stretch/>
        </p:blipFill>
        <p:spPr>
          <a:xfrm>
            <a:off x="9345168" y="2212848"/>
            <a:ext cx="1746504" cy="3714750"/>
          </a:xfrm>
          <a:prstGeom prst="rect">
            <a:avLst/>
          </a:prstGeom>
        </p:spPr>
      </p:pic>
      <p:sp>
        <p:nvSpPr>
          <p:cNvPr id="18" name="Shape 13"/>
          <p:cNvSpPr/>
          <p:nvPr/>
        </p:nvSpPr>
        <p:spPr>
          <a:xfrm>
            <a:off x="9937242" y="2276856"/>
            <a:ext cx="562356" cy="100584"/>
          </a:xfrm>
          <a:prstGeom prst="roundRect">
            <a:avLst>
              <a:gd name="adj" fmla="val 50000"/>
            </a:avLst>
          </a:prstGeom>
          <a:solidFill>
            <a:srgbClr val="1C1410"/>
          </a:solidFill>
          <a:ln w="12700">
            <a:solidFill>
              <a:srgbClr val="1C1410"/>
            </a:solidFill>
            <a:prstDash val="solid"/>
          </a:ln>
        </p:spPr>
      </p:sp>
      <p:sp>
        <p:nvSpPr>
          <p:cNvPr id="19" name="Shape 14"/>
          <p:cNvSpPr/>
          <p:nvPr/>
        </p:nvSpPr>
        <p:spPr>
          <a:xfrm>
            <a:off x="8275320" y="4526280"/>
            <a:ext cx="1737360" cy="2167128"/>
          </a:xfrm>
          <a:prstGeom prst="roundRect">
            <a:avLst>
              <a:gd name="adj" fmla="val 8421"/>
            </a:avLst>
          </a:prstGeom>
          <a:solidFill>
            <a:srgbClr val="FFFFFF"/>
          </a:solidFill>
          <a:ln w="12700">
            <a:solidFill>
              <a:srgbClr val="FFFFFF"/>
            </a:solidFill>
            <a:prstDash val="solid"/>
          </a:ln>
          <a:effectLst>
            <a:outerShdw sx="100000" sy="100000" kx="0" ky="0" algn="bl" rotWithShape="0" blurRad="101600" dist="38100" dir="5400000">
              <a:srgbClr val="000000">
                <a:alpha val="20000"/>
              </a:srgbClr>
            </a:outerShdw>
          </a:effectLst>
        </p:spPr>
      </p:sp>
      <p:pic>
        <p:nvPicPr>
          <p:cNvPr id="20" name="Image 3" descr="/tmp/claude-0/-home-user-Dashboard-Antidotes/19e64f65-f236-5057-97fe-8b787e5e46cb/scratchpad/assets/UNPOPULAR_OPINION.jpg">    </p:cNvPr>
          <p:cNvPicPr>
            <a:picLocks noChangeAspect="1"/>
          </p:cNvPicPr>
          <p:nvPr/>
        </p:nvPicPr>
        <p:blipFill>
          <a:blip r:embed="rId4"/>
          <a:stretch>
            <a:fillRect/>
          </a:stretch>
        </p:blipFill>
        <p:spPr>
          <a:xfrm>
            <a:off x="8339328" y="4590288"/>
            <a:ext cx="1609344" cy="20116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6EC"/>
        </a:solidFill>
      </p:bgPr>
    </p:bg>
    <p:spTree>
      <p:nvGrpSpPr>
        <p:cNvPr id="1" name=""/>
        <p:cNvGrpSpPr/>
        <p:nvPr/>
      </p:nvGrpSpPr>
      <p:grpSpPr>
        <a:xfrm>
          <a:off x="0" y="0"/>
          <a:ext cx="0" cy="0"/>
          <a:chOff x="0" y="0"/>
          <a:chExt cx="0" cy="0"/>
        </a:xfrm>
      </p:grpSpPr>
      <p:pic>
        <p:nvPicPr>
          <p:cNvPr id="2" name="Image 0" descr="/tmp/claude-0/-home-user-Dashboard-Antidotes/19e64f65-f236-5057-97fe-8b787e5e46cb/scratchpad/assets/2025_04_17_chasseurs-de-graines-14.jpg">    </p:cNvPr>
          <p:cNvPicPr>
            <a:picLocks noChangeAspect="1"/>
          </p:cNvPicPr>
          <p:nvPr/>
        </p:nvPicPr>
        <p:blipFill>
          <a:blip r:embed="rId1"/>
          <a:srcRect l="0" r="0" t="0" b="0"/>
          <a:stretch/>
        </p:blipFill>
        <p:spPr>
          <a:xfrm>
            <a:off x="0" y="0"/>
            <a:ext cx="4206240" cy="6858000"/>
          </a:xfrm>
          <a:prstGeom prst="rect">
            <a:avLst/>
          </a:prstGeom>
        </p:spPr>
      </p:pic>
      <p:sp>
        <p:nvSpPr>
          <p:cNvPr id="3" name="Shape 0"/>
          <p:cNvSpPr/>
          <p:nvPr/>
        </p:nvSpPr>
        <p:spPr>
          <a:xfrm>
            <a:off x="0" y="5394960"/>
            <a:ext cx="4206240" cy="1463040"/>
          </a:xfrm>
          <a:prstGeom prst="rect">
            <a:avLst/>
          </a:prstGeom>
          <a:solidFill>
            <a:srgbClr val="922D18">
              <a:alpha val="85000"/>
            </a:srgbClr>
          </a:solidFill>
          <a:ln w="12700">
            <a:solidFill>
              <a:srgbClr val="922D18">
                <a:alpha val="85000"/>
              </a:srgbClr>
            </a:solidFill>
            <a:prstDash val="solid"/>
          </a:ln>
        </p:spPr>
      </p:sp>
      <p:sp>
        <p:nvSpPr>
          <p:cNvPr id="4" name="Text 1"/>
          <p:cNvSpPr txBox="1"/>
          <p:nvPr/>
        </p:nvSpPr>
        <p:spPr>
          <a:xfrm>
            <a:off x="274320" y="5989320"/>
            <a:ext cx="3749040" cy="365760"/>
          </a:xfrm>
          <a:prstGeom prst="rect">
            <a:avLst/>
          </a:prstGeom>
          <a:noFill/>
          <a:ln/>
        </p:spPr>
        <p:txBody>
          <a:bodyPr wrap="square" lIns="0" tIns="0" rIns="0" bIns="0" rtlCol="0" anchor="t"/>
          <a:lstStyle/>
          <a:p>
            <a:pPr indent="0" marL="0">
              <a:buNone/>
            </a:pPr>
            <a:r>
              <a:rPr lang="en-US" sz="900" i="1" dirty="0">
                <a:solidFill>
                  <a:srgbClr val="FFFFFF"/>
                </a:solidFill>
                <a:latin typeface="Lato" pitchFamily="34" charset="0"/>
                <a:ea typeface="Lato" pitchFamily="34" charset="-122"/>
                <a:cs typeface="Lato" pitchFamily="34" charset="-120"/>
              </a:rPr>
              <a:t>Shooting 2025 · banque d'images Chasseurs de Graines</a:t>
            </a:r>
            <a:endParaRPr lang="en-US" sz="900" dirty="0"/>
          </a:p>
        </p:txBody>
      </p:sp>
      <p:sp>
        <p:nvSpPr>
          <p:cNvPr id="5" name="Text 2"/>
          <p:cNvSpPr txBox="1"/>
          <p:nvPr/>
        </p:nvSpPr>
        <p:spPr>
          <a:xfrm>
            <a:off x="4572000" y="411480"/>
            <a:ext cx="7132320" cy="822960"/>
          </a:xfrm>
          <a:prstGeom prst="rect">
            <a:avLst/>
          </a:prstGeom>
          <a:noFill/>
          <a:ln/>
        </p:spPr>
        <p:txBody>
          <a:bodyPr wrap="square" lIns="0" tIns="0" rIns="0" bIns="0" rtlCol="0" anchor="ctr"/>
          <a:lstStyle/>
          <a:p>
            <a:pPr indent="0" marL="0">
              <a:buNone/>
            </a:pPr>
            <a:r>
              <a:rPr lang="en-US" sz="3400" b="1" dirty="0">
                <a:solidFill>
                  <a:srgbClr val="922D18"/>
                </a:solidFill>
                <a:latin typeface="Fredoka" pitchFamily="34" charset="0"/>
                <a:ea typeface="Fredoka" pitchFamily="34" charset="-122"/>
                <a:cs typeface="Fredoka" pitchFamily="34" charset="-120"/>
              </a:rPr>
              <a:t>Ce qu'on a construit</a:t>
            </a:r>
            <a:endParaRPr lang="en-US" sz="3400" dirty="0"/>
          </a:p>
        </p:txBody>
      </p:sp>
      <p:sp>
        <p:nvSpPr>
          <p:cNvPr id="6" name="Shape 3"/>
          <p:cNvSpPr/>
          <p:nvPr/>
        </p:nvSpPr>
        <p:spPr>
          <a:xfrm>
            <a:off x="4572000" y="182880"/>
            <a:ext cx="2011680" cy="274320"/>
          </a:xfrm>
          <a:prstGeom prst="roundRect">
            <a:avLst>
              <a:gd name="adj" fmla="val 50000"/>
            </a:avLst>
          </a:prstGeom>
          <a:solidFill>
            <a:srgbClr val="E45728"/>
          </a:solidFill>
          <a:ln w="12700">
            <a:solidFill>
              <a:srgbClr val="E45728"/>
            </a:solidFill>
            <a:prstDash val="solid"/>
          </a:ln>
        </p:spPr>
      </p:sp>
      <p:sp>
        <p:nvSpPr>
          <p:cNvPr id="7" name="Text 4"/>
          <p:cNvSpPr txBox="1"/>
          <p:nvPr/>
        </p:nvSpPr>
        <p:spPr>
          <a:xfrm>
            <a:off x="4572000" y="182880"/>
            <a:ext cx="201168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Fredoka" pitchFamily="34" charset="0"/>
                <a:ea typeface="Fredoka" pitchFamily="34" charset="-122"/>
                <a:cs typeface="Fredoka" pitchFamily="34" charset="-120"/>
              </a:rPr>
              <a:t>2 ANS DE CAMPAGNE</a:t>
            </a:r>
            <a:endParaRPr lang="en-US" sz="950" dirty="0"/>
          </a:p>
        </p:txBody>
      </p:sp>
      <p:sp>
        <p:nvSpPr>
          <p:cNvPr id="8" name="Shape 5"/>
          <p:cNvSpPr/>
          <p:nvPr/>
        </p:nvSpPr>
        <p:spPr>
          <a:xfrm>
            <a:off x="4572000" y="1417320"/>
            <a:ext cx="3429000" cy="3977640"/>
          </a:xfrm>
          <a:prstGeom prst="roundRect">
            <a:avLst>
              <a:gd name="adj" fmla="val 4800"/>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9" name="Text 6"/>
          <p:cNvSpPr txBox="1"/>
          <p:nvPr/>
        </p:nvSpPr>
        <p:spPr>
          <a:xfrm>
            <a:off x="4846320" y="1600200"/>
            <a:ext cx="1828800" cy="640080"/>
          </a:xfrm>
          <a:prstGeom prst="rect">
            <a:avLst/>
          </a:prstGeom>
          <a:noFill/>
          <a:ln/>
        </p:spPr>
        <p:txBody>
          <a:bodyPr wrap="square" lIns="0" tIns="0" rIns="0" bIns="0" rtlCol="0" anchor="ctr"/>
          <a:lstStyle/>
          <a:p>
            <a:pPr indent="0" marL="0">
              <a:buNone/>
            </a:pPr>
            <a:r>
              <a:rPr lang="en-US" sz="4000" b="1" dirty="0">
                <a:solidFill>
                  <a:srgbClr val="922D18"/>
                </a:solidFill>
                <a:latin typeface="Fredoka" pitchFamily="34" charset="0"/>
                <a:ea typeface="Fredoka" pitchFamily="34" charset="-122"/>
                <a:cs typeface="Fredoka" pitchFamily="34" charset="-120"/>
              </a:rPr>
              <a:t>2025</a:t>
            </a:r>
            <a:endParaRPr lang="en-US" sz="4000" dirty="0"/>
          </a:p>
        </p:txBody>
      </p:sp>
      <p:sp>
        <p:nvSpPr>
          <p:cNvPr id="10" name="Text 7"/>
          <p:cNvSpPr txBox="1"/>
          <p:nvPr/>
        </p:nvSpPr>
        <p:spPr>
          <a:xfrm>
            <a:off x="4846320" y="2377440"/>
            <a:ext cx="2880360" cy="2880360"/>
          </a:xfrm>
          <a:prstGeom prst="rect">
            <a:avLst/>
          </a:prstGeom>
          <a:noFill/>
          <a:ln/>
        </p:spPr>
        <p:txBody>
          <a:bodyPr wrap="square" lIns="0" tIns="0" rIns="0" bIns="0" rtlCol="0" anchor="t"/>
          <a:lstStyle/>
          <a:p>
            <a:pPr marL="177800" indent="-177800">
              <a:lnSpc>
                <a:spcPct val="105000"/>
              </a:lnSpc>
              <a:spcAft>
                <a:spcPts val="700"/>
              </a:spcAft>
              <a:buSzPct val="100000"/>
              <a:buChar char="•"/>
            </a:pPr>
            <a:r>
              <a:rPr lang="en-US" sz="1150" dirty="0">
                <a:solidFill>
                  <a:srgbClr val="3B1B0F"/>
                </a:solidFill>
                <a:latin typeface="Lato" pitchFamily="34" charset="0"/>
                <a:ea typeface="Lato" pitchFamily="34" charset="-122"/>
                <a:cs typeface="Lato" pitchFamily="34" charset="-120"/>
              </a:rPr>
              <a:t>Lancement TikTok : 0 → 464 abonnés en 8 mois</a:t>
            </a:r>
            <a:endParaRPr lang="en-US" sz="1150" dirty="0"/>
          </a:p>
          <a:p>
            <a:pPr marL="177800" indent="-177800">
              <a:lnSpc>
                <a:spcPct val="105000"/>
              </a:lnSpc>
              <a:spcAft>
                <a:spcPts val="700"/>
              </a:spcAft>
              <a:buSzPct val="100000"/>
              <a:buChar char="•"/>
            </a:pPr>
            <a:r>
              <a:rPr lang="en-US" sz="1150" dirty="0">
                <a:solidFill>
                  <a:srgbClr val="3B1B0F"/>
                </a:solidFill>
                <a:latin typeface="Lato" pitchFamily="34" charset="0"/>
                <a:ea typeface="Lato" pitchFamily="34" charset="-122"/>
                <a:cs typeface="Lato" pitchFamily="34" charset="-120"/>
              </a:rPr>
              <a:t>Première campagne d'influence (2 créateurs)</a:t>
            </a:r>
            <a:endParaRPr lang="en-US" sz="1150" dirty="0"/>
          </a:p>
          <a:p>
            <a:pPr marL="177800" indent="-177800">
              <a:lnSpc>
                <a:spcPct val="105000"/>
              </a:lnSpc>
              <a:spcAft>
                <a:spcPts val="700"/>
              </a:spcAft>
              <a:buSzPct val="100000"/>
              <a:buChar char="•"/>
            </a:pPr>
            <a:r>
              <a:rPr lang="en-US" sz="1150" dirty="0">
                <a:solidFill>
                  <a:srgbClr val="3B1B0F"/>
                </a:solidFill>
                <a:latin typeface="Lato" pitchFamily="34" charset="0"/>
                <a:ea typeface="Lato" pitchFamily="34" charset="-122"/>
                <a:cs typeface="Lato" pitchFamily="34" charset="-120"/>
              </a:rPr>
              <a:t>4 nouveaux piliers de contenus testés</a:t>
            </a:r>
            <a:endParaRPr lang="en-US" sz="1150" dirty="0"/>
          </a:p>
          <a:p>
            <a:pPr marL="177800" indent="-177800">
              <a:lnSpc>
                <a:spcPct val="105000"/>
              </a:lnSpc>
              <a:spcAft>
                <a:spcPts val="700"/>
              </a:spcAft>
              <a:buSzPct val="100000"/>
              <a:buChar char="•"/>
            </a:pPr>
            <a:r>
              <a:rPr lang="en-US" sz="1150" dirty="0">
                <a:solidFill>
                  <a:srgbClr val="3B1B0F"/>
                </a:solidFill>
                <a:latin typeface="Lato" pitchFamily="34" charset="0"/>
                <a:ea typeface="Lato" pitchFamily="34" charset="-122"/>
                <a:cs typeface="Lato" pitchFamily="34" charset="-120"/>
              </a:rPr>
              <a:t>Dark ads Meta + TikTok : 3 300 € HT</a:t>
            </a:r>
            <a:endParaRPr lang="en-US" sz="1150" dirty="0"/>
          </a:p>
          <a:p>
            <a:pPr marL="177800" indent="-177800">
              <a:lnSpc>
                <a:spcPct val="105000"/>
              </a:lnSpc>
              <a:spcAft>
                <a:spcPts val="700"/>
              </a:spcAft>
              <a:buSzPct val="100000"/>
              <a:buChar char="•"/>
            </a:pPr>
            <a:r>
              <a:rPr lang="en-US" sz="1150" dirty="0">
                <a:solidFill>
                  <a:srgbClr val="3B1B0F"/>
                </a:solidFill>
                <a:latin typeface="Lato" pitchFamily="34" charset="0"/>
                <a:ea typeface="Lato" pitchFamily="34" charset="-122"/>
                <a:cs typeface="Lato" pitchFamily="34" charset="-120"/>
              </a:rPr>
              <a:t>Trafic site ×10 sur les mois de campagne</a:t>
            </a:r>
            <a:endParaRPr lang="en-US" sz="1150" dirty="0"/>
          </a:p>
        </p:txBody>
      </p:sp>
      <p:sp>
        <p:nvSpPr>
          <p:cNvPr id="11" name="Shape 8"/>
          <p:cNvSpPr/>
          <p:nvPr/>
        </p:nvSpPr>
        <p:spPr>
          <a:xfrm>
            <a:off x="8183880" y="1417320"/>
            <a:ext cx="3429000" cy="3977640"/>
          </a:xfrm>
          <a:prstGeom prst="roundRect">
            <a:avLst>
              <a:gd name="adj" fmla="val 4800"/>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12" name="Text 9"/>
          <p:cNvSpPr txBox="1"/>
          <p:nvPr/>
        </p:nvSpPr>
        <p:spPr>
          <a:xfrm>
            <a:off x="8458200" y="1600200"/>
            <a:ext cx="1828800" cy="640080"/>
          </a:xfrm>
          <a:prstGeom prst="rect">
            <a:avLst/>
          </a:prstGeom>
          <a:noFill/>
          <a:ln/>
        </p:spPr>
        <p:txBody>
          <a:bodyPr wrap="square" lIns="0" tIns="0" rIns="0" bIns="0" rtlCol="0" anchor="ctr"/>
          <a:lstStyle/>
          <a:p>
            <a:pPr indent="0" marL="0">
              <a:buNone/>
            </a:pPr>
            <a:r>
              <a:rPr lang="en-US" sz="4000" b="1" dirty="0">
                <a:solidFill>
                  <a:srgbClr val="E45728"/>
                </a:solidFill>
                <a:latin typeface="Fredoka" pitchFamily="34" charset="0"/>
                <a:ea typeface="Fredoka" pitchFamily="34" charset="-122"/>
                <a:cs typeface="Fredoka" pitchFamily="34" charset="-120"/>
              </a:rPr>
              <a:t>2026</a:t>
            </a:r>
            <a:endParaRPr lang="en-US" sz="4000" dirty="0"/>
          </a:p>
        </p:txBody>
      </p:sp>
      <p:sp>
        <p:nvSpPr>
          <p:cNvPr id="13" name="Text 10"/>
          <p:cNvSpPr txBox="1"/>
          <p:nvPr/>
        </p:nvSpPr>
        <p:spPr>
          <a:xfrm>
            <a:off x="8458200" y="2377440"/>
            <a:ext cx="2880360" cy="2880360"/>
          </a:xfrm>
          <a:prstGeom prst="rect">
            <a:avLst/>
          </a:prstGeom>
          <a:noFill/>
          <a:ln/>
        </p:spPr>
        <p:txBody>
          <a:bodyPr wrap="square" lIns="0" tIns="0" rIns="0" bIns="0" rtlCol="0" anchor="t"/>
          <a:lstStyle/>
          <a:p>
            <a:pPr marL="177800" indent="-177800">
              <a:lnSpc>
                <a:spcPct val="105000"/>
              </a:lnSpc>
              <a:spcAft>
                <a:spcPts val="700"/>
              </a:spcAft>
              <a:buSzPct val="100000"/>
              <a:buChar char="•"/>
            </a:pPr>
            <a:r>
              <a:rPr lang="en-US" sz="1150" dirty="0">
                <a:solidFill>
                  <a:srgbClr val="3B1B0F"/>
                </a:solidFill>
                <a:latin typeface="Lato" pitchFamily="34" charset="0"/>
                <a:ea typeface="Lato" pitchFamily="34" charset="-122"/>
                <a:cs typeface="Lato" pitchFamily="34" charset="-120"/>
              </a:rPr>
              <a:t>Nouvelle DA + claim, comptes remis à jour</a:t>
            </a:r>
            <a:endParaRPr lang="en-US" sz="1150" dirty="0"/>
          </a:p>
          <a:p>
            <a:pPr marL="177800" indent="-177800">
              <a:lnSpc>
                <a:spcPct val="105000"/>
              </a:lnSpc>
              <a:spcAft>
                <a:spcPts val="700"/>
              </a:spcAft>
              <a:buSzPct val="100000"/>
              <a:buChar char="•"/>
            </a:pPr>
            <a:r>
              <a:rPr lang="en-US" sz="1150" dirty="0">
                <a:solidFill>
                  <a:srgbClr val="3B1B0F"/>
                </a:solidFill>
                <a:latin typeface="Lato" pitchFamily="34" charset="0"/>
                <a:ea typeface="Lato" pitchFamily="34" charset="-122"/>
                <a:cs typeface="Lato" pitchFamily="34" charset="-120"/>
              </a:rPr>
              <a:t>16 à 18 publications / mois tenues depuis mars</a:t>
            </a:r>
            <a:endParaRPr lang="en-US" sz="1150" dirty="0"/>
          </a:p>
          <a:p>
            <a:pPr marL="177800" indent="-177800">
              <a:lnSpc>
                <a:spcPct val="105000"/>
              </a:lnSpc>
              <a:spcAft>
                <a:spcPts val="700"/>
              </a:spcAft>
              <a:buSzPct val="100000"/>
              <a:buChar char="•"/>
            </a:pPr>
            <a:r>
              <a:rPr lang="en-US" sz="1150" dirty="0">
                <a:solidFill>
                  <a:srgbClr val="3B1B0F"/>
                </a:solidFill>
                <a:latin typeface="Lato" pitchFamily="34" charset="0"/>
                <a:ea typeface="Lato" pitchFamily="34" charset="-122"/>
                <a:cs typeface="Lato" pitchFamily="34" charset="-120"/>
              </a:rPr>
              <a:t>3 sets de stories interactives / mois</a:t>
            </a:r>
            <a:endParaRPr lang="en-US" sz="1150" dirty="0"/>
          </a:p>
          <a:p>
            <a:pPr marL="177800" indent="-177800">
              <a:lnSpc>
                <a:spcPct val="105000"/>
              </a:lnSpc>
              <a:spcAft>
                <a:spcPts val="700"/>
              </a:spcAft>
              <a:buSzPct val="100000"/>
              <a:buChar char="•"/>
            </a:pPr>
            <a:r>
              <a:rPr lang="en-US" sz="1150" dirty="0">
                <a:solidFill>
                  <a:srgbClr val="3B1B0F"/>
                </a:solidFill>
                <a:latin typeface="Lato" pitchFamily="34" charset="0"/>
                <a:ea typeface="Lato" pitchFamily="34" charset="-122"/>
                <a:cs typeface="Lato" pitchFamily="34" charset="-120"/>
              </a:rPr>
              <a:t>2 jours de tournage : 20 vidéos (immersion, FAQ expert, portraits, beauty shots)</a:t>
            </a:r>
            <a:endParaRPr lang="en-US" sz="1150" dirty="0"/>
          </a:p>
          <a:p>
            <a:pPr marL="177800" indent="-177800">
              <a:lnSpc>
                <a:spcPct val="105000"/>
              </a:lnSpc>
              <a:spcAft>
                <a:spcPts val="700"/>
              </a:spcAft>
              <a:buSzPct val="100000"/>
              <a:buChar char="•"/>
            </a:pPr>
            <a:r>
              <a:rPr lang="en-US" sz="1150" dirty="0">
                <a:solidFill>
                  <a:srgbClr val="3B1B0F"/>
                </a:solidFill>
                <a:latin typeface="Lato" pitchFamily="34" charset="0"/>
                <a:ea typeface="Lato" pitchFamily="34" charset="-122"/>
                <a:cs typeface="Lato" pitchFamily="34" charset="-120"/>
              </a:rPr>
              <a:t>Film de campagne 30 s + créatrice UGC</a:t>
            </a:r>
            <a:endParaRPr lang="en-US" sz="1150" dirty="0"/>
          </a:p>
        </p:txBody>
      </p:sp>
      <p:sp>
        <p:nvSpPr>
          <p:cNvPr id="14" name="Text 11"/>
          <p:cNvSpPr txBox="1"/>
          <p:nvPr/>
        </p:nvSpPr>
        <p:spPr>
          <a:xfrm>
            <a:off x="4572000" y="5532120"/>
            <a:ext cx="2286000" cy="457200"/>
          </a:xfrm>
          <a:prstGeom prst="rect">
            <a:avLst/>
          </a:prstGeom>
          <a:noFill/>
          <a:ln/>
        </p:spPr>
        <p:txBody>
          <a:bodyPr wrap="square" lIns="0" tIns="0" rIns="0" bIns="0" rtlCol="0" anchor="ctr"/>
          <a:lstStyle/>
          <a:p>
            <a:pPr indent="0" marL="0">
              <a:buNone/>
            </a:pPr>
            <a:r>
              <a:rPr lang="en-US" sz="2400" b="1" dirty="0">
                <a:solidFill>
                  <a:srgbClr val="E45728"/>
                </a:solidFill>
                <a:latin typeface="Fredoka" pitchFamily="34" charset="0"/>
                <a:ea typeface="Fredoka" pitchFamily="34" charset="-122"/>
                <a:cs typeface="Fredoka" pitchFamily="34" charset="-120"/>
              </a:rPr>
              <a:t>+236 %</a:t>
            </a:r>
            <a:endParaRPr lang="en-US" sz="2400" dirty="0"/>
          </a:p>
        </p:txBody>
      </p:sp>
      <p:sp>
        <p:nvSpPr>
          <p:cNvPr id="15" name="Text 12"/>
          <p:cNvSpPr txBox="1"/>
          <p:nvPr/>
        </p:nvSpPr>
        <p:spPr>
          <a:xfrm>
            <a:off x="4572000" y="5989320"/>
            <a:ext cx="2286000" cy="457200"/>
          </a:xfrm>
          <a:prstGeom prst="rect">
            <a:avLst/>
          </a:prstGeom>
          <a:noFill/>
          <a:ln/>
        </p:spPr>
        <p:txBody>
          <a:bodyPr wrap="square" lIns="0" tIns="0" rIns="0" bIns="0" rtlCol="0" anchor="t"/>
          <a:lstStyle/>
          <a:p>
            <a:pPr indent="0" marL="0">
              <a:lnSpc>
                <a:spcPct val="105000"/>
              </a:lnSpc>
              <a:buNone/>
            </a:pPr>
            <a:r>
              <a:rPr lang="en-US" sz="900" dirty="0">
                <a:solidFill>
                  <a:srgbClr val="7A5A4A"/>
                </a:solidFill>
                <a:latin typeface="Lato" pitchFamily="34" charset="0"/>
                <a:ea typeface="Lato" pitchFamily="34" charset="-122"/>
                <a:cs typeface="Lato" pitchFamily="34" charset="-120"/>
              </a:rPr>
              <a:t>abonnés Instagram</a:t>
            </a:r>
            <a:endParaRPr lang="en-US" sz="900" dirty="0"/>
          </a:p>
          <a:p>
            <a:pPr indent="0" marL="0">
              <a:lnSpc>
                <a:spcPct val="105000"/>
              </a:lnSpc>
              <a:buNone/>
            </a:pPr>
            <a:r>
              <a:rPr lang="en-US" sz="900" dirty="0">
                <a:solidFill>
                  <a:srgbClr val="7A5A4A"/>
                </a:solidFill>
                <a:latin typeface="Lato" pitchFamily="34" charset="0"/>
                <a:ea typeface="Lato" pitchFamily="34" charset="-122"/>
                <a:cs typeface="Lato" pitchFamily="34" charset="-120"/>
              </a:rPr>
              <a:t>fév. 2025 → juil. 2026</a:t>
            </a:r>
            <a:endParaRPr lang="en-US" sz="900" dirty="0"/>
          </a:p>
        </p:txBody>
      </p:sp>
      <p:sp>
        <p:nvSpPr>
          <p:cNvPr id="16" name="Text 13"/>
          <p:cNvSpPr txBox="1"/>
          <p:nvPr/>
        </p:nvSpPr>
        <p:spPr>
          <a:xfrm>
            <a:off x="6967728" y="5532120"/>
            <a:ext cx="2286000" cy="457200"/>
          </a:xfrm>
          <a:prstGeom prst="rect">
            <a:avLst/>
          </a:prstGeom>
          <a:noFill/>
          <a:ln/>
        </p:spPr>
        <p:txBody>
          <a:bodyPr wrap="square" lIns="0" tIns="0" rIns="0" bIns="0" rtlCol="0" anchor="ctr"/>
          <a:lstStyle/>
          <a:p>
            <a:pPr indent="0" marL="0">
              <a:buNone/>
            </a:pPr>
            <a:r>
              <a:rPr lang="en-US" sz="2400" b="1" dirty="0">
                <a:solidFill>
                  <a:srgbClr val="E45728"/>
                </a:solidFill>
                <a:latin typeface="Fredoka" pitchFamily="34" charset="0"/>
                <a:ea typeface="Fredoka" pitchFamily="34" charset="-122"/>
                <a:cs typeface="Fredoka" pitchFamily="34" charset="-120"/>
              </a:rPr>
              <a:t>12,6 M</a:t>
            </a:r>
            <a:endParaRPr lang="en-US" sz="2400" dirty="0"/>
          </a:p>
        </p:txBody>
      </p:sp>
      <p:sp>
        <p:nvSpPr>
          <p:cNvPr id="17" name="Text 14"/>
          <p:cNvSpPr txBox="1"/>
          <p:nvPr/>
        </p:nvSpPr>
        <p:spPr>
          <a:xfrm>
            <a:off x="6967728" y="5989320"/>
            <a:ext cx="2286000" cy="457200"/>
          </a:xfrm>
          <a:prstGeom prst="rect">
            <a:avLst/>
          </a:prstGeom>
          <a:noFill/>
          <a:ln/>
        </p:spPr>
        <p:txBody>
          <a:bodyPr wrap="square" lIns="0" tIns="0" rIns="0" bIns="0" rtlCol="0" anchor="t"/>
          <a:lstStyle/>
          <a:p>
            <a:pPr indent="0" marL="0">
              <a:lnSpc>
                <a:spcPct val="105000"/>
              </a:lnSpc>
              <a:buNone/>
            </a:pPr>
            <a:r>
              <a:rPr lang="en-US" sz="900" dirty="0">
                <a:solidFill>
                  <a:srgbClr val="7A5A4A"/>
                </a:solidFill>
                <a:latin typeface="Lato" pitchFamily="34" charset="0"/>
                <a:ea typeface="Lato" pitchFamily="34" charset="-122"/>
                <a:cs typeface="Lato" pitchFamily="34" charset="-120"/>
              </a:rPr>
              <a:t>impressions payantes</a:t>
            </a:r>
            <a:endParaRPr lang="en-US" sz="900" dirty="0"/>
          </a:p>
          <a:p>
            <a:pPr indent="0" marL="0">
              <a:lnSpc>
                <a:spcPct val="105000"/>
              </a:lnSpc>
              <a:buNone/>
            </a:pPr>
            <a:r>
              <a:rPr lang="en-US" sz="900" dirty="0">
                <a:solidFill>
                  <a:srgbClr val="7A5A4A"/>
                </a:solidFill>
                <a:latin typeface="Lato" pitchFamily="34" charset="0"/>
                <a:ea typeface="Lato" pitchFamily="34" charset="-122"/>
                <a:cs typeface="Lato" pitchFamily="34" charset="-120"/>
              </a:rPr>
              <a:t>Meta + TikTok en 2025</a:t>
            </a:r>
            <a:endParaRPr lang="en-US" sz="900" dirty="0"/>
          </a:p>
        </p:txBody>
      </p:sp>
      <p:sp>
        <p:nvSpPr>
          <p:cNvPr id="18" name="Text 15"/>
          <p:cNvSpPr txBox="1"/>
          <p:nvPr/>
        </p:nvSpPr>
        <p:spPr>
          <a:xfrm>
            <a:off x="9363456" y="5532120"/>
            <a:ext cx="2286000" cy="457200"/>
          </a:xfrm>
          <a:prstGeom prst="rect">
            <a:avLst/>
          </a:prstGeom>
          <a:noFill/>
          <a:ln/>
        </p:spPr>
        <p:txBody>
          <a:bodyPr wrap="square" lIns="0" tIns="0" rIns="0" bIns="0" rtlCol="0" anchor="ctr"/>
          <a:lstStyle/>
          <a:p>
            <a:pPr indent="0" marL="0">
              <a:buNone/>
            </a:pPr>
            <a:r>
              <a:rPr lang="en-US" sz="2400" b="1" dirty="0">
                <a:solidFill>
                  <a:srgbClr val="E45728"/>
                </a:solidFill>
                <a:latin typeface="Fredoka" pitchFamily="34" charset="0"/>
                <a:ea typeface="Fredoka" pitchFamily="34" charset="-122"/>
                <a:cs typeface="Fredoka" pitchFamily="34" charset="-120"/>
              </a:rPr>
              <a:t>×2</a:t>
            </a:r>
            <a:endParaRPr lang="en-US" sz="2400" dirty="0"/>
          </a:p>
        </p:txBody>
      </p:sp>
      <p:sp>
        <p:nvSpPr>
          <p:cNvPr id="19" name="Text 16"/>
          <p:cNvSpPr txBox="1"/>
          <p:nvPr/>
        </p:nvSpPr>
        <p:spPr>
          <a:xfrm>
            <a:off x="9363456" y="5989320"/>
            <a:ext cx="2286000" cy="457200"/>
          </a:xfrm>
          <a:prstGeom prst="rect">
            <a:avLst/>
          </a:prstGeom>
          <a:noFill/>
          <a:ln/>
        </p:spPr>
        <p:txBody>
          <a:bodyPr wrap="square" lIns="0" tIns="0" rIns="0" bIns="0" rtlCol="0" anchor="t"/>
          <a:lstStyle/>
          <a:p>
            <a:pPr indent="0" marL="0">
              <a:lnSpc>
                <a:spcPct val="105000"/>
              </a:lnSpc>
              <a:buNone/>
            </a:pPr>
            <a:r>
              <a:rPr lang="en-US" sz="900" dirty="0">
                <a:solidFill>
                  <a:srgbClr val="7A5A4A"/>
                </a:solidFill>
                <a:latin typeface="Lato" pitchFamily="34" charset="0"/>
                <a:ea typeface="Lato" pitchFamily="34" charset="-122"/>
                <a:cs typeface="Lato" pitchFamily="34" charset="-120"/>
              </a:rPr>
              <a:t>sessions sur le site</a:t>
            </a:r>
            <a:endParaRPr lang="en-US" sz="900" dirty="0"/>
          </a:p>
          <a:p>
            <a:pPr indent="0" marL="0">
              <a:lnSpc>
                <a:spcPct val="105000"/>
              </a:lnSpc>
              <a:buNone/>
            </a:pPr>
            <a:r>
              <a:rPr lang="en-US" sz="900" dirty="0">
                <a:solidFill>
                  <a:srgbClr val="7A5A4A"/>
                </a:solidFill>
                <a:latin typeface="Lato" pitchFamily="34" charset="0"/>
                <a:ea typeface="Lato" pitchFamily="34" charset="-122"/>
                <a:cs typeface="Lato" pitchFamily="34" charset="-120"/>
              </a:rPr>
              <a:t>jan.-août 2026 vs 2025</a:t>
            </a:r>
            <a:endParaRPr lang="en-US" sz="900" dirty="0"/>
          </a:p>
        </p:txBody>
      </p:sp>
      <p:pic>
        <p:nvPicPr>
          <p:cNvPr id="20" name="Image 1" descr="/tmp/claude-0/-home-user-Dashboard-Antidotes/19e64f65-f236-5057-97fe-8b787e5e46cb/scratchpad/assets/ChasseursDeGraines_Logo_Quadri.png">    </p:cNvPr>
          <p:cNvPicPr>
            <a:picLocks noChangeAspect="1"/>
          </p:cNvPicPr>
          <p:nvPr/>
        </p:nvPicPr>
        <p:blipFill>
          <a:blip r:embed="rId2"/>
          <a:stretch>
            <a:fillRect/>
          </a:stretch>
        </p:blipFill>
        <p:spPr>
          <a:xfrm>
            <a:off x="10561320" y="6263640"/>
            <a:ext cx="1188720" cy="5760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EBDA"/>
        </a:solidFill>
      </p:bgPr>
    </p:bg>
    <p:spTree>
      <p:nvGrpSpPr>
        <p:cNvPr id="1" name=""/>
        <p:cNvGrpSpPr/>
        <p:nvPr/>
      </p:nvGrpSpPr>
      <p:grpSpPr>
        <a:xfrm>
          <a:off x="0" y="0"/>
          <a:ext cx="0" cy="0"/>
          <a:chOff x="0" y="0"/>
          <a:chExt cx="0" cy="0"/>
        </a:xfrm>
      </p:grpSpPr>
      <p:sp>
        <p:nvSpPr>
          <p:cNvPr id="2" name="Shape 0"/>
          <p:cNvSpPr/>
          <p:nvPr/>
        </p:nvSpPr>
        <p:spPr>
          <a:xfrm>
            <a:off x="548640" y="182880"/>
            <a:ext cx="2880360" cy="274320"/>
          </a:xfrm>
          <a:prstGeom prst="roundRect">
            <a:avLst>
              <a:gd name="adj" fmla="val 50000"/>
            </a:avLst>
          </a:prstGeom>
          <a:solidFill>
            <a:srgbClr val="E45728"/>
          </a:solidFill>
          <a:ln w="12700">
            <a:solidFill>
              <a:srgbClr val="E45728"/>
            </a:solidFill>
            <a:prstDash val="solid"/>
          </a:ln>
        </p:spPr>
      </p:sp>
      <p:sp>
        <p:nvSpPr>
          <p:cNvPr id="3" name="Text 1"/>
          <p:cNvSpPr txBox="1"/>
          <p:nvPr/>
        </p:nvSpPr>
        <p:spPr>
          <a:xfrm>
            <a:off x="548640" y="182880"/>
            <a:ext cx="288036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Fredoka" pitchFamily="34" charset="0"/>
                <a:ea typeface="Fredoka" pitchFamily="34" charset="-122"/>
                <a:cs typeface="Fredoka" pitchFamily="34" charset="-120"/>
              </a:rPr>
              <a:t>LES COMMUNAUTÉS</a:t>
            </a:r>
            <a:endParaRPr lang="en-US" sz="950" dirty="0"/>
          </a:p>
        </p:txBody>
      </p:sp>
      <p:sp>
        <p:nvSpPr>
          <p:cNvPr id="4" name="Text 2"/>
          <p:cNvSpPr txBox="1"/>
          <p:nvPr/>
        </p:nvSpPr>
        <p:spPr>
          <a:xfrm>
            <a:off x="548640" y="411480"/>
            <a:ext cx="10058400" cy="822960"/>
          </a:xfrm>
          <a:prstGeom prst="rect">
            <a:avLst/>
          </a:prstGeom>
          <a:noFill/>
          <a:ln/>
        </p:spPr>
        <p:txBody>
          <a:bodyPr wrap="square" lIns="0" tIns="0" rIns="0" bIns="0" rtlCol="0" anchor="ctr"/>
          <a:lstStyle/>
          <a:p>
            <a:pPr indent="0" marL="0">
              <a:buNone/>
            </a:pPr>
            <a:r>
              <a:rPr lang="en-US" sz="3400" b="1" dirty="0">
                <a:solidFill>
                  <a:srgbClr val="922D18"/>
                </a:solidFill>
                <a:latin typeface="Fredoka" pitchFamily="34" charset="0"/>
                <a:ea typeface="Fredoka" pitchFamily="34" charset="-122"/>
                <a:cs typeface="Fredoka" pitchFamily="34" charset="-120"/>
              </a:rPr>
              <a:t>Des communautés qui grandissent, sauf X</a:t>
            </a:r>
            <a:endParaRPr lang="en-US" sz="3400" dirty="0"/>
          </a:p>
        </p:txBody>
      </p:sp>
      <p:sp>
        <p:nvSpPr>
          <p:cNvPr id="5" name="Shape 3"/>
          <p:cNvSpPr/>
          <p:nvPr/>
        </p:nvSpPr>
        <p:spPr>
          <a:xfrm>
            <a:off x="548640" y="1371600"/>
            <a:ext cx="7223760" cy="4892040"/>
          </a:xfrm>
          <a:prstGeom prst="roundRect">
            <a:avLst>
              <a:gd name="adj" fmla="val 3364"/>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6" name="Text 4"/>
          <p:cNvSpPr txBox="1"/>
          <p:nvPr/>
        </p:nvSpPr>
        <p:spPr>
          <a:xfrm>
            <a:off x="822960" y="1508760"/>
            <a:ext cx="6400800" cy="320040"/>
          </a:xfrm>
          <a:prstGeom prst="rect">
            <a:avLst/>
          </a:prstGeom>
          <a:noFill/>
          <a:ln/>
        </p:spPr>
        <p:txBody>
          <a:bodyPr wrap="square" lIns="0" tIns="0" rIns="0" bIns="0" rtlCol="0" anchor="t"/>
          <a:lstStyle/>
          <a:p>
            <a:pPr indent="0" marL="0">
              <a:buNone/>
            </a:pPr>
            <a:r>
              <a:rPr lang="en-US" sz="1200" b="1" dirty="0">
                <a:solidFill>
                  <a:srgbClr val="922D18"/>
                </a:solidFill>
                <a:latin typeface="Lato" pitchFamily="34" charset="0"/>
                <a:ea typeface="Lato" pitchFamily="34" charset="-122"/>
                <a:cs typeface="Lato" pitchFamily="34" charset="-120"/>
              </a:rPr>
              <a:t>Abonnés en fin de mois · Instagram et TikTok</a:t>
            </a:r>
            <a:endParaRPr lang="en-US" sz="1200" dirty="0"/>
          </a:p>
        </p:txBody>
      </p:sp>
      <p:graphicFrame>
        <p:nvGraphicFramePr>
          <p:cNvPr id="7" name="Chart 0" descr=""/>
          <p:cNvGraphicFramePr/>
          <p:nvPr/>
        </p:nvGraphicFramePr>
        <p:xfrm>
          <a:off x="685800" y="1828800"/>
          <a:ext cx="6949440" cy="429768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001000" y="1371600"/>
            <a:ext cx="3657600" cy="1152144"/>
          </a:xfrm>
          <a:prstGeom prst="roundRect">
            <a:avLst>
              <a:gd name="adj" fmla="val 14286"/>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9" name="Text 6"/>
          <p:cNvSpPr txBox="1"/>
          <p:nvPr/>
        </p:nvSpPr>
        <p:spPr>
          <a:xfrm>
            <a:off x="8229600" y="1481328"/>
            <a:ext cx="3200400" cy="365760"/>
          </a:xfrm>
          <a:prstGeom prst="rect">
            <a:avLst/>
          </a:prstGeom>
          <a:noFill/>
          <a:ln/>
        </p:spPr>
        <p:txBody>
          <a:bodyPr wrap="square" lIns="0" tIns="0" rIns="0" bIns="0" rtlCol="0" anchor="ctr"/>
          <a:lstStyle/>
          <a:p>
            <a:pPr indent="0" marL="0">
              <a:buNone/>
            </a:pPr>
            <a:r>
              <a:rPr lang="en-US" sz="2200" b="1" dirty="0">
                <a:solidFill>
                  <a:srgbClr val="E45728"/>
                </a:solidFill>
                <a:latin typeface="Fredoka" pitchFamily="34" charset="0"/>
                <a:ea typeface="Fredoka" pitchFamily="34" charset="-122"/>
                <a:cs typeface="Fredoka" pitchFamily="34" charset="-120"/>
              </a:rPr>
              <a:t>+236 %</a:t>
            </a:r>
            <a:endParaRPr lang="en-US" sz="2200" dirty="0"/>
          </a:p>
        </p:txBody>
      </p:sp>
      <p:sp>
        <p:nvSpPr>
          <p:cNvPr id="10" name="Text 7"/>
          <p:cNvSpPr txBox="1"/>
          <p:nvPr/>
        </p:nvSpPr>
        <p:spPr>
          <a:xfrm>
            <a:off x="8229600" y="1847088"/>
            <a:ext cx="3200400" cy="274320"/>
          </a:xfrm>
          <a:prstGeom prst="rect">
            <a:avLst/>
          </a:prstGeom>
          <a:noFill/>
          <a:ln/>
        </p:spPr>
        <p:txBody>
          <a:bodyPr wrap="square" lIns="0" tIns="0" rIns="0" bIns="0" rtlCol="0" anchor="ctr"/>
          <a:lstStyle/>
          <a:p>
            <a:pPr indent="0" marL="0">
              <a:buNone/>
            </a:pPr>
            <a:r>
              <a:rPr lang="en-US" sz="1100" b="1" dirty="0">
                <a:solidFill>
                  <a:srgbClr val="922D18"/>
                </a:solidFill>
                <a:latin typeface="Lato" pitchFamily="34" charset="0"/>
                <a:ea typeface="Lato" pitchFamily="34" charset="-122"/>
                <a:cs typeface="Lato" pitchFamily="34" charset="-120"/>
              </a:rPr>
              <a:t>Instagram</a:t>
            </a:r>
            <a:endParaRPr lang="en-US" sz="1100" dirty="0"/>
          </a:p>
        </p:txBody>
      </p:sp>
      <p:sp>
        <p:nvSpPr>
          <p:cNvPr id="11" name="Text 8"/>
          <p:cNvSpPr txBox="1"/>
          <p:nvPr/>
        </p:nvSpPr>
        <p:spPr>
          <a:xfrm>
            <a:off x="8229600" y="2139696"/>
            <a:ext cx="3200400" cy="329184"/>
          </a:xfrm>
          <a:prstGeom prst="rect">
            <a:avLst/>
          </a:prstGeom>
          <a:noFill/>
          <a:ln/>
        </p:spPr>
        <p:txBody>
          <a:bodyPr wrap="square" lIns="0" tIns="0" rIns="0" bIns="0" rtlCol="0" anchor="t"/>
          <a:lstStyle/>
          <a:p>
            <a:pPr indent="0" marL="0">
              <a:lnSpc>
                <a:spcPct val="105000"/>
              </a:lnSpc>
              <a:buNone/>
            </a:pPr>
            <a:r>
              <a:rPr lang="en-US" sz="930" dirty="0">
                <a:solidFill>
                  <a:srgbClr val="7A5A4A"/>
                </a:solidFill>
                <a:latin typeface="Lato" pitchFamily="34" charset="0"/>
                <a:ea typeface="Lato" pitchFamily="34" charset="-122"/>
                <a:cs typeface="Lato" pitchFamily="34" charset="-120"/>
              </a:rPr>
              <a:t>1 042 → 3 496 abonnés. Reprise nette depuis mars 2026 (+200 / mois).</a:t>
            </a:r>
            <a:endParaRPr lang="en-US" sz="930" dirty="0"/>
          </a:p>
        </p:txBody>
      </p:sp>
      <p:sp>
        <p:nvSpPr>
          <p:cNvPr id="12" name="Shape 9"/>
          <p:cNvSpPr/>
          <p:nvPr/>
        </p:nvSpPr>
        <p:spPr>
          <a:xfrm>
            <a:off x="8001000" y="2615184"/>
            <a:ext cx="3657600" cy="1152144"/>
          </a:xfrm>
          <a:prstGeom prst="roundRect">
            <a:avLst>
              <a:gd name="adj" fmla="val 14286"/>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13" name="Text 10"/>
          <p:cNvSpPr txBox="1"/>
          <p:nvPr/>
        </p:nvSpPr>
        <p:spPr>
          <a:xfrm>
            <a:off x="8229600" y="2724912"/>
            <a:ext cx="3200400" cy="365760"/>
          </a:xfrm>
          <a:prstGeom prst="rect">
            <a:avLst/>
          </a:prstGeom>
          <a:noFill/>
          <a:ln/>
        </p:spPr>
        <p:txBody>
          <a:bodyPr wrap="square" lIns="0" tIns="0" rIns="0" bIns="0" rtlCol="0" anchor="ctr"/>
          <a:lstStyle/>
          <a:p>
            <a:pPr indent="0" marL="0">
              <a:buNone/>
            </a:pPr>
            <a:r>
              <a:rPr lang="en-US" sz="2200" b="1" dirty="0">
                <a:solidFill>
                  <a:srgbClr val="E45728"/>
                </a:solidFill>
                <a:latin typeface="Fredoka" pitchFamily="34" charset="0"/>
                <a:ea typeface="Fredoka" pitchFamily="34" charset="-122"/>
                <a:cs typeface="Fredoka" pitchFamily="34" charset="-120"/>
              </a:rPr>
              <a:t>813</a:t>
            </a:r>
            <a:endParaRPr lang="en-US" sz="2200" dirty="0"/>
          </a:p>
        </p:txBody>
      </p:sp>
      <p:sp>
        <p:nvSpPr>
          <p:cNvPr id="14" name="Text 11"/>
          <p:cNvSpPr txBox="1"/>
          <p:nvPr/>
        </p:nvSpPr>
        <p:spPr>
          <a:xfrm>
            <a:off x="8229600" y="3090672"/>
            <a:ext cx="3200400" cy="274320"/>
          </a:xfrm>
          <a:prstGeom prst="rect">
            <a:avLst/>
          </a:prstGeom>
          <a:noFill/>
          <a:ln/>
        </p:spPr>
        <p:txBody>
          <a:bodyPr wrap="square" lIns="0" tIns="0" rIns="0" bIns="0" rtlCol="0" anchor="ctr"/>
          <a:lstStyle/>
          <a:p>
            <a:pPr indent="0" marL="0">
              <a:buNone/>
            </a:pPr>
            <a:r>
              <a:rPr lang="en-US" sz="1100" b="1" dirty="0">
                <a:solidFill>
                  <a:srgbClr val="922D18"/>
                </a:solidFill>
                <a:latin typeface="Lato" pitchFamily="34" charset="0"/>
                <a:ea typeface="Lato" pitchFamily="34" charset="-122"/>
                <a:cs typeface="Lato" pitchFamily="34" charset="-120"/>
              </a:rPr>
              <a:t>TikTok</a:t>
            </a:r>
            <a:endParaRPr lang="en-US" sz="1100" dirty="0"/>
          </a:p>
        </p:txBody>
      </p:sp>
      <p:sp>
        <p:nvSpPr>
          <p:cNvPr id="15" name="Text 12"/>
          <p:cNvSpPr txBox="1"/>
          <p:nvPr/>
        </p:nvSpPr>
        <p:spPr>
          <a:xfrm>
            <a:off x="8229600" y="3383280"/>
            <a:ext cx="3200400" cy="329184"/>
          </a:xfrm>
          <a:prstGeom prst="rect">
            <a:avLst/>
          </a:prstGeom>
          <a:noFill/>
          <a:ln/>
        </p:spPr>
        <p:txBody>
          <a:bodyPr wrap="square" lIns="0" tIns="0" rIns="0" bIns="0" rtlCol="0" anchor="t"/>
          <a:lstStyle/>
          <a:p>
            <a:pPr indent="0" marL="0">
              <a:lnSpc>
                <a:spcPct val="105000"/>
              </a:lnSpc>
              <a:buNone/>
            </a:pPr>
            <a:r>
              <a:rPr lang="en-US" sz="930" dirty="0">
                <a:solidFill>
                  <a:srgbClr val="7A5A4A"/>
                </a:solidFill>
                <a:latin typeface="Lato" pitchFamily="34" charset="0"/>
                <a:ea typeface="Lato" pitchFamily="34" charset="-122"/>
                <a:cs typeface="Lato" pitchFamily="34" charset="-120"/>
              </a:rPr>
              <a:t>Compte ouvert en mars 2025. Deux paliers : campagnes 2025 puis reprise avril 2026.</a:t>
            </a:r>
            <a:endParaRPr lang="en-US" sz="930" dirty="0"/>
          </a:p>
        </p:txBody>
      </p:sp>
      <p:sp>
        <p:nvSpPr>
          <p:cNvPr id="16" name="Shape 13"/>
          <p:cNvSpPr/>
          <p:nvPr/>
        </p:nvSpPr>
        <p:spPr>
          <a:xfrm>
            <a:off x="8001000" y="3858768"/>
            <a:ext cx="3657600" cy="1152144"/>
          </a:xfrm>
          <a:prstGeom prst="roundRect">
            <a:avLst>
              <a:gd name="adj" fmla="val 14286"/>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17" name="Text 14"/>
          <p:cNvSpPr txBox="1"/>
          <p:nvPr/>
        </p:nvSpPr>
        <p:spPr>
          <a:xfrm>
            <a:off x="8229600" y="3968496"/>
            <a:ext cx="3200400" cy="365760"/>
          </a:xfrm>
          <a:prstGeom prst="rect">
            <a:avLst/>
          </a:prstGeom>
          <a:noFill/>
          <a:ln/>
        </p:spPr>
        <p:txBody>
          <a:bodyPr wrap="square" lIns="0" tIns="0" rIns="0" bIns="0" rtlCol="0" anchor="ctr"/>
          <a:lstStyle/>
          <a:p>
            <a:pPr indent="0" marL="0">
              <a:buNone/>
            </a:pPr>
            <a:r>
              <a:rPr lang="en-US" sz="2200" b="1" dirty="0">
                <a:solidFill>
                  <a:srgbClr val="E45728"/>
                </a:solidFill>
                <a:latin typeface="Fredoka" pitchFamily="34" charset="0"/>
                <a:ea typeface="Fredoka" pitchFamily="34" charset="-122"/>
                <a:cs typeface="Fredoka" pitchFamily="34" charset="-120"/>
              </a:rPr>
              <a:t>+27 %</a:t>
            </a:r>
            <a:endParaRPr lang="en-US" sz="2200" dirty="0"/>
          </a:p>
        </p:txBody>
      </p:sp>
      <p:sp>
        <p:nvSpPr>
          <p:cNvPr id="18" name="Text 15"/>
          <p:cNvSpPr txBox="1"/>
          <p:nvPr/>
        </p:nvSpPr>
        <p:spPr>
          <a:xfrm>
            <a:off x="8229600" y="4334256"/>
            <a:ext cx="3200400" cy="274320"/>
          </a:xfrm>
          <a:prstGeom prst="rect">
            <a:avLst/>
          </a:prstGeom>
          <a:noFill/>
          <a:ln/>
        </p:spPr>
        <p:txBody>
          <a:bodyPr wrap="square" lIns="0" tIns="0" rIns="0" bIns="0" rtlCol="0" anchor="ctr"/>
          <a:lstStyle/>
          <a:p>
            <a:pPr indent="0" marL="0">
              <a:buNone/>
            </a:pPr>
            <a:r>
              <a:rPr lang="en-US" sz="1100" b="1" dirty="0">
                <a:solidFill>
                  <a:srgbClr val="922D18"/>
                </a:solidFill>
                <a:latin typeface="Lato" pitchFamily="34" charset="0"/>
                <a:ea typeface="Lato" pitchFamily="34" charset="-122"/>
                <a:cs typeface="Lato" pitchFamily="34" charset="-120"/>
              </a:rPr>
              <a:t>LinkedIn ANMF</a:t>
            </a:r>
            <a:endParaRPr lang="en-US" sz="1100" dirty="0"/>
          </a:p>
        </p:txBody>
      </p:sp>
      <p:sp>
        <p:nvSpPr>
          <p:cNvPr id="19" name="Text 16"/>
          <p:cNvSpPr txBox="1"/>
          <p:nvPr/>
        </p:nvSpPr>
        <p:spPr>
          <a:xfrm>
            <a:off x="8229600" y="4626864"/>
            <a:ext cx="3200400" cy="329184"/>
          </a:xfrm>
          <a:prstGeom prst="rect">
            <a:avLst/>
          </a:prstGeom>
          <a:noFill/>
          <a:ln/>
        </p:spPr>
        <p:txBody>
          <a:bodyPr wrap="square" lIns="0" tIns="0" rIns="0" bIns="0" rtlCol="0" anchor="t"/>
          <a:lstStyle/>
          <a:p>
            <a:pPr indent="0" marL="0">
              <a:lnSpc>
                <a:spcPct val="105000"/>
              </a:lnSpc>
              <a:buNone/>
            </a:pPr>
            <a:r>
              <a:rPr lang="en-US" sz="930" dirty="0">
                <a:solidFill>
                  <a:srgbClr val="7A5A4A"/>
                </a:solidFill>
                <a:latin typeface="Lato" pitchFamily="34" charset="0"/>
                <a:ea typeface="Lato" pitchFamily="34" charset="-122"/>
                <a:cs typeface="Lato" pitchFamily="34" charset="-120"/>
              </a:rPr>
              <a:t>5 229 → 6 632. Croissance régulière, audience pro et prescripteurs.</a:t>
            </a:r>
            <a:endParaRPr lang="en-US" sz="930" dirty="0"/>
          </a:p>
        </p:txBody>
      </p:sp>
      <p:sp>
        <p:nvSpPr>
          <p:cNvPr id="20" name="Shape 17"/>
          <p:cNvSpPr/>
          <p:nvPr/>
        </p:nvSpPr>
        <p:spPr>
          <a:xfrm>
            <a:off x="8001000" y="5102352"/>
            <a:ext cx="3657600" cy="1152144"/>
          </a:xfrm>
          <a:prstGeom prst="roundRect">
            <a:avLst>
              <a:gd name="adj" fmla="val 14286"/>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21" name="Text 18"/>
          <p:cNvSpPr txBox="1"/>
          <p:nvPr/>
        </p:nvSpPr>
        <p:spPr>
          <a:xfrm>
            <a:off x="8229600" y="5212080"/>
            <a:ext cx="3200400" cy="365760"/>
          </a:xfrm>
          <a:prstGeom prst="rect">
            <a:avLst/>
          </a:prstGeom>
          <a:noFill/>
          <a:ln/>
        </p:spPr>
        <p:txBody>
          <a:bodyPr wrap="square" lIns="0" tIns="0" rIns="0" bIns="0" rtlCol="0" anchor="ctr"/>
          <a:lstStyle/>
          <a:p>
            <a:pPr indent="0" marL="0">
              <a:buNone/>
            </a:pPr>
            <a:r>
              <a:rPr lang="en-US" sz="2200" b="1" dirty="0">
                <a:solidFill>
                  <a:srgbClr val="7A5A4A"/>
                </a:solidFill>
                <a:latin typeface="Fredoka" pitchFamily="34" charset="0"/>
                <a:ea typeface="Fredoka" pitchFamily="34" charset="-122"/>
                <a:cs typeface="Fredoka" pitchFamily="34" charset="-120"/>
              </a:rPr>
              <a:t>1 423</a:t>
            </a:r>
            <a:endParaRPr lang="en-US" sz="2200" dirty="0"/>
          </a:p>
        </p:txBody>
      </p:sp>
      <p:sp>
        <p:nvSpPr>
          <p:cNvPr id="22" name="Text 19"/>
          <p:cNvSpPr txBox="1"/>
          <p:nvPr/>
        </p:nvSpPr>
        <p:spPr>
          <a:xfrm>
            <a:off x="8229600" y="5577840"/>
            <a:ext cx="3200400" cy="274320"/>
          </a:xfrm>
          <a:prstGeom prst="rect">
            <a:avLst/>
          </a:prstGeom>
          <a:noFill/>
          <a:ln/>
        </p:spPr>
        <p:txBody>
          <a:bodyPr wrap="square" lIns="0" tIns="0" rIns="0" bIns="0" rtlCol="0" anchor="ctr"/>
          <a:lstStyle/>
          <a:p>
            <a:pPr indent="0" marL="0">
              <a:buNone/>
            </a:pPr>
            <a:r>
              <a:rPr lang="en-US" sz="1100" b="1" dirty="0">
                <a:solidFill>
                  <a:srgbClr val="922D18"/>
                </a:solidFill>
                <a:latin typeface="Lato" pitchFamily="34" charset="0"/>
                <a:ea typeface="Lato" pitchFamily="34" charset="-122"/>
                <a:cs typeface="Lato" pitchFamily="34" charset="-120"/>
              </a:rPr>
              <a:t>X (Twitter)</a:t>
            </a:r>
            <a:endParaRPr lang="en-US" sz="1100" dirty="0"/>
          </a:p>
        </p:txBody>
      </p:sp>
      <p:sp>
        <p:nvSpPr>
          <p:cNvPr id="23" name="Text 20"/>
          <p:cNvSpPr txBox="1"/>
          <p:nvPr/>
        </p:nvSpPr>
        <p:spPr>
          <a:xfrm>
            <a:off x="8229600" y="5870448"/>
            <a:ext cx="3200400" cy="329184"/>
          </a:xfrm>
          <a:prstGeom prst="rect">
            <a:avLst/>
          </a:prstGeom>
          <a:noFill/>
          <a:ln/>
        </p:spPr>
        <p:txBody>
          <a:bodyPr wrap="square" lIns="0" tIns="0" rIns="0" bIns="0" rtlCol="0" anchor="t"/>
          <a:lstStyle/>
          <a:p>
            <a:pPr indent="0" marL="0">
              <a:lnSpc>
                <a:spcPct val="105000"/>
              </a:lnSpc>
              <a:buNone/>
            </a:pPr>
            <a:r>
              <a:rPr lang="en-US" sz="930" dirty="0">
                <a:solidFill>
                  <a:srgbClr val="7A5A4A"/>
                </a:solidFill>
                <a:latin typeface="Lato" pitchFamily="34" charset="0"/>
                <a:ea typeface="Lato" pitchFamily="34" charset="-122"/>
                <a:cs typeface="Lato" pitchFamily="34" charset="-120"/>
              </a:rPr>
              <a:t>1 429 en mars 2023. Aucun mouvement en 3 ans, 0 publication en 2026.</a:t>
            </a:r>
            <a:endParaRPr lang="en-US" sz="930" dirty="0"/>
          </a:p>
        </p:txBody>
      </p:sp>
      <p:sp>
        <p:nvSpPr>
          <p:cNvPr id="24" name="Text 21"/>
          <p:cNvSpPr txBox="1"/>
          <p:nvPr/>
        </p:nvSpPr>
        <p:spPr>
          <a:xfrm>
            <a:off x="548640" y="6446520"/>
            <a:ext cx="9601200" cy="274320"/>
          </a:xfrm>
          <a:prstGeom prst="rect">
            <a:avLst/>
          </a:prstGeom>
          <a:noFill/>
          <a:ln/>
        </p:spPr>
        <p:txBody>
          <a:bodyPr wrap="square" lIns="0" tIns="0" rIns="0" bIns="0" rtlCol="0" anchor="ctr"/>
          <a:lstStyle/>
          <a:p>
            <a:pPr indent="0" marL="0">
              <a:buNone/>
            </a:pPr>
            <a:r>
              <a:rPr lang="en-US" sz="850" i="1" dirty="0">
                <a:solidFill>
                  <a:srgbClr val="7A5A4A"/>
                </a:solidFill>
                <a:latin typeface="Lato" pitchFamily="34" charset="0"/>
                <a:ea typeface="Lato" pitchFamily="34" charset="-122"/>
                <a:cs typeface="Lato" pitchFamily="34" charset="-120"/>
              </a:rPr>
              <a:t>Sources : relevés d'abonnés de fin de mois (tableau ANMF I Reporting DS), fév. 2025 → juil. 2026. Facebook : 83 → 166.</a:t>
            </a:r>
            <a:endParaRPr lang="en-US" sz="850" dirty="0"/>
          </a:p>
        </p:txBody>
      </p:sp>
      <p:pic>
        <p:nvPicPr>
          <p:cNvPr id="25" name="Image 0" descr="/tmp/claude-0/-home-user-Dashboard-Antidotes/19e64f65-f236-5057-97fe-8b787e5e46cb/scratchpad/assets/ChasseursDeGraines_Logo_Quadri.png">    </p:cNvPr>
          <p:cNvPicPr>
            <a:picLocks noChangeAspect="1"/>
          </p:cNvPicPr>
          <p:nvPr/>
        </p:nvPicPr>
        <p:blipFill>
          <a:blip r:embed="rId2"/>
          <a:stretch>
            <a:fillRect/>
          </a:stretch>
        </p:blipFill>
        <p:spPr>
          <a:xfrm>
            <a:off x="10561320" y="6263640"/>
            <a:ext cx="1188720" cy="57607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6EC"/>
        </a:solidFill>
      </p:bgPr>
    </p:bg>
    <p:spTree>
      <p:nvGrpSpPr>
        <p:cNvPr id="1" name=""/>
        <p:cNvGrpSpPr/>
        <p:nvPr/>
      </p:nvGrpSpPr>
      <p:grpSpPr>
        <a:xfrm>
          <a:off x="0" y="0"/>
          <a:ext cx="0" cy="0"/>
          <a:chOff x="0" y="0"/>
          <a:chExt cx="0" cy="0"/>
        </a:xfrm>
      </p:grpSpPr>
      <p:sp>
        <p:nvSpPr>
          <p:cNvPr id="2" name="Shape 0"/>
          <p:cNvSpPr/>
          <p:nvPr/>
        </p:nvSpPr>
        <p:spPr>
          <a:xfrm>
            <a:off x="548640" y="182880"/>
            <a:ext cx="2926080" cy="274320"/>
          </a:xfrm>
          <a:prstGeom prst="roundRect">
            <a:avLst>
              <a:gd name="adj" fmla="val 50000"/>
            </a:avLst>
          </a:prstGeom>
          <a:solidFill>
            <a:srgbClr val="E45728"/>
          </a:solidFill>
          <a:ln w="12700">
            <a:solidFill>
              <a:srgbClr val="E45728"/>
            </a:solidFill>
            <a:prstDash val="solid"/>
          </a:ln>
        </p:spPr>
      </p:sp>
      <p:sp>
        <p:nvSpPr>
          <p:cNvPr id="3" name="Text 1"/>
          <p:cNvSpPr txBox="1"/>
          <p:nvPr/>
        </p:nvSpPr>
        <p:spPr>
          <a:xfrm>
            <a:off x="548640" y="182880"/>
            <a:ext cx="292608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Fredoka" pitchFamily="34" charset="0"/>
                <a:ea typeface="Fredoka" pitchFamily="34" charset="-122"/>
                <a:cs typeface="Fredoka" pitchFamily="34" charset="-120"/>
              </a:rPr>
              <a:t>LA MÉDIATISATION</a:t>
            </a:r>
            <a:endParaRPr lang="en-US" sz="950" dirty="0"/>
          </a:p>
        </p:txBody>
      </p:sp>
      <p:sp>
        <p:nvSpPr>
          <p:cNvPr id="4" name="Text 2"/>
          <p:cNvSpPr txBox="1"/>
          <p:nvPr/>
        </p:nvSpPr>
        <p:spPr>
          <a:xfrm>
            <a:off x="548640" y="411480"/>
            <a:ext cx="8229600" cy="822960"/>
          </a:xfrm>
          <a:prstGeom prst="rect">
            <a:avLst/>
          </a:prstGeom>
          <a:noFill/>
          <a:ln/>
        </p:spPr>
        <p:txBody>
          <a:bodyPr wrap="square" lIns="0" tIns="0" rIns="0" bIns="0" rtlCol="0" anchor="ctr"/>
          <a:lstStyle/>
          <a:p>
            <a:pPr indent="0" marL="0">
              <a:buNone/>
            </a:pPr>
            <a:r>
              <a:rPr lang="en-US" sz="3400" b="1" dirty="0">
                <a:solidFill>
                  <a:srgbClr val="922D18"/>
                </a:solidFill>
                <a:latin typeface="Fredoka" pitchFamily="34" charset="0"/>
                <a:ea typeface="Fredoka" pitchFamily="34" charset="-122"/>
                <a:cs typeface="Fredoka" pitchFamily="34" charset="-120"/>
              </a:rPr>
              <a:t>Plus de résultats pour moins de budget</a:t>
            </a:r>
            <a:endParaRPr lang="en-US" sz="3400" dirty="0"/>
          </a:p>
        </p:txBody>
      </p:sp>
      <p:sp>
        <p:nvSpPr>
          <p:cNvPr id="5" name="Shape 3"/>
          <p:cNvSpPr/>
          <p:nvPr/>
        </p:nvSpPr>
        <p:spPr>
          <a:xfrm>
            <a:off x="548640" y="1371600"/>
            <a:ext cx="5897880" cy="2743200"/>
          </a:xfrm>
          <a:prstGeom prst="roundRect">
            <a:avLst>
              <a:gd name="adj" fmla="val 6000"/>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6" name="Text 4"/>
          <p:cNvSpPr txBox="1"/>
          <p:nvPr/>
        </p:nvSpPr>
        <p:spPr>
          <a:xfrm>
            <a:off x="777240" y="1481328"/>
            <a:ext cx="5486400" cy="320040"/>
          </a:xfrm>
          <a:prstGeom prst="rect">
            <a:avLst/>
          </a:prstGeom>
          <a:noFill/>
          <a:ln/>
        </p:spPr>
        <p:txBody>
          <a:bodyPr wrap="square" lIns="0" tIns="0" rIns="0" bIns="0" rtlCol="0" anchor="t"/>
          <a:lstStyle/>
          <a:p>
            <a:pPr indent="0" marL="0">
              <a:buNone/>
            </a:pPr>
            <a:r>
              <a:rPr lang="en-US" sz="1200" b="1" dirty="0">
                <a:solidFill>
                  <a:srgbClr val="922D18"/>
                </a:solidFill>
                <a:latin typeface="Lato" pitchFamily="34" charset="0"/>
                <a:ea typeface="Lato" pitchFamily="34" charset="-122"/>
                <a:cs typeface="Lato" pitchFamily="34" charset="-120"/>
              </a:rPr>
              <a:t>Meta Ads · campagne 2025 (mai-nov.) vs 2026 (mars-août)</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1828800"/>
          <a:ext cx="5440680" cy="914400"/>
        </p:xfrm>
        <a:graphic>
          <a:graphicData uri="http://schemas.openxmlformats.org/drawingml/2006/table">
            <a:tbl>
              <a:tblPr/>
              <a:tblGrid>
                <a:gridCol w="1737360"/>
                <a:gridCol w="1234440"/>
                <a:gridCol w="1234440"/>
                <a:gridCol w="1234440"/>
              </a:tblGrid>
              <a:tr h="265176">
                <a:tc>
                  <a:txBody>
                    <a:bodyPr/>
                    <a:lstStyle/>
                    <a:p>
                      <a:pPr algn="l" indent="0" marL="0">
                        <a:buNone/>
                      </a:pP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7A5A4A"/>
                          </a:solidFill>
                          <a:latin typeface="Lato" pitchFamily="34" charset="0"/>
                          <a:ea typeface="Lato" pitchFamily="34" charset="-122"/>
                          <a:cs typeface="Lato" pitchFamily="34" charset="-120"/>
                        </a:rPr>
                        <a:t>2025 · 7 mois</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7A5A4A"/>
                          </a:solidFill>
                          <a:latin typeface="Lato" pitchFamily="34" charset="0"/>
                          <a:ea typeface="Lato" pitchFamily="34" charset="-122"/>
                          <a:cs typeface="Lato" pitchFamily="34" charset="-120"/>
                        </a:rPr>
                        <a:t>2026 · 6 mois</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7A5A4A"/>
                          </a:solidFill>
                          <a:latin typeface="Lato" pitchFamily="34" charset="0"/>
                          <a:ea typeface="Lato" pitchFamily="34" charset="-122"/>
                          <a:cs typeface="Lato" pitchFamily="34" charset="-120"/>
                        </a:rPr>
                        <a:t>Évolution</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r>
              <a:tr h="265176">
                <a:tc>
                  <a:txBody>
                    <a:bodyPr/>
                    <a:lstStyle/>
                    <a:p>
                      <a:pPr algn="l" indent="0" marL="0">
                        <a:buNone/>
                      </a:pPr>
                      <a:r>
                        <a:rPr lang="en-US" sz="1000" b="1" dirty="0">
                          <a:solidFill>
                            <a:srgbClr val="3B1B0F"/>
                          </a:solidFill>
                          <a:latin typeface="Lato" pitchFamily="34" charset="0"/>
                          <a:ea typeface="Lato" pitchFamily="34" charset="-122"/>
                          <a:cs typeface="Lato" pitchFamily="34" charset="-120"/>
                        </a:rPr>
                        <a:t>Budget</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B1B0F"/>
                          </a:solidFill>
                          <a:latin typeface="Lato" pitchFamily="34" charset="0"/>
                          <a:ea typeface="Lato" pitchFamily="34" charset="-122"/>
                          <a:cs typeface="Lato" pitchFamily="34" charset="-120"/>
                        </a:rPr>
                        <a:t>3 275 €</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B1B0F"/>
                          </a:solidFill>
                          <a:latin typeface="Lato" pitchFamily="34" charset="0"/>
                          <a:ea typeface="Lato" pitchFamily="34" charset="-122"/>
                          <a:cs typeface="Lato" pitchFamily="34" charset="-120"/>
                        </a:rPr>
                        <a:t>2 542 €</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E45728"/>
                          </a:solidFill>
                          <a:latin typeface="Lato" pitchFamily="34" charset="0"/>
                          <a:ea typeface="Lato" pitchFamily="34" charset="-122"/>
                          <a:cs typeface="Lato" pitchFamily="34" charset="-120"/>
                        </a:rPr>
                        <a:t>−22 %</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r>
              <a:tr h="265176">
                <a:tc>
                  <a:txBody>
                    <a:bodyPr/>
                    <a:lstStyle/>
                    <a:p>
                      <a:pPr algn="l" indent="0" marL="0">
                        <a:buNone/>
                      </a:pPr>
                      <a:r>
                        <a:rPr lang="en-US" sz="1000" b="1" dirty="0">
                          <a:solidFill>
                            <a:srgbClr val="3B1B0F"/>
                          </a:solidFill>
                          <a:latin typeface="Lato" pitchFamily="34" charset="0"/>
                          <a:ea typeface="Lato" pitchFamily="34" charset="-122"/>
                          <a:cs typeface="Lato" pitchFamily="34" charset="-120"/>
                        </a:rPr>
                        <a:t>Impressions</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B1B0F"/>
                          </a:solidFill>
                          <a:latin typeface="Lato" pitchFamily="34" charset="0"/>
                          <a:ea typeface="Lato" pitchFamily="34" charset="-122"/>
                          <a:cs typeface="Lato" pitchFamily="34" charset="-120"/>
                        </a:rPr>
                        <a:t>1,02 M</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B1B0F"/>
                          </a:solidFill>
                          <a:latin typeface="Lato" pitchFamily="34" charset="0"/>
                          <a:ea typeface="Lato" pitchFamily="34" charset="-122"/>
                          <a:cs typeface="Lato" pitchFamily="34" charset="-120"/>
                        </a:rPr>
                        <a:t>1,12 M</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E45728"/>
                          </a:solidFill>
                          <a:latin typeface="Lato" pitchFamily="34" charset="0"/>
                          <a:ea typeface="Lato" pitchFamily="34" charset="-122"/>
                          <a:cs typeface="Lato" pitchFamily="34" charset="-120"/>
                        </a:rPr>
                        <a:t>+9 %</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r>
              <a:tr h="265176">
                <a:tc>
                  <a:txBody>
                    <a:bodyPr/>
                    <a:lstStyle/>
                    <a:p>
                      <a:pPr algn="l" indent="0" marL="0">
                        <a:buNone/>
                      </a:pPr>
                      <a:r>
                        <a:rPr lang="en-US" sz="1000" b="1" dirty="0">
                          <a:solidFill>
                            <a:srgbClr val="3B1B0F"/>
                          </a:solidFill>
                          <a:latin typeface="Lato" pitchFamily="34" charset="0"/>
                          <a:ea typeface="Lato" pitchFamily="34" charset="-122"/>
                          <a:cs typeface="Lato" pitchFamily="34" charset="-120"/>
                        </a:rPr>
                        <a:t>Clics</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B1B0F"/>
                          </a:solidFill>
                          <a:latin typeface="Lato" pitchFamily="34" charset="0"/>
                          <a:ea typeface="Lato" pitchFamily="34" charset="-122"/>
                          <a:cs typeface="Lato" pitchFamily="34" charset="-120"/>
                        </a:rPr>
                        <a:t>48 021</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B1B0F"/>
                          </a:solidFill>
                          <a:latin typeface="Lato" pitchFamily="34" charset="0"/>
                          <a:ea typeface="Lato" pitchFamily="34" charset="-122"/>
                          <a:cs typeface="Lato" pitchFamily="34" charset="-120"/>
                        </a:rPr>
                        <a:t>63 472</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E45728"/>
                          </a:solidFill>
                          <a:latin typeface="Lato" pitchFamily="34" charset="0"/>
                          <a:ea typeface="Lato" pitchFamily="34" charset="-122"/>
                          <a:cs typeface="Lato" pitchFamily="34" charset="-120"/>
                        </a:rPr>
                        <a:t>+32 %</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r>
              <a:tr h="265176">
                <a:tc>
                  <a:txBody>
                    <a:bodyPr/>
                    <a:lstStyle/>
                    <a:p>
                      <a:pPr algn="l" indent="0" marL="0">
                        <a:buNone/>
                      </a:pPr>
                      <a:r>
                        <a:rPr lang="en-US" sz="1000" b="1" dirty="0">
                          <a:solidFill>
                            <a:srgbClr val="3B1B0F"/>
                          </a:solidFill>
                          <a:latin typeface="Lato" pitchFamily="34" charset="0"/>
                          <a:ea typeface="Lato" pitchFamily="34" charset="-122"/>
                          <a:cs typeface="Lato" pitchFamily="34" charset="-120"/>
                        </a:rPr>
                        <a:t>CTR</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B1B0F"/>
                          </a:solidFill>
                          <a:latin typeface="Lato" pitchFamily="34" charset="0"/>
                          <a:ea typeface="Lato" pitchFamily="34" charset="-122"/>
                          <a:cs typeface="Lato" pitchFamily="34" charset="-120"/>
                        </a:rPr>
                        <a:t>4,69 %</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B1B0F"/>
                          </a:solidFill>
                          <a:latin typeface="Lato" pitchFamily="34" charset="0"/>
                          <a:ea typeface="Lato" pitchFamily="34" charset="-122"/>
                          <a:cs typeface="Lato" pitchFamily="34" charset="-120"/>
                        </a:rPr>
                        <a:t>5,69 %</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E45728"/>
                          </a:solidFill>
                          <a:latin typeface="Lato" pitchFamily="34" charset="0"/>
                          <a:ea typeface="Lato" pitchFamily="34" charset="-122"/>
                          <a:cs typeface="Lato" pitchFamily="34" charset="-120"/>
                        </a:rPr>
                        <a:t>+21 %</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r>
              <a:tr h="265176">
                <a:tc>
                  <a:txBody>
                    <a:bodyPr/>
                    <a:lstStyle/>
                    <a:p>
                      <a:pPr algn="l" indent="0" marL="0">
                        <a:buNone/>
                      </a:pPr>
                      <a:r>
                        <a:rPr lang="en-US" sz="1000" b="1" dirty="0">
                          <a:solidFill>
                            <a:srgbClr val="3B1B0F"/>
                          </a:solidFill>
                          <a:latin typeface="Lato" pitchFamily="34" charset="0"/>
                          <a:ea typeface="Lato" pitchFamily="34" charset="-122"/>
                          <a:cs typeface="Lato" pitchFamily="34" charset="-120"/>
                        </a:rPr>
                        <a:t>CPM</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B1B0F"/>
                          </a:solidFill>
                          <a:latin typeface="Lato" pitchFamily="34" charset="0"/>
                          <a:ea typeface="Lato" pitchFamily="34" charset="-122"/>
                          <a:cs typeface="Lato" pitchFamily="34" charset="-120"/>
                        </a:rPr>
                        <a:t>3,20 €</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B1B0F"/>
                          </a:solidFill>
                          <a:latin typeface="Lato" pitchFamily="34" charset="0"/>
                          <a:ea typeface="Lato" pitchFamily="34" charset="-122"/>
                          <a:cs typeface="Lato" pitchFamily="34" charset="-120"/>
                        </a:rPr>
                        <a:t>2,28 €</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E45728"/>
                          </a:solidFill>
                          <a:latin typeface="Lato" pitchFamily="34" charset="0"/>
                          <a:ea typeface="Lato" pitchFamily="34" charset="-122"/>
                          <a:cs typeface="Lato" pitchFamily="34" charset="-120"/>
                        </a:rPr>
                        <a:t>−29 %</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r>
              <a:tr h="265176">
                <a:tc>
                  <a:txBody>
                    <a:bodyPr/>
                    <a:lstStyle/>
                    <a:p>
                      <a:pPr algn="l" indent="0" marL="0">
                        <a:buNone/>
                      </a:pPr>
                      <a:r>
                        <a:rPr lang="en-US" sz="1000" b="1" dirty="0">
                          <a:solidFill>
                            <a:srgbClr val="3B1B0F"/>
                          </a:solidFill>
                          <a:latin typeface="Lato" pitchFamily="34" charset="0"/>
                          <a:ea typeface="Lato" pitchFamily="34" charset="-122"/>
                          <a:cs typeface="Lato" pitchFamily="34" charset="-120"/>
                        </a:rPr>
                        <a:t>CPC</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B1B0F"/>
                          </a:solidFill>
                          <a:latin typeface="Lato" pitchFamily="34" charset="0"/>
                          <a:ea typeface="Lato" pitchFamily="34" charset="-122"/>
                          <a:cs typeface="Lato" pitchFamily="34" charset="-120"/>
                        </a:rPr>
                        <a:t>0,07 €</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B1B0F"/>
                          </a:solidFill>
                          <a:latin typeface="Lato" pitchFamily="34" charset="0"/>
                          <a:ea typeface="Lato" pitchFamily="34" charset="-122"/>
                          <a:cs typeface="Lato" pitchFamily="34" charset="-120"/>
                        </a:rPr>
                        <a:t>0,04 €</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E45728"/>
                          </a:solidFill>
                          <a:latin typeface="Lato" pitchFamily="34" charset="0"/>
                          <a:ea typeface="Lato" pitchFamily="34" charset="-122"/>
                          <a:cs typeface="Lato" pitchFamily="34" charset="-120"/>
                        </a:rPr>
                        <a:t>−43 %</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r>
              <a:tr h="265176">
                <a:tc>
                  <a:txBody>
                    <a:bodyPr/>
                    <a:lstStyle/>
                    <a:p>
                      <a:pPr algn="l" indent="0" marL="0">
                        <a:buNone/>
                      </a:pPr>
                      <a:r>
                        <a:rPr lang="en-US" sz="1000" b="1" dirty="0">
                          <a:solidFill>
                            <a:srgbClr val="3B1B0F"/>
                          </a:solidFill>
                          <a:latin typeface="Lato" pitchFamily="34" charset="0"/>
                          <a:ea typeface="Lato" pitchFamily="34" charset="-122"/>
                          <a:cs typeface="Lato" pitchFamily="34" charset="-120"/>
                        </a:rPr>
                        <a:t>Vidéos vues à 100 %</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B1B0F"/>
                          </a:solidFill>
                          <a:latin typeface="Lato" pitchFamily="34" charset="0"/>
                          <a:ea typeface="Lato" pitchFamily="34" charset="-122"/>
                          <a:cs typeface="Lato" pitchFamily="34" charset="-120"/>
                        </a:rPr>
                        <a:t>41 384</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B1B0F"/>
                          </a:solidFill>
                          <a:latin typeface="Lato" pitchFamily="34" charset="0"/>
                          <a:ea typeface="Lato" pitchFamily="34" charset="-122"/>
                          <a:cs typeface="Lato" pitchFamily="34" charset="-120"/>
                        </a:rPr>
                        <a:t>58 751</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E45728"/>
                          </a:solidFill>
                          <a:latin typeface="Lato" pitchFamily="34" charset="0"/>
                          <a:ea typeface="Lato" pitchFamily="34" charset="-122"/>
                          <a:cs typeface="Lato" pitchFamily="34" charset="-120"/>
                        </a:rPr>
                        <a:t>+42 %</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4297680"/>
            <a:ext cx="5897880" cy="1965960"/>
          </a:xfrm>
          <a:prstGeom prst="roundRect">
            <a:avLst>
              <a:gd name="adj" fmla="val 8372"/>
            </a:avLst>
          </a:prstGeom>
          <a:solidFill>
            <a:srgbClr val="922D18"/>
          </a:solidFill>
          <a:ln w="12700">
            <a:solidFill>
              <a:srgbClr val="922D18"/>
            </a:solidFill>
            <a:prstDash val="solid"/>
          </a:ln>
          <a:effectLst>
            <a:outerShdw sx="100000" sy="100000" kx="0" ky="0" algn="bl" rotWithShape="0" blurRad="101600" dist="25400" dir="5400000">
              <a:srgbClr val="5A3A28">
                <a:alpha val="10000"/>
              </a:srgbClr>
            </a:outerShdw>
          </a:effectLst>
        </p:spPr>
      </p:sp>
      <p:sp>
        <p:nvSpPr>
          <p:cNvPr id="9" name="Text 6"/>
          <p:cNvSpPr txBox="1"/>
          <p:nvPr/>
        </p:nvSpPr>
        <p:spPr>
          <a:xfrm>
            <a:off x="777240" y="4434840"/>
            <a:ext cx="5486400" cy="320040"/>
          </a:xfrm>
          <a:prstGeom prst="rect">
            <a:avLst/>
          </a:prstGeom>
          <a:noFill/>
          <a:ln/>
        </p:spPr>
        <p:txBody>
          <a:bodyPr wrap="square" lIns="0" tIns="0" rIns="0" bIns="0" rtlCol="0" anchor="t"/>
          <a:lstStyle/>
          <a:p>
            <a:pPr indent="0" marL="0">
              <a:buNone/>
            </a:pPr>
            <a:r>
              <a:rPr lang="en-US" sz="1200" b="1" dirty="0">
                <a:solidFill>
                  <a:srgbClr val="FEBE5C"/>
                </a:solidFill>
                <a:latin typeface="Lato" pitchFamily="34" charset="0"/>
                <a:ea typeface="Lato" pitchFamily="34" charset="-122"/>
                <a:cs typeface="Lato" pitchFamily="34" charset="-120"/>
              </a:rPr>
              <a:t>TikTok Ads · la machine à volume</a:t>
            </a:r>
            <a:endParaRPr lang="en-US" sz="1200" dirty="0"/>
          </a:p>
        </p:txBody>
      </p:sp>
      <p:sp>
        <p:nvSpPr>
          <p:cNvPr id="10" name="Text 7"/>
          <p:cNvSpPr txBox="1"/>
          <p:nvPr/>
        </p:nvSpPr>
        <p:spPr>
          <a:xfrm>
            <a:off x="777240" y="4800600"/>
            <a:ext cx="1325880" cy="502920"/>
          </a:xfrm>
          <a:prstGeom prst="rect">
            <a:avLst/>
          </a:prstGeom>
          <a:noFill/>
          <a:ln/>
        </p:spPr>
        <p:txBody>
          <a:bodyPr wrap="square" lIns="0" tIns="0" rIns="0" bIns="0" rtlCol="0" anchor="ctr"/>
          <a:lstStyle/>
          <a:p>
            <a:pPr indent="0" marL="0">
              <a:buNone/>
            </a:pPr>
            <a:r>
              <a:rPr lang="en-US" sz="2400" b="1" dirty="0">
                <a:solidFill>
                  <a:srgbClr val="FFFFFF"/>
                </a:solidFill>
                <a:latin typeface="Fredoka" pitchFamily="34" charset="0"/>
                <a:ea typeface="Fredoka" pitchFamily="34" charset="-122"/>
                <a:cs typeface="Fredoka" pitchFamily="34" charset="-120"/>
              </a:rPr>
              <a:t>10,7 M</a:t>
            </a:r>
            <a:endParaRPr lang="en-US" sz="2400" dirty="0"/>
          </a:p>
        </p:txBody>
      </p:sp>
      <p:sp>
        <p:nvSpPr>
          <p:cNvPr id="11" name="Text 8"/>
          <p:cNvSpPr txBox="1"/>
          <p:nvPr/>
        </p:nvSpPr>
        <p:spPr>
          <a:xfrm>
            <a:off x="777240" y="5349240"/>
            <a:ext cx="1325880" cy="731520"/>
          </a:xfrm>
          <a:prstGeom prst="rect">
            <a:avLst/>
          </a:prstGeom>
          <a:noFill/>
          <a:ln/>
        </p:spPr>
        <p:txBody>
          <a:bodyPr wrap="square" lIns="0" tIns="0" rIns="0" bIns="0" rtlCol="0" anchor="t"/>
          <a:lstStyle/>
          <a:p>
            <a:pPr indent="0" marL="0">
              <a:lnSpc>
                <a:spcPct val="105000"/>
              </a:lnSpc>
              <a:buNone/>
            </a:pPr>
            <a:r>
              <a:rPr lang="en-US" sz="900" dirty="0">
                <a:solidFill>
                  <a:srgbClr val="F3E3D3"/>
                </a:solidFill>
                <a:latin typeface="Lato" pitchFamily="34" charset="0"/>
                <a:ea typeface="Lato" pitchFamily="34" charset="-122"/>
                <a:cs typeface="Lato" pitchFamily="34" charset="-120"/>
              </a:rPr>
              <a:t>impressions</a:t>
            </a:r>
            <a:endParaRPr lang="en-US" sz="900" dirty="0"/>
          </a:p>
          <a:p>
            <a:pPr indent="0" marL="0">
              <a:lnSpc>
                <a:spcPct val="105000"/>
              </a:lnSpc>
              <a:buNone/>
            </a:pPr>
            <a:r>
              <a:rPr lang="en-US" sz="900" dirty="0">
                <a:solidFill>
                  <a:srgbClr val="F3E3D3"/>
                </a:solidFill>
                <a:latin typeface="Lato" pitchFamily="34" charset="0"/>
                <a:ea typeface="Lato" pitchFamily="34" charset="-122"/>
                <a:cs typeface="Lato" pitchFamily="34" charset="-120"/>
              </a:rPr>
              <a:t>mai-nov. 2025</a:t>
            </a:r>
            <a:endParaRPr lang="en-US" sz="900" dirty="0"/>
          </a:p>
        </p:txBody>
      </p:sp>
      <p:sp>
        <p:nvSpPr>
          <p:cNvPr id="12" name="Text 9"/>
          <p:cNvSpPr txBox="1"/>
          <p:nvPr/>
        </p:nvSpPr>
        <p:spPr>
          <a:xfrm>
            <a:off x="2148840" y="4800600"/>
            <a:ext cx="1325880" cy="502920"/>
          </a:xfrm>
          <a:prstGeom prst="rect">
            <a:avLst/>
          </a:prstGeom>
          <a:noFill/>
          <a:ln/>
        </p:spPr>
        <p:txBody>
          <a:bodyPr wrap="square" lIns="0" tIns="0" rIns="0" bIns="0" rtlCol="0" anchor="ctr"/>
          <a:lstStyle/>
          <a:p>
            <a:pPr indent="0" marL="0">
              <a:buNone/>
            </a:pPr>
            <a:r>
              <a:rPr lang="en-US" sz="2400" b="1" dirty="0">
                <a:solidFill>
                  <a:srgbClr val="FFFFFF"/>
                </a:solidFill>
                <a:latin typeface="Fredoka" pitchFamily="34" charset="0"/>
                <a:ea typeface="Fredoka" pitchFamily="34" charset="-122"/>
                <a:cs typeface="Fredoka" pitchFamily="34" charset="-120"/>
              </a:rPr>
              <a:t>0,30 €</a:t>
            </a:r>
            <a:endParaRPr lang="en-US" sz="2400" dirty="0"/>
          </a:p>
        </p:txBody>
      </p:sp>
      <p:sp>
        <p:nvSpPr>
          <p:cNvPr id="13" name="Text 10"/>
          <p:cNvSpPr txBox="1"/>
          <p:nvPr/>
        </p:nvSpPr>
        <p:spPr>
          <a:xfrm>
            <a:off x="2148840" y="5349240"/>
            <a:ext cx="1325880" cy="731520"/>
          </a:xfrm>
          <a:prstGeom prst="rect">
            <a:avLst/>
          </a:prstGeom>
          <a:noFill/>
          <a:ln/>
        </p:spPr>
        <p:txBody>
          <a:bodyPr wrap="square" lIns="0" tIns="0" rIns="0" bIns="0" rtlCol="0" anchor="t"/>
          <a:lstStyle/>
          <a:p>
            <a:pPr indent="0" marL="0">
              <a:lnSpc>
                <a:spcPct val="105000"/>
              </a:lnSpc>
              <a:buNone/>
            </a:pPr>
            <a:r>
              <a:rPr lang="en-US" sz="900" dirty="0">
                <a:solidFill>
                  <a:srgbClr val="F3E3D3"/>
                </a:solidFill>
                <a:latin typeface="Lato" pitchFamily="34" charset="0"/>
                <a:ea typeface="Lato" pitchFamily="34" charset="-122"/>
                <a:cs typeface="Lato" pitchFamily="34" charset="-120"/>
              </a:rPr>
              <a:t>CPM 2025</a:t>
            </a:r>
            <a:endParaRPr lang="en-US" sz="900" dirty="0"/>
          </a:p>
          <a:p>
            <a:pPr indent="0" marL="0">
              <a:lnSpc>
                <a:spcPct val="105000"/>
              </a:lnSpc>
              <a:buNone/>
            </a:pPr>
            <a:r>
              <a:rPr lang="en-US" sz="900" dirty="0">
                <a:solidFill>
                  <a:srgbClr val="F3E3D3"/>
                </a:solidFill>
                <a:latin typeface="Lato" pitchFamily="34" charset="0"/>
                <a:ea typeface="Lato" pitchFamily="34" charset="-122"/>
                <a:cs typeface="Lato" pitchFamily="34" charset="-120"/>
              </a:rPr>
              <a:t>0,26 € en juin 2026</a:t>
            </a:r>
            <a:endParaRPr lang="en-US" sz="900" dirty="0"/>
          </a:p>
        </p:txBody>
      </p:sp>
      <p:sp>
        <p:nvSpPr>
          <p:cNvPr id="14" name="Text 11"/>
          <p:cNvSpPr txBox="1"/>
          <p:nvPr/>
        </p:nvSpPr>
        <p:spPr>
          <a:xfrm>
            <a:off x="3520440" y="4800600"/>
            <a:ext cx="1325880" cy="502920"/>
          </a:xfrm>
          <a:prstGeom prst="rect">
            <a:avLst/>
          </a:prstGeom>
          <a:noFill/>
          <a:ln/>
        </p:spPr>
        <p:txBody>
          <a:bodyPr wrap="square" lIns="0" tIns="0" rIns="0" bIns="0" rtlCol="0" anchor="ctr"/>
          <a:lstStyle/>
          <a:p>
            <a:pPr indent="0" marL="0">
              <a:buNone/>
            </a:pPr>
            <a:r>
              <a:rPr lang="en-US" sz="2400" b="1" dirty="0">
                <a:solidFill>
                  <a:srgbClr val="FFFFFF"/>
                </a:solidFill>
                <a:latin typeface="Fredoka" pitchFamily="34" charset="0"/>
                <a:ea typeface="Fredoka" pitchFamily="34" charset="-122"/>
                <a:cs typeface="Fredoka" pitchFamily="34" charset="-120"/>
              </a:rPr>
              <a:t>10 302</a:t>
            </a:r>
            <a:endParaRPr lang="en-US" sz="2400" dirty="0"/>
          </a:p>
        </p:txBody>
      </p:sp>
      <p:sp>
        <p:nvSpPr>
          <p:cNvPr id="15" name="Text 12"/>
          <p:cNvSpPr txBox="1"/>
          <p:nvPr/>
        </p:nvSpPr>
        <p:spPr>
          <a:xfrm>
            <a:off x="3520440" y="5349240"/>
            <a:ext cx="1325880" cy="731520"/>
          </a:xfrm>
          <a:prstGeom prst="rect">
            <a:avLst/>
          </a:prstGeom>
          <a:noFill/>
          <a:ln/>
        </p:spPr>
        <p:txBody>
          <a:bodyPr wrap="square" lIns="0" tIns="0" rIns="0" bIns="0" rtlCol="0" anchor="t"/>
          <a:lstStyle/>
          <a:p>
            <a:pPr indent="0" marL="0">
              <a:lnSpc>
                <a:spcPct val="105000"/>
              </a:lnSpc>
              <a:buNone/>
            </a:pPr>
            <a:r>
              <a:rPr lang="en-US" sz="900" dirty="0">
                <a:solidFill>
                  <a:srgbClr val="F3E3D3"/>
                </a:solidFill>
                <a:latin typeface="Lato" pitchFamily="34" charset="0"/>
                <a:ea typeface="Lato" pitchFamily="34" charset="-122"/>
                <a:cs typeface="Lato" pitchFamily="34" charset="-120"/>
              </a:rPr>
              <a:t>visites du site</a:t>
            </a:r>
            <a:endParaRPr lang="en-US" sz="900" dirty="0"/>
          </a:p>
          <a:p>
            <a:pPr indent="0" marL="0">
              <a:lnSpc>
                <a:spcPct val="105000"/>
              </a:lnSpc>
              <a:buNone/>
            </a:pPr>
            <a:r>
              <a:rPr lang="en-US" sz="900" dirty="0">
                <a:solidFill>
                  <a:srgbClr val="F3E3D3"/>
                </a:solidFill>
                <a:latin typeface="Lato" pitchFamily="34" charset="0"/>
                <a:ea typeface="Lato" pitchFamily="34" charset="-122"/>
                <a:cs typeface="Lato" pitchFamily="34" charset="-120"/>
              </a:rPr>
              <a:t>générées en 2025</a:t>
            </a:r>
            <a:endParaRPr lang="en-US" sz="900" dirty="0"/>
          </a:p>
        </p:txBody>
      </p:sp>
      <p:sp>
        <p:nvSpPr>
          <p:cNvPr id="16" name="Text 13"/>
          <p:cNvSpPr txBox="1"/>
          <p:nvPr/>
        </p:nvSpPr>
        <p:spPr>
          <a:xfrm>
            <a:off x="4892040" y="4800600"/>
            <a:ext cx="1325880" cy="502920"/>
          </a:xfrm>
          <a:prstGeom prst="rect">
            <a:avLst/>
          </a:prstGeom>
          <a:noFill/>
          <a:ln/>
        </p:spPr>
        <p:txBody>
          <a:bodyPr wrap="square" lIns="0" tIns="0" rIns="0" bIns="0" rtlCol="0" anchor="ctr"/>
          <a:lstStyle/>
          <a:p>
            <a:pPr indent="0" marL="0">
              <a:buNone/>
            </a:pPr>
            <a:r>
              <a:rPr lang="en-US" sz="2400" b="1" dirty="0">
                <a:solidFill>
                  <a:srgbClr val="FFFFFF"/>
                </a:solidFill>
                <a:latin typeface="Fredoka" pitchFamily="34" charset="0"/>
                <a:ea typeface="Fredoka" pitchFamily="34" charset="-122"/>
                <a:cs typeface="Fredoka" pitchFamily="34" charset="-120"/>
              </a:rPr>
              <a:t>36 %</a:t>
            </a:r>
            <a:endParaRPr lang="en-US" sz="2400" dirty="0"/>
          </a:p>
        </p:txBody>
      </p:sp>
      <p:sp>
        <p:nvSpPr>
          <p:cNvPr id="17" name="Text 14"/>
          <p:cNvSpPr txBox="1"/>
          <p:nvPr/>
        </p:nvSpPr>
        <p:spPr>
          <a:xfrm>
            <a:off x="4892040" y="5349240"/>
            <a:ext cx="1325880" cy="731520"/>
          </a:xfrm>
          <a:prstGeom prst="rect">
            <a:avLst/>
          </a:prstGeom>
          <a:noFill/>
          <a:ln/>
        </p:spPr>
        <p:txBody>
          <a:bodyPr wrap="square" lIns="0" tIns="0" rIns="0" bIns="0" rtlCol="0" anchor="t"/>
          <a:lstStyle/>
          <a:p>
            <a:pPr indent="0" marL="0">
              <a:lnSpc>
                <a:spcPct val="105000"/>
              </a:lnSpc>
              <a:buNone/>
            </a:pPr>
            <a:r>
              <a:rPr lang="en-US" sz="900" dirty="0">
                <a:solidFill>
                  <a:srgbClr val="F3E3D3"/>
                </a:solidFill>
                <a:latin typeface="Lato" pitchFamily="34" charset="0"/>
                <a:ea typeface="Lato" pitchFamily="34" charset="-122"/>
                <a:cs typeface="Lato" pitchFamily="34" charset="-120"/>
              </a:rPr>
              <a:t>hook rate du POV</a:t>
            </a:r>
            <a:endParaRPr lang="en-US" sz="900" dirty="0"/>
          </a:p>
          <a:p>
            <a:pPr indent="0" marL="0">
              <a:lnSpc>
                <a:spcPct val="105000"/>
              </a:lnSpc>
              <a:buNone/>
            </a:pPr>
            <a:r>
              <a:rPr lang="en-US" sz="900" dirty="0">
                <a:solidFill>
                  <a:srgbClr val="F3E3D3"/>
                </a:solidFill>
                <a:latin typeface="Lato" pitchFamily="34" charset="0"/>
                <a:ea typeface="Lato" pitchFamily="34" charset="-122"/>
                <a:cs typeface="Lato" pitchFamily="34" charset="-120"/>
              </a:rPr>
              <a:t>« tes potes en stage »</a:t>
            </a:r>
            <a:endParaRPr lang="en-US" sz="900" dirty="0"/>
          </a:p>
        </p:txBody>
      </p:sp>
      <p:sp>
        <p:nvSpPr>
          <p:cNvPr id="18" name="Shape 15"/>
          <p:cNvSpPr/>
          <p:nvPr/>
        </p:nvSpPr>
        <p:spPr>
          <a:xfrm>
            <a:off x="6675120" y="1371600"/>
            <a:ext cx="4983480" cy="4892040"/>
          </a:xfrm>
          <a:prstGeom prst="roundRect">
            <a:avLst>
              <a:gd name="adj" fmla="val 3364"/>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19" name="Text 16"/>
          <p:cNvSpPr txBox="1"/>
          <p:nvPr/>
        </p:nvSpPr>
        <p:spPr>
          <a:xfrm>
            <a:off x="6903720" y="1481328"/>
            <a:ext cx="4572000" cy="320040"/>
          </a:xfrm>
          <a:prstGeom prst="rect">
            <a:avLst/>
          </a:prstGeom>
          <a:noFill/>
          <a:ln/>
        </p:spPr>
        <p:txBody>
          <a:bodyPr wrap="square" lIns="0" tIns="0" rIns="0" bIns="0" rtlCol="0" anchor="t"/>
          <a:lstStyle/>
          <a:p>
            <a:pPr indent="0" marL="0">
              <a:buNone/>
            </a:pPr>
            <a:r>
              <a:rPr lang="en-US" sz="1200" b="1" dirty="0">
                <a:solidFill>
                  <a:srgbClr val="922D18"/>
                </a:solidFill>
                <a:latin typeface="Lato" pitchFamily="34" charset="0"/>
                <a:ea typeface="Lato" pitchFamily="34" charset="-122"/>
                <a:cs typeface="Lato" pitchFamily="34" charset="-120"/>
              </a:rPr>
              <a:t>Clics Meta par mois · 2025 vs 2026</a:t>
            </a:r>
            <a:endParaRPr lang="en-US" sz="1200" dirty="0"/>
          </a:p>
        </p:txBody>
      </p:sp>
      <p:graphicFrame>
        <p:nvGraphicFramePr>
          <p:cNvPr id="20" name="Chart 0" descr=""/>
          <p:cNvGraphicFramePr/>
          <p:nvPr/>
        </p:nvGraphicFramePr>
        <p:xfrm>
          <a:off x="6812280" y="1828800"/>
          <a:ext cx="4754880" cy="3840480"/>
        </p:xfrm>
        <a:graphic xmlns:a="http://schemas.openxmlformats.org/drawingml/2006/main">
          <a:graphicData uri="http://schemas.openxmlformats.org/drawingml/2006/chart">
            <c:chart xmlns:c="http://schemas.openxmlformats.org/drawingml/2006/chart" r:id="rId1"/>
          </a:graphicData>
        </a:graphic>
      </p:graphicFrame>
      <p:sp>
        <p:nvSpPr>
          <p:cNvPr id="21" name="Text 17"/>
          <p:cNvSpPr txBox="1"/>
          <p:nvPr/>
        </p:nvSpPr>
        <p:spPr>
          <a:xfrm>
            <a:off x="6903720" y="5715000"/>
            <a:ext cx="4572000" cy="457200"/>
          </a:xfrm>
          <a:prstGeom prst="rect">
            <a:avLst/>
          </a:prstGeom>
          <a:noFill/>
          <a:ln/>
        </p:spPr>
        <p:txBody>
          <a:bodyPr wrap="square" lIns="0" tIns="0" rIns="0" bIns="0" rtlCol="0" anchor="t"/>
          <a:lstStyle/>
          <a:p>
            <a:pPr indent="0" marL="0">
              <a:buNone/>
            </a:pPr>
            <a:r>
              <a:rPr lang="en-US" sz="1000" i="1" dirty="0">
                <a:solidFill>
                  <a:srgbClr val="3B1B0F"/>
                </a:solidFill>
                <a:latin typeface="Lato" pitchFamily="34" charset="0"/>
                <a:ea typeface="Lato" pitchFamily="34" charset="-122"/>
                <a:cs typeface="Lato" pitchFamily="34" charset="-120"/>
              </a:rPr>
              <a:t>Août 2026 : 18 186 clics à 0,03 € — le meilleur mois depuis le début de la campagne.</a:t>
            </a:r>
            <a:endParaRPr lang="en-US" sz="1000" dirty="0"/>
          </a:p>
        </p:txBody>
      </p:sp>
      <p:sp>
        <p:nvSpPr>
          <p:cNvPr id="22" name="Text 18"/>
          <p:cNvSpPr txBox="1"/>
          <p:nvPr/>
        </p:nvSpPr>
        <p:spPr>
          <a:xfrm>
            <a:off x="548640" y="6446520"/>
            <a:ext cx="9601200" cy="274320"/>
          </a:xfrm>
          <a:prstGeom prst="rect">
            <a:avLst/>
          </a:prstGeom>
          <a:noFill/>
          <a:ln/>
        </p:spPr>
        <p:txBody>
          <a:bodyPr wrap="square" lIns="0" tIns="0" rIns="0" bIns="0" rtlCol="0" anchor="ctr"/>
          <a:lstStyle/>
          <a:p>
            <a:pPr indent="0" marL="0">
              <a:buNone/>
            </a:pPr>
            <a:r>
              <a:rPr lang="en-US" sz="850" i="1" dirty="0">
                <a:solidFill>
                  <a:srgbClr val="7A5A4A"/>
                </a:solidFill>
                <a:latin typeface="Lato" pitchFamily="34" charset="0"/>
                <a:ea typeface="Lato" pitchFamily="34" charset="-122"/>
                <a:cs typeface="Lato" pitchFamily="34" charset="-120"/>
              </a:rPr>
              <a:t>Sources : API Meta Ads, compte ANMF (relevé du 04/09/2026) ; reportings Looker campagne 2025 et juin 2026 pour TikTok Ads.</a:t>
            </a:r>
            <a:endParaRPr lang="en-US" sz="850" dirty="0"/>
          </a:p>
        </p:txBody>
      </p:sp>
      <p:pic>
        <p:nvPicPr>
          <p:cNvPr id="23" name="Image 0" descr="/tmp/claude-0/-home-user-Dashboard-Antidotes/19e64f65-f236-5057-97fe-8b787e5e46cb/scratchpad/assets/ChasseursDeGraines_Logo_Quadri.png">    </p:cNvPr>
          <p:cNvPicPr>
            <a:picLocks noChangeAspect="1"/>
          </p:cNvPicPr>
          <p:nvPr/>
        </p:nvPicPr>
        <p:blipFill>
          <a:blip r:embed="rId2"/>
          <a:stretch>
            <a:fillRect/>
          </a:stretch>
        </p:blipFill>
        <p:spPr>
          <a:xfrm>
            <a:off x="10561320" y="6263640"/>
            <a:ext cx="1188720" cy="5760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EBDA"/>
        </a:solidFill>
      </p:bgPr>
    </p:bg>
    <p:spTree>
      <p:nvGrpSpPr>
        <p:cNvPr id="1" name=""/>
        <p:cNvGrpSpPr/>
        <p:nvPr/>
      </p:nvGrpSpPr>
      <p:grpSpPr>
        <a:xfrm>
          <a:off x="0" y="0"/>
          <a:ext cx="0" cy="0"/>
          <a:chOff x="0" y="0"/>
          <a:chExt cx="0" cy="0"/>
        </a:xfrm>
      </p:grpSpPr>
      <p:sp>
        <p:nvSpPr>
          <p:cNvPr id="2" name="Shape 0"/>
          <p:cNvSpPr/>
          <p:nvPr/>
        </p:nvSpPr>
        <p:spPr>
          <a:xfrm>
            <a:off x="548640" y="182880"/>
            <a:ext cx="2697480" cy="274320"/>
          </a:xfrm>
          <a:prstGeom prst="roundRect">
            <a:avLst>
              <a:gd name="adj" fmla="val 50000"/>
            </a:avLst>
          </a:prstGeom>
          <a:solidFill>
            <a:srgbClr val="E45728"/>
          </a:solidFill>
          <a:ln w="12700">
            <a:solidFill>
              <a:srgbClr val="E45728"/>
            </a:solidFill>
            <a:prstDash val="solid"/>
          </a:ln>
        </p:spPr>
      </p:sp>
      <p:sp>
        <p:nvSpPr>
          <p:cNvPr id="3" name="Text 1"/>
          <p:cNvSpPr txBox="1"/>
          <p:nvPr/>
        </p:nvSpPr>
        <p:spPr>
          <a:xfrm>
            <a:off x="548640" y="182880"/>
            <a:ext cx="269748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Fredoka" pitchFamily="34" charset="0"/>
                <a:ea typeface="Fredoka" pitchFamily="34" charset="-122"/>
                <a:cs typeface="Fredoka" pitchFamily="34" charset="-120"/>
              </a:rPr>
              <a:t>LE SITE WEB</a:t>
            </a:r>
            <a:endParaRPr lang="en-US" sz="950" dirty="0"/>
          </a:p>
        </p:txBody>
      </p:sp>
      <p:sp>
        <p:nvSpPr>
          <p:cNvPr id="4" name="Text 2"/>
          <p:cNvSpPr txBox="1"/>
          <p:nvPr/>
        </p:nvSpPr>
        <p:spPr>
          <a:xfrm>
            <a:off x="548640" y="411480"/>
            <a:ext cx="10058400" cy="822960"/>
          </a:xfrm>
          <a:prstGeom prst="rect">
            <a:avLst/>
          </a:prstGeom>
          <a:noFill/>
          <a:ln/>
        </p:spPr>
        <p:txBody>
          <a:bodyPr wrap="square" lIns="0" tIns="0" rIns="0" bIns="0" rtlCol="0" anchor="ctr"/>
          <a:lstStyle/>
          <a:p>
            <a:pPr indent="0" marL="0">
              <a:buNone/>
            </a:pPr>
            <a:r>
              <a:rPr lang="en-US" sz="3400" b="1" dirty="0">
                <a:solidFill>
                  <a:srgbClr val="922D18"/>
                </a:solidFill>
                <a:latin typeface="Fredoka" pitchFamily="34" charset="0"/>
                <a:ea typeface="Fredoka" pitchFamily="34" charset="-122"/>
                <a:cs typeface="Fredoka" pitchFamily="34" charset="-120"/>
              </a:rPr>
              <a:t>Le site : le trafic double, pas l'attention</a:t>
            </a:r>
            <a:endParaRPr lang="en-US" sz="3400" dirty="0"/>
          </a:p>
        </p:txBody>
      </p:sp>
      <p:sp>
        <p:nvSpPr>
          <p:cNvPr id="5" name="Shape 3"/>
          <p:cNvSpPr/>
          <p:nvPr/>
        </p:nvSpPr>
        <p:spPr>
          <a:xfrm>
            <a:off x="548640" y="1371600"/>
            <a:ext cx="6583680" cy="3291840"/>
          </a:xfrm>
          <a:prstGeom prst="roundRect">
            <a:avLst>
              <a:gd name="adj" fmla="val 5000"/>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6" name="Text 4"/>
          <p:cNvSpPr txBox="1"/>
          <p:nvPr/>
        </p:nvSpPr>
        <p:spPr>
          <a:xfrm>
            <a:off x="777240" y="1481328"/>
            <a:ext cx="5486400" cy="320040"/>
          </a:xfrm>
          <a:prstGeom prst="rect">
            <a:avLst/>
          </a:prstGeom>
          <a:noFill/>
          <a:ln/>
        </p:spPr>
        <p:txBody>
          <a:bodyPr wrap="square" lIns="0" tIns="0" rIns="0" bIns="0" rtlCol="0" anchor="t"/>
          <a:lstStyle/>
          <a:p>
            <a:pPr indent="0" marL="0">
              <a:buNone/>
            </a:pPr>
            <a:r>
              <a:rPr lang="en-US" sz="1200" b="1" dirty="0">
                <a:solidFill>
                  <a:srgbClr val="922D18"/>
                </a:solidFill>
                <a:latin typeface="Lato" pitchFamily="34" charset="0"/>
                <a:ea typeface="Lato" pitchFamily="34" charset="-122"/>
                <a:cs typeface="Lato" pitchFamily="34" charset="-120"/>
              </a:rPr>
              <a:t>Sessions mensuelles · 2025 vs 2026</a:t>
            </a:r>
            <a:endParaRPr lang="en-US" sz="1200" dirty="0"/>
          </a:p>
        </p:txBody>
      </p:sp>
      <p:graphicFrame>
        <p:nvGraphicFramePr>
          <p:cNvPr id="7" name="Chart 0" descr=""/>
          <p:cNvGraphicFramePr/>
          <p:nvPr/>
        </p:nvGraphicFramePr>
        <p:xfrm>
          <a:off x="640080" y="1783080"/>
          <a:ext cx="6400800" cy="28346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360920" y="1371600"/>
            <a:ext cx="4297680" cy="3291840"/>
          </a:xfrm>
          <a:prstGeom prst="roundRect">
            <a:avLst>
              <a:gd name="adj" fmla="val 5000"/>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9" name="Text 6"/>
          <p:cNvSpPr txBox="1"/>
          <p:nvPr/>
        </p:nvSpPr>
        <p:spPr>
          <a:xfrm>
            <a:off x="7589520" y="1481328"/>
            <a:ext cx="3931920" cy="320040"/>
          </a:xfrm>
          <a:prstGeom prst="rect">
            <a:avLst/>
          </a:prstGeom>
          <a:noFill/>
          <a:ln/>
        </p:spPr>
        <p:txBody>
          <a:bodyPr wrap="square" lIns="0" tIns="0" rIns="0" bIns="0" rtlCol="0" anchor="t"/>
          <a:lstStyle/>
          <a:p>
            <a:pPr indent="0" marL="0">
              <a:buNone/>
            </a:pPr>
            <a:r>
              <a:rPr lang="en-US" sz="1200" b="1" dirty="0">
                <a:solidFill>
                  <a:srgbClr val="922D18"/>
                </a:solidFill>
                <a:latin typeface="Lato" pitchFamily="34" charset="0"/>
                <a:ea typeface="Lato" pitchFamily="34" charset="-122"/>
                <a:cs typeface="Lato" pitchFamily="34" charset="-120"/>
              </a:rPr>
              <a:t>D'où vient le trafic 2026 (jan.-août)</a:t>
            </a:r>
            <a:endParaRPr lang="en-US" sz="1200" dirty="0"/>
          </a:p>
        </p:txBody>
      </p:sp>
      <p:graphicFrame>
        <p:nvGraphicFramePr>
          <p:cNvPr id="10" name="Chart 1" descr=""/>
          <p:cNvGraphicFramePr/>
          <p:nvPr/>
        </p:nvGraphicFramePr>
        <p:xfrm>
          <a:off x="7452360" y="1783080"/>
          <a:ext cx="4114800" cy="283464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548640" y="4800600"/>
            <a:ext cx="2697480" cy="1536192"/>
          </a:xfrm>
          <a:prstGeom prst="roundRect">
            <a:avLst>
              <a:gd name="adj" fmla="val 10714"/>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12" name="Text 8"/>
          <p:cNvSpPr txBox="1"/>
          <p:nvPr/>
        </p:nvSpPr>
        <p:spPr>
          <a:xfrm>
            <a:off x="777240" y="4910328"/>
            <a:ext cx="2240280" cy="365760"/>
          </a:xfrm>
          <a:prstGeom prst="rect">
            <a:avLst/>
          </a:prstGeom>
          <a:noFill/>
          <a:ln/>
        </p:spPr>
        <p:txBody>
          <a:bodyPr wrap="square" lIns="0" tIns="0" rIns="0" bIns="0" rtlCol="0" anchor="ctr"/>
          <a:lstStyle/>
          <a:p>
            <a:pPr indent="0" marL="0">
              <a:buNone/>
            </a:pPr>
            <a:r>
              <a:rPr lang="en-US" sz="2200" b="1" dirty="0">
                <a:solidFill>
                  <a:srgbClr val="E45728"/>
                </a:solidFill>
                <a:latin typeface="Fredoka" pitchFamily="34" charset="0"/>
                <a:ea typeface="Fredoka" pitchFamily="34" charset="-122"/>
                <a:cs typeface="Fredoka" pitchFamily="34" charset="-120"/>
              </a:rPr>
              <a:t>8 %</a:t>
            </a:r>
            <a:endParaRPr lang="en-US" sz="2200" dirty="0"/>
          </a:p>
        </p:txBody>
      </p:sp>
      <p:sp>
        <p:nvSpPr>
          <p:cNvPr id="13" name="Text 9"/>
          <p:cNvSpPr txBox="1"/>
          <p:nvPr/>
        </p:nvSpPr>
        <p:spPr>
          <a:xfrm>
            <a:off x="777240" y="5276088"/>
            <a:ext cx="2240280" cy="274320"/>
          </a:xfrm>
          <a:prstGeom prst="rect">
            <a:avLst/>
          </a:prstGeom>
          <a:noFill/>
          <a:ln/>
        </p:spPr>
        <p:txBody>
          <a:bodyPr wrap="square" lIns="0" tIns="0" rIns="0" bIns="0" rtlCol="0" anchor="ctr"/>
          <a:lstStyle/>
          <a:p>
            <a:pPr indent="0" marL="0">
              <a:buNone/>
            </a:pPr>
            <a:r>
              <a:rPr lang="en-US" sz="1100" b="1" dirty="0">
                <a:solidFill>
                  <a:srgbClr val="922D18"/>
                </a:solidFill>
                <a:latin typeface="Lato" pitchFamily="34" charset="0"/>
                <a:ea typeface="Lato" pitchFamily="34" charset="-122"/>
                <a:cs typeface="Lato" pitchFamily="34" charset="-120"/>
              </a:rPr>
              <a:t>de sessions engagées (paid social)</a:t>
            </a:r>
            <a:endParaRPr lang="en-US" sz="1100" dirty="0"/>
          </a:p>
        </p:txBody>
      </p:sp>
      <p:sp>
        <p:nvSpPr>
          <p:cNvPr id="14" name="Text 10"/>
          <p:cNvSpPr txBox="1"/>
          <p:nvPr/>
        </p:nvSpPr>
        <p:spPr>
          <a:xfrm>
            <a:off x="777240" y="5568696"/>
            <a:ext cx="2240280" cy="713232"/>
          </a:xfrm>
          <a:prstGeom prst="rect">
            <a:avLst/>
          </a:prstGeom>
          <a:noFill/>
          <a:ln/>
        </p:spPr>
        <p:txBody>
          <a:bodyPr wrap="square" lIns="0" tIns="0" rIns="0" bIns="0" rtlCol="0" anchor="t"/>
          <a:lstStyle/>
          <a:p>
            <a:pPr indent="0" marL="0">
              <a:lnSpc>
                <a:spcPct val="105000"/>
              </a:lnSpc>
              <a:buNone/>
            </a:pPr>
            <a:r>
              <a:rPr lang="en-US" sz="930" dirty="0">
                <a:solidFill>
                  <a:srgbClr val="7A5A4A"/>
                </a:solidFill>
                <a:latin typeface="Lato" pitchFamily="34" charset="0"/>
                <a:ea typeface="Lato" pitchFamily="34" charset="-122"/>
                <a:cs typeface="Lato" pitchFamily="34" charset="-120"/>
              </a:rPr>
              <a:t>contre 66 % depuis Google. Le clic est acheté 0,04 €, puis perdu.</a:t>
            </a:r>
            <a:endParaRPr lang="en-US" sz="930" dirty="0"/>
          </a:p>
        </p:txBody>
      </p:sp>
      <p:sp>
        <p:nvSpPr>
          <p:cNvPr id="15" name="Shape 11"/>
          <p:cNvSpPr/>
          <p:nvPr/>
        </p:nvSpPr>
        <p:spPr>
          <a:xfrm>
            <a:off x="3374136" y="4800600"/>
            <a:ext cx="2697480" cy="1536192"/>
          </a:xfrm>
          <a:prstGeom prst="roundRect">
            <a:avLst>
              <a:gd name="adj" fmla="val 10714"/>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16" name="Text 12"/>
          <p:cNvSpPr txBox="1"/>
          <p:nvPr/>
        </p:nvSpPr>
        <p:spPr>
          <a:xfrm>
            <a:off x="3602736" y="4910328"/>
            <a:ext cx="2240280" cy="365760"/>
          </a:xfrm>
          <a:prstGeom prst="rect">
            <a:avLst/>
          </a:prstGeom>
          <a:noFill/>
          <a:ln/>
        </p:spPr>
        <p:txBody>
          <a:bodyPr wrap="square" lIns="0" tIns="0" rIns="0" bIns="0" rtlCol="0" anchor="ctr"/>
          <a:lstStyle/>
          <a:p>
            <a:pPr indent="0" marL="0">
              <a:buNone/>
            </a:pPr>
            <a:r>
              <a:rPr lang="en-US" sz="2200" b="1" dirty="0">
                <a:solidFill>
                  <a:srgbClr val="E45728"/>
                </a:solidFill>
                <a:latin typeface="Fredoka" pitchFamily="34" charset="0"/>
                <a:ea typeface="Fredoka" pitchFamily="34" charset="-122"/>
                <a:cs typeface="Fredoka" pitchFamily="34" charset="-120"/>
              </a:rPr>
              <a:t>30 s</a:t>
            </a:r>
            <a:endParaRPr lang="en-US" sz="2200" dirty="0"/>
          </a:p>
        </p:txBody>
      </p:sp>
      <p:sp>
        <p:nvSpPr>
          <p:cNvPr id="17" name="Text 13"/>
          <p:cNvSpPr txBox="1"/>
          <p:nvPr/>
        </p:nvSpPr>
        <p:spPr>
          <a:xfrm>
            <a:off x="3602736" y="5276088"/>
            <a:ext cx="2240280" cy="274320"/>
          </a:xfrm>
          <a:prstGeom prst="rect">
            <a:avLst/>
          </a:prstGeom>
          <a:noFill/>
          <a:ln/>
        </p:spPr>
        <p:txBody>
          <a:bodyPr wrap="square" lIns="0" tIns="0" rIns="0" bIns="0" rtlCol="0" anchor="ctr"/>
          <a:lstStyle/>
          <a:p>
            <a:pPr indent="0" marL="0">
              <a:buNone/>
            </a:pPr>
            <a:r>
              <a:rPr lang="en-US" sz="1100" b="1" dirty="0">
                <a:solidFill>
                  <a:srgbClr val="922D18"/>
                </a:solidFill>
                <a:latin typeface="Lato" pitchFamily="34" charset="0"/>
                <a:ea typeface="Lato" pitchFamily="34" charset="-122"/>
                <a:cs typeface="Lato" pitchFamily="34" charset="-120"/>
              </a:rPr>
              <a:t>de visite moyenne en campagne</a:t>
            </a:r>
            <a:endParaRPr lang="en-US" sz="1100" dirty="0"/>
          </a:p>
        </p:txBody>
      </p:sp>
      <p:sp>
        <p:nvSpPr>
          <p:cNvPr id="18" name="Text 14"/>
          <p:cNvSpPr txBox="1"/>
          <p:nvPr/>
        </p:nvSpPr>
        <p:spPr>
          <a:xfrm>
            <a:off x="3602736" y="5568696"/>
            <a:ext cx="2240280" cy="713232"/>
          </a:xfrm>
          <a:prstGeom prst="rect">
            <a:avLst/>
          </a:prstGeom>
          <a:noFill/>
          <a:ln/>
        </p:spPr>
        <p:txBody>
          <a:bodyPr wrap="square" lIns="0" tIns="0" rIns="0" bIns="0" rtlCol="0" anchor="t"/>
          <a:lstStyle/>
          <a:p>
            <a:pPr indent="0" marL="0">
              <a:lnSpc>
                <a:spcPct val="105000"/>
              </a:lnSpc>
              <a:buNone/>
            </a:pPr>
            <a:r>
              <a:rPr lang="en-US" sz="930" dirty="0">
                <a:solidFill>
                  <a:srgbClr val="7A5A4A"/>
                </a:solidFill>
                <a:latin typeface="Lato" pitchFamily="34" charset="0"/>
                <a:ea typeface="Lato" pitchFamily="34" charset="-122"/>
                <a:cs typeface="Lato" pitchFamily="34" charset="-120"/>
              </a:rPr>
              <a:t>97 s hors campagne. La home : 61 000 sessions, 18 % d'engagement.</a:t>
            </a:r>
            <a:endParaRPr lang="en-US" sz="930" dirty="0"/>
          </a:p>
        </p:txBody>
      </p:sp>
      <p:sp>
        <p:nvSpPr>
          <p:cNvPr id="19" name="Shape 15"/>
          <p:cNvSpPr/>
          <p:nvPr/>
        </p:nvSpPr>
        <p:spPr>
          <a:xfrm>
            <a:off x="6199632" y="4800600"/>
            <a:ext cx="2697480" cy="1536192"/>
          </a:xfrm>
          <a:prstGeom prst="roundRect">
            <a:avLst>
              <a:gd name="adj" fmla="val 10714"/>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20" name="Text 16"/>
          <p:cNvSpPr txBox="1"/>
          <p:nvPr/>
        </p:nvSpPr>
        <p:spPr>
          <a:xfrm>
            <a:off x="6428232" y="4910328"/>
            <a:ext cx="2240280" cy="365760"/>
          </a:xfrm>
          <a:prstGeom prst="rect">
            <a:avLst/>
          </a:prstGeom>
          <a:noFill/>
          <a:ln/>
        </p:spPr>
        <p:txBody>
          <a:bodyPr wrap="square" lIns="0" tIns="0" rIns="0" bIns="0" rtlCol="0" anchor="ctr"/>
          <a:lstStyle/>
          <a:p>
            <a:pPr indent="0" marL="0">
              <a:buNone/>
            </a:pPr>
            <a:r>
              <a:rPr lang="en-US" sz="2200" b="1" dirty="0">
                <a:solidFill>
                  <a:srgbClr val="E45728"/>
                </a:solidFill>
                <a:latin typeface="Fredoka" pitchFamily="34" charset="0"/>
                <a:ea typeface="Fredoka" pitchFamily="34" charset="-122"/>
                <a:cs typeface="Fredoka" pitchFamily="34" charset="-120"/>
              </a:rPr>
              <a:t>3,8 %</a:t>
            </a:r>
            <a:endParaRPr lang="en-US" sz="2200" dirty="0"/>
          </a:p>
        </p:txBody>
      </p:sp>
      <p:sp>
        <p:nvSpPr>
          <p:cNvPr id="21" name="Text 17"/>
          <p:cNvSpPr txBox="1"/>
          <p:nvPr/>
        </p:nvSpPr>
        <p:spPr>
          <a:xfrm>
            <a:off x="6428232" y="5276088"/>
            <a:ext cx="2240280" cy="274320"/>
          </a:xfrm>
          <a:prstGeom prst="rect">
            <a:avLst/>
          </a:prstGeom>
          <a:noFill/>
          <a:ln/>
        </p:spPr>
        <p:txBody>
          <a:bodyPr wrap="square" lIns="0" tIns="0" rIns="0" bIns="0" rtlCol="0" anchor="ctr"/>
          <a:lstStyle/>
          <a:p>
            <a:pPr indent="0" marL="0">
              <a:buNone/>
            </a:pPr>
            <a:r>
              <a:rPr lang="en-US" sz="1100" b="1" dirty="0">
                <a:solidFill>
                  <a:srgbClr val="922D18"/>
                </a:solidFill>
                <a:latin typeface="Lato" pitchFamily="34" charset="0"/>
                <a:ea typeface="Lato" pitchFamily="34" charset="-122"/>
                <a:cs typeface="Lato" pitchFamily="34" charset="-120"/>
              </a:rPr>
              <a:t>de trafic SEO seulement</a:t>
            </a:r>
            <a:endParaRPr lang="en-US" sz="1100" dirty="0"/>
          </a:p>
        </p:txBody>
      </p:sp>
      <p:sp>
        <p:nvSpPr>
          <p:cNvPr id="22" name="Text 18"/>
          <p:cNvSpPr txBox="1"/>
          <p:nvPr/>
        </p:nvSpPr>
        <p:spPr>
          <a:xfrm>
            <a:off x="6428232" y="5568696"/>
            <a:ext cx="2240280" cy="713232"/>
          </a:xfrm>
          <a:prstGeom prst="rect">
            <a:avLst/>
          </a:prstGeom>
          <a:noFill/>
          <a:ln/>
        </p:spPr>
        <p:txBody>
          <a:bodyPr wrap="square" lIns="0" tIns="0" rIns="0" bIns="0" rtlCol="0" anchor="t"/>
          <a:lstStyle/>
          <a:p>
            <a:pPr indent="0" marL="0">
              <a:lnSpc>
                <a:spcPct val="105000"/>
              </a:lnSpc>
              <a:buNone/>
            </a:pPr>
            <a:r>
              <a:rPr lang="en-US" sz="930" dirty="0">
                <a:solidFill>
                  <a:srgbClr val="7A5A4A"/>
                </a:solidFill>
                <a:latin typeface="Lato" pitchFamily="34" charset="0"/>
                <a:ea typeface="Lato" pitchFamily="34" charset="-122"/>
                <a:cs typeface="Lato" pitchFamily="34" charset="-120"/>
              </a:rPr>
              <a:t>Fiches métiers et guides : 400 vues chacun en 8 mois. Le site n'existe pas sur Google.</a:t>
            </a:r>
            <a:endParaRPr lang="en-US" sz="930" dirty="0"/>
          </a:p>
        </p:txBody>
      </p:sp>
      <p:sp>
        <p:nvSpPr>
          <p:cNvPr id="23" name="Shape 19"/>
          <p:cNvSpPr/>
          <p:nvPr/>
        </p:nvSpPr>
        <p:spPr>
          <a:xfrm>
            <a:off x="9025128" y="4800600"/>
            <a:ext cx="2697480" cy="1536192"/>
          </a:xfrm>
          <a:prstGeom prst="roundRect">
            <a:avLst>
              <a:gd name="adj" fmla="val 10714"/>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24" name="Text 20"/>
          <p:cNvSpPr txBox="1"/>
          <p:nvPr/>
        </p:nvSpPr>
        <p:spPr>
          <a:xfrm>
            <a:off x="9253728" y="4910328"/>
            <a:ext cx="2240280" cy="365760"/>
          </a:xfrm>
          <a:prstGeom prst="rect">
            <a:avLst/>
          </a:prstGeom>
          <a:noFill/>
          <a:ln/>
        </p:spPr>
        <p:txBody>
          <a:bodyPr wrap="square" lIns="0" tIns="0" rIns="0" bIns="0" rtlCol="0" anchor="ctr"/>
          <a:lstStyle/>
          <a:p>
            <a:pPr indent="0" marL="0">
              <a:buNone/>
            </a:pPr>
            <a:r>
              <a:rPr lang="en-US" sz="2200" b="1" dirty="0">
                <a:solidFill>
                  <a:srgbClr val="E45728"/>
                </a:solidFill>
                <a:latin typeface="Fredoka" pitchFamily="34" charset="0"/>
                <a:ea typeface="Fredoka" pitchFamily="34" charset="-122"/>
                <a:cs typeface="Fredoka" pitchFamily="34" charset="-120"/>
              </a:rPr>
              <a:t>0</a:t>
            </a:r>
            <a:endParaRPr lang="en-US" sz="2200" dirty="0"/>
          </a:p>
        </p:txBody>
      </p:sp>
      <p:sp>
        <p:nvSpPr>
          <p:cNvPr id="25" name="Text 21"/>
          <p:cNvSpPr txBox="1"/>
          <p:nvPr/>
        </p:nvSpPr>
        <p:spPr>
          <a:xfrm>
            <a:off x="9253728" y="5276088"/>
            <a:ext cx="2240280" cy="274320"/>
          </a:xfrm>
          <a:prstGeom prst="rect">
            <a:avLst/>
          </a:prstGeom>
          <a:noFill/>
          <a:ln/>
        </p:spPr>
        <p:txBody>
          <a:bodyPr wrap="square" lIns="0" tIns="0" rIns="0" bIns="0" rtlCol="0" anchor="ctr"/>
          <a:lstStyle/>
          <a:p>
            <a:pPr indent="0" marL="0">
              <a:buNone/>
            </a:pPr>
            <a:r>
              <a:rPr lang="en-US" sz="1100" b="1" dirty="0">
                <a:solidFill>
                  <a:srgbClr val="922D18"/>
                </a:solidFill>
                <a:latin typeface="Lato" pitchFamily="34" charset="0"/>
                <a:ea typeface="Lato" pitchFamily="34" charset="-122"/>
                <a:cs typeface="Lato" pitchFamily="34" charset="-120"/>
              </a:rPr>
              <a:t>objectif de conversion configuré</a:t>
            </a:r>
            <a:endParaRPr lang="en-US" sz="1100" dirty="0"/>
          </a:p>
        </p:txBody>
      </p:sp>
      <p:sp>
        <p:nvSpPr>
          <p:cNvPr id="26" name="Text 22"/>
          <p:cNvSpPr txBox="1"/>
          <p:nvPr/>
        </p:nvSpPr>
        <p:spPr>
          <a:xfrm>
            <a:off x="9253728" y="5568696"/>
            <a:ext cx="2240280" cy="713232"/>
          </a:xfrm>
          <a:prstGeom prst="rect">
            <a:avLst/>
          </a:prstGeom>
          <a:noFill/>
          <a:ln/>
        </p:spPr>
        <p:txBody>
          <a:bodyPr wrap="square" lIns="0" tIns="0" rIns="0" bIns="0" rtlCol="0" anchor="t"/>
          <a:lstStyle/>
          <a:p>
            <a:pPr indent="0" marL="0">
              <a:lnSpc>
                <a:spcPct val="105000"/>
              </a:lnSpc>
              <a:buNone/>
            </a:pPr>
            <a:r>
              <a:rPr lang="en-US" sz="930" dirty="0">
                <a:solidFill>
                  <a:srgbClr val="7A5A4A"/>
                </a:solidFill>
                <a:latin typeface="Lato" pitchFamily="34" charset="0"/>
                <a:ea typeface="Lato" pitchFamily="34" charset="-122"/>
                <a:cs typeface="Lato" pitchFamily="34" charset="-120"/>
              </a:rPr>
              <a:t>9 formulaires et 280 téléchargements en 8 mois, jamais comptés : rien ne prouve une candidature.</a:t>
            </a:r>
            <a:endParaRPr lang="en-US" sz="930" dirty="0"/>
          </a:p>
        </p:txBody>
      </p:sp>
      <p:sp>
        <p:nvSpPr>
          <p:cNvPr id="27" name="Text 23"/>
          <p:cNvSpPr txBox="1"/>
          <p:nvPr/>
        </p:nvSpPr>
        <p:spPr>
          <a:xfrm>
            <a:off x="548640" y="6446520"/>
            <a:ext cx="9601200" cy="274320"/>
          </a:xfrm>
          <a:prstGeom prst="rect">
            <a:avLst/>
          </a:prstGeom>
          <a:noFill/>
          <a:ln/>
        </p:spPr>
        <p:txBody>
          <a:bodyPr wrap="square" lIns="0" tIns="0" rIns="0" bIns="0" rtlCol="0" anchor="ctr"/>
          <a:lstStyle/>
          <a:p>
            <a:pPr indent="0" marL="0">
              <a:buNone/>
            </a:pPr>
            <a:r>
              <a:rPr lang="en-US" sz="850" i="1" dirty="0">
                <a:solidFill>
                  <a:srgbClr val="7A5A4A"/>
                </a:solidFill>
                <a:latin typeface="Lato" pitchFamily="34" charset="0"/>
                <a:ea typeface="Lato" pitchFamily="34" charset="-122"/>
                <a:cs typeface="Lato" pitchFamily="34" charset="-120"/>
              </a:rPr>
              <a:t>Source : GA4, propriété chasseursdegraines.fr, 1er janv. 2025 → 31 août 2026. Sessions engagées = &gt; 10 s, ou 2 pages, ou une conversion.</a:t>
            </a:r>
            <a:endParaRPr lang="en-US" sz="850" dirty="0"/>
          </a:p>
        </p:txBody>
      </p:sp>
      <p:pic>
        <p:nvPicPr>
          <p:cNvPr id="28" name="Image 0" descr="/tmp/claude-0/-home-user-Dashboard-Antidotes/19e64f65-f236-5057-97fe-8b787e5e46cb/scratchpad/assets/ChasseursDeGraines_Logo_Quadri.png">    </p:cNvPr>
          <p:cNvPicPr>
            <a:picLocks noChangeAspect="1"/>
          </p:cNvPicPr>
          <p:nvPr/>
        </p:nvPicPr>
        <p:blipFill>
          <a:blip r:embed="rId3"/>
          <a:stretch>
            <a:fillRect/>
          </a:stretch>
        </p:blipFill>
        <p:spPr>
          <a:xfrm>
            <a:off x="10561320" y="6263640"/>
            <a:ext cx="1188720" cy="57607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922D18"/>
        </a:solidFill>
      </p:bgPr>
    </p:bg>
    <p:spTree>
      <p:nvGrpSpPr>
        <p:cNvPr id="1" name=""/>
        <p:cNvGrpSpPr/>
        <p:nvPr/>
      </p:nvGrpSpPr>
      <p:grpSpPr>
        <a:xfrm>
          <a:off x="0" y="0"/>
          <a:ext cx="0" cy="0"/>
          <a:chOff x="0" y="0"/>
          <a:chExt cx="0" cy="0"/>
        </a:xfrm>
      </p:grpSpPr>
      <p:sp>
        <p:nvSpPr>
          <p:cNvPr id="2" name="Shape 0"/>
          <p:cNvSpPr/>
          <p:nvPr/>
        </p:nvSpPr>
        <p:spPr>
          <a:xfrm>
            <a:off x="548640" y="182880"/>
            <a:ext cx="2286000" cy="274320"/>
          </a:xfrm>
          <a:prstGeom prst="roundRect">
            <a:avLst>
              <a:gd name="adj" fmla="val 50000"/>
            </a:avLst>
          </a:prstGeom>
          <a:solidFill>
            <a:srgbClr val="E45728"/>
          </a:solidFill>
          <a:ln w="12700">
            <a:solidFill>
              <a:srgbClr val="E45728"/>
            </a:solidFill>
            <a:prstDash val="solid"/>
          </a:ln>
        </p:spPr>
      </p:sp>
      <p:sp>
        <p:nvSpPr>
          <p:cNvPr id="3" name="Text 1"/>
          <p:cNvSpPr txBox="1"/>
          <p:nvPr/>
        </p:nvSpPr>
        <p:spPr>
          <a:xfrm>
            <a:off x="548640" y="182880"/>
            <a:ext cx="228600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Fredoka" pitchFamily="34" charset="0"/>
                <a:ea typeface="Fredoka" pitchFamily="34" charset="-122"/>
                <a:cs typeface="Fredoka" pitchFamily="34" charset="-120"/>
              </a:rPr>
              <a:t>RECOMMANDATIONS · 1/4</a:t>
            </a:r>
            <a:endParaRPr lang="en-US" sz="950" dirty="0"/>
          </a:p>
        </p:txBody>
      </p:sp>
      <p:sp>
        <p:nvSpPr>
          <p:cNvPr id="4" name="Text 2"/>
          <p:cNvSpPr txBox="1"/>
          <p:nvPr/>
        </p:nvSpPr>
        <p:spPr>
          <a:xfrm>
            <a:off x="548640" y="411480"/>
            <a:ext cx="7315200" cy="822960"/>
          </a:xfrm>
          <a:prstGeom prst="rect">
            <a:avLst/>
          </a:prstGeom>
          <a:noFill/>
          <a:ln/>
        </p:spPr>
        <p:txBody>
          <a:bodyPr wrap="square" lIns="0" tIns="0" rIns="0" bIns="0" rtlCol="0" anchor="ctr"/>
          <a:lstStyle/>
          <a:p>
            <a:pPr indent="0" marL="0">
              <a:buNone/>
            </a:pPr>
            <a:r>
              <a:rPr lang="en-US" sz="4000" b="1" dirty="0">
                <a:solidFill>
                  <a:srgbClr val="FFFFFF"/>
                </a:solidFill>
                <a:latin typeface="Fredoka" pitchFamily="34" charset="0"/>
                <a:ea typeface="Fredoka" pitchFamily="34" charset="-122"/>
                <a:cs typeface="Fredoka" pitchFamily="34" charset="-120"/>
              </a:rPr>
              <a:t>On arrête</a:t>
            </a:r>
            <a:endParaRPr lang="en-US" sz="4000" dirty="0"/>
          </a:p>
        </p:txBody>
      </p:sp>
      <p:sp>
        <p:nvSpPr>
          <p:cNvPr id="5" name="Text 3"/>
          <p:cNvSpPr txBox="1"/>
          <p:nvPr/>
        </p:nvSpPr>
        <p:spPr>
          <a:xfrm>
            <a:off x="548640" y="1188720"/>
            <a:ext cx="8229600" cy="365760"/>
          </a:xfrm>
          <a:prstGeom prst="rect">
            <a:avLst/>
          </a:prstGeom>
          <a:noFill/>
          <a:ln/>
        </p:spPr>
        <p:txBody>
          <a:bodyPr wrap="square" lIns="0" tIns="0" rIns="0" bIns="0" rtlCol="0" anchor="t"/>
          <a:lstStyle/>
          <a:p>
            <a:pPr indent="0" marL="0">
              <a:buNone/>
            </a:pPr>
            <a:r>
              <a:rPr lang="en-US" sz="1300" dirty="0">
                <a:solidFill>
                  <a:srgbClr val="F3E3D3"/>
                </a:solidFill>
                <a:latin typeface="Lato" pitchFamily="34" charset="0"/>
                <a:ea typeface="Lato" pitchFamily="34" charset="-122"/>
                <a:cs typeface="Lato" pitchFamily="34" charset="-120"/>
              </a:rPr>
              <a:t>Cinq choses qui coûtent du temps ou du budget sans preuve de résultat.</a:t>
            </a:r>
            <a:endParaRPr lang="en-US" sz="1300" dirty="0"/>
          </a:p>
        </p:txBody>
      </p:sp>
      <p:sp>
        <p:nvSpPr>
          <p:cNvPr id="6" name="Shape 4"/>
          <p:cNvSpPr/>
          <p:nvPr/>
        </p:nvSpPr>
        <p:spPr>
          <a:xfrm>
            <a:off x="548640" y="1691640"/>
            <a:ext cx="5440680" cy="1344168"/>
          </a:xfrm>
          <a:prstGeom prst="roundRect">
            <a:avLst>
              <a:gd name="adj" fmla="val 12245"/>
            </a:avLst>
          </a:prstGeom>
          <a:solidFill>
            <a:srgbClr val="A6391F"/>
          </a:solidFill>
          <a:ln w="12700">
            <a:solidFill>
              <a:srgbClr val="B5482C"/>
            </a:solidFill>
            <a:prstDash val="solid"/>
          </a:ln>
        </p:spPr>
      </p:sp>
      <p:sp>
        <p:nvSpPr>
          <p:cNvPr id="7" name="Shape 5"/>
          <p:cNvSpPr/>
          <p:nvPr/>
        </p:nvSpPr>
        <p:spPr>
          <a:xfrm>
            <a:off x="749808" y="1911096"/>
            <a:ext cx="457200" cy="457200"/>
          </a:xfrm>
          <a:prstGeom prst="ellipse">
            <a:avLst/>
          </a:prstGeom>
          <a:solidFill>
            <a:srgbClr val="E45728"/>
          </a:solidFill>
          <a:ln w="12700">
            <a:solidFill>
              <a:srgbClr val="E45728"/>
            </a:solidFill>
            <a:prstDash val="solid"/>
          </a:ln>
        </p:spPr>
      </p:sp>
      <p:sp>
        <p:nvSpPr>
          <p:cNvPr id="8" name="Text 6"/>
          <p:cNvSpPr txBox="1"/>
          <p:nvPr/>
        </p:nvSpPr>
        <p:spPr>
          <a:xfrm>
            <a:off x="749808" y="191109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Lato" pitchFamily="34" charset="0"/>
                <a:ea typeface="Lato" pitchFamily="34" charset="-122"/>
                <a:cs typeface="Lato" pitchFamily="34" charset="-120"/>
              </a:rPr>
              <a:t>✕</a:t>
            </a:r>
            <a:endParaRPr lang="en-US" sz="1500" dirty="0"/>
          </a:p>
        </p:txBody>
      </p:sp>
      <p:sp>
        <p:nvSpPr>
          <p:cNvPr id="9" name="Text 7"/>
          <p:cNvSpPr txBox="1"/>
          <p:nvPr/>
        </p:nvSpPr>
        <p:spPr>
          <a:xfrm>
            <a:off x="1371600" y="1837944"/>
            <a:ext cx="4434840" cy="329184"/>
          </a:xfrm>
          <a:prstGeom prst="rect">
            <a:avLst/>
          </a:prstGeom>
          <a:noFill/>
          <a:ln/>
        </p:spPr>
        <p:txBody>
          <a:bodyPr wrap="square" lIns="0" tIns="0" rIns="0" bIns="0" rtlCol="0" anchor="ctr"/>
          <a:lstStyle/>
          <a:p>
            <a:pPr indent="0" marL="0">
              <a:buNone/>
            </a:pPr>
            <a:r>
              <a:rPr lang="en-US" sz="1500" b="1" dirty="0">
                <a:solidFill>
                  <a:srgbClr val="FEBE5C"/>
                </a:solidFill>
                <a:latin typeface="Fredoka" pitchFamily="34" charset="0"/>
                <a:ea typeface="Fredoka" pitchFamily="34" charset="-122"/>
                <a:cs typeface="Fredoka" pitchFamily="34" charset="-120"/>
              </a:rPr>
              <a:t>X (Twitter)</a:t>
            </a:r>
            <a:endParaRPr lang="en-US" sz="1500" dirty="0"/>
          </a:p>
        </p:txBody>
      </p:sp>
      <p:sp>
        <p:nvSpPr>
          <p:cNvPr id="10" name="Text 8"/>
          <p:cNvSpPr txBox="1"/>
          <p:nvPr/>
        </p:nvSpPr>
        <p:spPr>
          <a:xfrm>
            <a:off x="1371600" y="2194560"/>
            <a:ext cx="4434840" cy="777240"/>
          </a:xfrm>
          <a:prstGeom prst="rect">
            <a:avLst/>
          </a:prstGeom>
          <a:noFill/>
          <a:ln/>
        </p:spPr>
        <p:txBody>
          <a:bodyPr wrap="square" lIns="0" tIns="0" rIns="0" bIns="0" rtlCol="0" anchor="t"/>
          <a:lstStyle/>
          <a:p>
            <a:pPr indent="0" marL="0">
              <a:lnSpc>
                <a:spcPct val="108000"/>
              </a:lnSpc>
              <a:buNone/>
            </a:pPr>
            <a:r>
              <a:rPr lang="en-US" sz="1050" dirty="0">
                <a:solidFill>
                  <a:srgbClr val="FFFFFF"/>
                </a:solidFill>
                <a:latin typeface="Lato" pitchFamily="34" charset="0"/>
                <a:ea typeface="Lato" pitchFamily="34" charset="-122"/>
                <a:cs typeface="Lato" pitchFamily="34" charset="-120"/>
              </a:rPr>
              <a:t>1 429 abonnés en mars 2023, 1 423 en mai 2026. Zéro publication en 2026 : on ferme proprement le compte (post de redirection, bio) au lieu de le laisser mourir.</a:t>
            </a:r>
            <a:endParaRPr lang="en-US" sz="1050" dirty="0"/>
          </a:p>
        </p:txBody>
      </p:sp>
      <p:sp>
        <p:nvSpPr>
          <p:cNvPr id="11" name="Shape 9"/>
          <p:cNvSpPr/>
          <p:nvPr/>
        </p:nvSpPr>
        <p:spPr>
          <a:xfrm>
            <a:off x="6217920" y="1691640"/>
            <a:ext cx="5440680" cy="1344168"/>
          </a:xfrm>
          <a:prstGeom prst="roundRect">
            <a:avLst>
              <a:gd name="adj" fmla="val 12245"/>
            </a:avLst>
          </a:prstGeom>
          <a:solidFill>
            <a:srgbClr val="A6391F"/>
          </a:solidFill>
          <a:ln w="12700">
            <a:solidFill>
              <a:srgbClr val="B5482C"/>
            </a:solidFill>
            <a:prstDash val="solid"/>
          </a:ln>
        </p:spPr>
      </p:sp>
      <p:sp>
        <p:nvSpPr>
          <p:cNvPr id="12" name="Shape 10"/>
          <p:cNvSpPr/>
          <p:nvPr/>
        </p:nvSpPr>
        <p:spPr>
          <a:xfrm>
            <a:off x="6419088" y="1911096"/>
            <a:ext cx="457200" cy="457200"/>
          </a:xfrm>
          <a:prstGeom prst="ellipse">
            <a:avLst/>
          </a:prstGeom>
          <a:solidFill>
            <a:srgbClr val="E45728"/>
          </a:solidFill>
          <a:ln w="12700">
            <a:solidFill>
              <a:srgbClr val="E45728"/>
            </a:solidFill>
            <a:prstDash val="solid"/>
          </a:ln>
        </p:spPr>
      </p:sp>
      <p:sp>
        <p:nvSpPr>
          <p:cNvPr id="13" name="Text 11"/>
          <p:cNvSpPr txBox="1"/>
          <p:nvPr/>
        </p:nvSpPr>
        <p:spPr>
          <a:xfrm>
            <a:off x="6419088" y="191109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Lato" pitchFamily="34" charset="0"/>
                <a:ea typeface="Lato" pitchFamily="34" charset="-122"/>
                <a:cs typeface="Lato" pitchFamily="34" charset="-120"/>
              </a:rPr>
              <a:t>✕</a:t>
            </a:r>
            <a:endParaRPr lang="en-US" sz="1500" dirty="0"/>
          </a:p>
        </p:txBody>
      </p:sp>
      <p:sp>
        <p:nvSpPr>
          <p:cNvPr id="14" name="Text 12"/>
          <p:cNvSpPr txBox="1"/>
          <p:nvPr/>
        </p:nvSpPr>
        <p:spPr>
          <a:xfrm>
            <a:off x="7040880" y="1837944"/>
            <a:ext cx="4434840" cy="329184"/>
          </a:xfrm>
          <a:prstGeom prst="rect">
            <a:avLst/>
          </a:prstGeom>
          <a:noFill/>
          <a:ln/>
        </p:spPr>
        <p:txBody>
          <a:bodyPr wrap="square" lIns="0" tIns="0" rIns="0" bIns="0" rtlCol="0" anchor="ctr"/>
          <a:lstStyle/>
          <a:p>
            <a:pPr indent="0" marL="0">
              <a:buNone/>
            </a:pPr>
            <a:r>
              <a:rPr lang="en-US" sz="1500" b="1" dirty="0">
                <a:solidFill>
                  <a:srgbClr val="FEBE5C"/>
                </a:solidFill>
                <a:latin typeface="Fredoka" pitchFamily="34" charset="0"/>
                <a:ea typeface="Fredoka" pitchFamily="34" charset="-122"/>
                <a:cs typeface="Fredoka" pitchFamily="34" charset="-120"/>
              </a:rPr>
              <a:t>Envoyer les ads sur la page d'accueil</a:t>
            </a:r>
            <a:endParaRPr lang="en-US" sz="1500" dirty="0"/>
          </a:p>
        </p:txBody>
      </p:sp>
      <p:sp>
        <p:nvSpPr>
          <p:cNvPr id="15" name="Text 13"/>
          <p:cNvSpPr txBox="1"/>
          <p:nvPr/>
        </p:nvSpPr>
        <p:spPr>
          <a:xfrm>
            <a:off x="7040880" y="2194560"/>
            <a:ext cx="4434840" cy="777240"/>
          </a:xfrm>
          <a:prstGeom prst="rect">
            <a:avLst/>
          </a:prstGeom>
          <a:noFill/>
          <a:ln/>
        </p:spPr>
        <p:txBody>
          <a:bodyPr wrap="square" lIns="0" tIns="0" rIns="0" bIns="0" rtlCol="0" anchor="t"/>
          <a:lstStyle/>
          <a:p>
            <a:pPr indent="0" marL="0">
              <a:lnSpc>
                <a:spcPct val="108000"/>
              </a:lnSpc>
              <a:buNone/>
            </a:pPr>
            <a:r>
              <a:rPr lang="en-US" sz="1050" dirty="0">
                <a:solidFill>
                  <a:srgbClr val="FFFFFF"/>
                </a:solidFill>
                <a:latin typeface="Lato" pitchFamily="34" charset="0"/>
                <a:ea typeface="Lato" pitchFamily="34" charset="-122"/>
                <a:cs typeface="Lato" pitchFamily="34" charset="-120"/>
              </a:rPr>
              <a:t>78 % du trafic 2026 vient du paid social et seulement 8 % de ces sessions sont engagées. Un clic à 0,04 € qui atterrit sur une home généraliste est un clic jeté.</a:t>
            </a:r>
            <a:endParaRPr lang="en-US" sz="1050" dirty="0"/>
          </a:p>
        </p:txBody>
      </p:sp>
      <p:sp>
        <p:nvSpPr>
          <p:cNvPr id="16" name="Shape 14"/>
          <p:cNvSpPr/>
          <p:nvPr/>
        </p:nvSpPr>
        <p:spPr>
          <a:xfrm>
            <a:off x="548640" y="3172968"/>
            <a:ext cx="5440680" cy="1344168"/>
          </a:xfrm>
          <a:prstGeom prst="roundRect">
            <a:avLst>
              <a:gd name="adj" fmla="val 12245"/>
            </a:avLst>
          </a:prstGeom>
          <a:solidFill>
            <a:srgbClr val="A6391F"/>
          </a:solidFill>
          <a:ln w="12700">
            <a:solidFill>
              <a:srgbClr val="B5482C"/>
            </a:solidFill>
            <a:prstDash val="solid"/>
          </a:ln>
        </p:spPr>
      </p:sp>
      <p:sp>
        <p:nvSpPr>
          <p:cNvPr id="17" name="Shape 15"/>
          <p:cNvSpPr/>
          <p:nvPr/>
        </p:nvSpPr>
        <p:spPr>
          <a:xfrm>
            <a:off x="749808" y="3392424"/>
            <a:ext cx="457200" cy="457200"/>
          </a:xfrm>
          <a:prstGeom prst="ellipse">
            <a:avLst/>
          </a:prstGeom>
          <a:solidFill>
            <a:srgbClr val="E45728"/>
          </a:solidFill>
          <a:ln w="12700">
            <a:solidFill>
              <a:srgbClr val="E45728"/>
            </a:solidFill>
            <a:prstDash val="solid"/>
          </a:ln>
        </p:spPr>
      </p:sp>
      <p:sp>
        <p:nvSpPr>
          <p:cNvPr id="18" name="Text 16"/>
          <p:cNvSpPr txBox="1"/>
          <p:nvPr/>
        </p:nvSpPr>
        <p:spPr>
          <a:xfrm>
            <a:off x="749808" y="33924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Lato" pitchFamily="34" charset="0"/>
                <a:ea typeface="Lato" pitchFamily="34" charset="-122"/>
                <a:cs typeface="Lato" pitchFamily="34" charset="-120"/>
              </a:rPr>
              <a:t>✕</a:t>
            </a:r>
            <a:endParaRPr lang="en-US" sz="1500" dirty="0"/>
          </a:p>
        </p:txBody>
      </p:sp>
      <p:sp>
        <p:nvSpPr>
          <p:cNvPr id="19" name="Text 17"/>
          <p:cNvSpPr txBox="1"/>
          <p:nvPr/>
        </p:nvSpPr>
        <p:spPr>
          <a:xfrm>
            <a:off x="1371600" y="3319272"/>
            <a:ext cx="4434840" cy="329184"/>
          </a:xfrm>
          <a:prstGeom prst="rect">
            <a:avLst/>
          </a:prstGeom>
          <a:noFill/>
          <a:ln/>
        </p:spPr>
        <p:txBody>
          <a:bodyPr wrap="square" lIns="0" tIns="0" rIns="0" bIns="0" rtlCol="0" anchor="ctr"/>
          <a:lstStyle/>
          <a:p>
            <a:pPr indent="0" marL="0">
              <a:buNone/>
            </a:pPr>
            <a:r>
              <a:rPr lang="en-US" sz="1500" b="1" dirty="0">
                <a:solidFill>
                  <a:srgbClr val="FEBE5C"/>
                </a:solidFill>
                <a:latin typeface="Fredoka" pitchFamily="34" charset="0"/>
                <a:ea typeface="Fredoka" pitchFamily="34" charset="-122"/>
                <a:cs typeface="Fredoka" pitchFamily="34" charset="-120"/>
              </a:rPr>
              <a:t>Le boost uniforme à 50 / 70 € par publication</a:t>
            </a:r>
            <a:endParaRPr lang="en-US" sz="1500" dirty="0"/>
          </a:p>
        </p:txBody>
      </p:sp>
      <p:sp>
        <p:nvSpPr>
          <p:cNvPr id="20" name="Text 18"/>
          <p:cNvSpPr txBox="1"/>
          <p:nvPr/>
        </p:nvSpPr>
        <p:spPr>
          <a:xfrm>
            <a:off x="1371600" y="3675888"/>
            <a:ext cx="4434840" cy="777240"/>
          </a:xfrm>
          <a:prstGeom prst="rect">
            <a:avLst/>
          </a:prstGeom>
          <a:noFill/>
          <a:ln/>
        </p:spPr>
        <p:txBody>
          <a:bodyPr wrap="square" lIns="0" tIns="0" rIns="0" bIns="0" rtlCol="0" anchor="t"/>
          <a:lstStyle/>
          <a:p>
            <a:pPr indent="0" marL="0">
              <a:lnSpc>
                <a:spcPct val="108000"/>
              </a:lnSpc>
              <a:buNone/>
            </a:pPr>
            <a:r>
              <a:rPr lang="en-US" sz="1050" dirty="0">
                <a:solidFill>
                  <a:srgbClr val="FFFFFF"/>
                </a:solidFill>
                <a:latin typeface="Lato" pitchFamily="34" charset="0"/>
                <a:ea typeface="Lato" pitchFamily="34" charset="-122"/>
                <a:cs typeface="Lato" pitchFamily="34" charset="-120"/>
              </a:rPr>
              <a:t>Les POV font 10,6 % de CTR, les reels inspirationnels 3,5 %. On arrête d'arroser tout le planning : le budget va aux 3 formats qui convertissent.</a:t>
            </a:r>
            <a:endParaRPr lang="en-US" sz="1050" dirty="0"/>
          </a:p>
        </p:txBody>
      </p:sp>
      <p:sp>
        <p:nvSpPr>
          <p:cNvPr id="21" name="Shape 19"/>
          <p:cNvSpPr/>
          <p:nvPr/>
        </p:nvSpPr>
        <p:spPr>
          <a:xfrm>
            <a:off x="6217920" y="3172968"/>
            <a:ext cx="5440680" cy="1344168"/>
          </a:xfrm>
          <a:prstGeom prst="roundRect">
            <a:avLst>
              <a:gd name="adj" fmla="val 12245"/>
            </a:avLst>
          </a:prstGeom>
          <a:solidFill>
            <a:srgbClr val="A6391F"/>
          </a:solidFill>
          <a:ln w="12700">
            <a:solidFill>
              <a:srgbClr val="B5482C"/>
            </a:solidFill>
            <a:prstDash val="solid"/>
          </a:ln>
        </p:spPr>
      </p:sp>
      <p:sp>
        <p:nvSpPr>
          <p:cNvPr id="22" name="Shape 20"/>
          <p:cNvSpPr/>
          <p:nvPr/>
        </p:nvSpPr>
        <p:spPr>
          <a:xfrm>
            <a:off x="6419088" y="3392424"/>
            <a:ext cx="457200" cy="457200"/>
          </a:xfrm>
          <a:prstGeom prst="ellipse">
            <a:avLst/>
          </a:prstGeom>
          <a:solidFill>
            <a:srgbClr val="E45728"/>
          </a:solidFill>
          <a:ln w="12700">
            <a:solidFill>
              <a:srgbClr val="E45728"/>
            </a:solidFill>
            <a:prstDash val="solid"/>
          </a:ln>
        </p:spPr>
      </p:sp>
      <p:sp>
        <p:nvSpPr>
          <p:cNvPr id="23" name="Text 21"/>
          <p:cNvSpPr txBox="1"/>
          <p:nvPr/>
        </p:nvSpPr>
        <p:spPr>
          <a:xfrm>
            <a:off x="6419088" y="33924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Lato" pitchFamily="34" charset="0"/>
                <a:ea typeface="Lato" pitchFamily="34" charset="-122"/>
                <a:cs typeface="Lato" pitchFamily="34" charset="-120"/>
              </a:rPr>
              <a:t>✕</a:t>
            </a:r>
            <a:endParaRPr lang="en-US" sz="1500" dirty="0"/>
          </a:p>
        </p:txBody>
      </p:sp>
      <p:sp>
        <p:nvSpPr>
          <p:cNvPr id="24" name="Text 22"/>
          <p:cNvSpPr txBox="1"/>
          <p:nvPr/>
        </p:nvSpPr>
        <p:spPr>
          <a:xfrm>
            <a:off x="7040880" y="3319272"/>
            <a:ext cx="4434840" cy="329184"/>
          </a:xfrm>
          <a:prstGeom prst="rect">
            <a:avLst/>
          </a:prstGeom>
          <a:noFill/>
          <a:ln/>
        </p:spPr>
        <p:txBody>
          <a:bodyPr wrap="square" lIns="0" tIns="0" rIns="0" bIns="0" rtlCol="0" anchor="ctr"/>
          <a:lstStyle/>
          <a:p>
            <a:pPr indent="0" marL="0">
              <a:buNone/>
            </a:pPr>
            <a:r>
              <a:rPr lang="en-US" sz="1500" b="1" dirty="0">
                <a:solidFill>
                  <a:srgbClr val="FEBE5C"/>
                </a:solidFill>
                <a:latin typeface="Fredoka" pitchFamily="34" charset="0"/>
                <a:ea typeface="Fredoka" pitchFamily="34" charset="-122"/>
                <a:cs typeface="Fredoka" pitchFamily="34" charset="-120"/>
              </a:rPr>
              <a:t>Les posts « débat » sans animation</a:t>
            </a:r>
            <a:endParaRPr lang="en-US" sz="1500" dirty="0"/>
          </a:p>
        </p:txBody>
      </p:sp>
      <p:sp>
        <p:nvSpPr>
          <p:cNvPr id="25" name="Text 23"/>
          <p:cNvSpPr txBox="1"/>
          <p:nvPr/>
        </p:nvSpPr>
        <p:spPr>
          <a:xfrm>
            <a:off x="7040880" y="3675888"/>
            <a:ext cx="4434840" cy="777240"/>
          </a:xfrm>
          <a:prstGeom prst="rect">
            <a:avLst/>
          </a:prstGeom>
          <a:noFill/>
          <a:ln/>
        </p:spPr>
        <p:txBody>
          <a:bodyPr wrap="square" lIns="0" tIns="0" rIns="0" bIns="0" rtlCol="0" anchor="t"/>
          <a:lstStyle/>
          <a:p>
            <a:pPr indent="0" marL="0">
              <a:lnSpc>
                <a:spcPct val="108000"/>
              </a:lnSpc>
              <a:buNone/>
            </a:pPr>
            <a:r>
              <a:rPr lang="en-US" sz="1050" dirty="0">
                <a:solidFill>
                  <a:srgbClr val="FFFFFF"/>
                </a:solidFill>
                <a:latin typeface="Lato" pitchFamily="34" charset="0"/>
                <a:ea typeface="Lato" pitchFamily="34" charset="-122"/>
                <a:cs typeface="Lato" pitchFamily="34" charset="-120"/>
              </a:rPr>
              <a:t>Baromètre, Donne ta définition, Unpopular opinion : 12 à 83 commentaires par mois pour 250 000 à 1 M d'impressions. Ils ne restent que s'ils sont animés (réponses, relance en story).</a:t>
            </a:r>
            <a:endParaRPr lang="en-US" sz="1050" dirty="0"/>
          </a:p>
        </p:txBody>
      </p:sp>
      <p:sp>
        <p:nvSpPr>
          <p:cNvPr id="26" name="Shape 24"/>
          <p:cNvSpPr/>
          <p:nvPr/>
        </p:nvSpPr>
        <p:spPr>
          <a:xfrm>
            <a:off x="548640" y="4654296"/>
            <a:ext cx="11109960" cy="1344168"/>
          </a:xfrm>
          <a:prstGeom prst="roundRect">
            <a:avLst>
              <a:gd name="adj" fmla="val 12245"/>
            </a:avLst>
          </a:prstGeom>
          <a:solidFill>
            <a:srgbClr val="A6391F"/>
          </a:solidFill>
          <a:ln w="12700">
            <a:solidFill>
              <a:srgbClr val="B5482C"/>
            </a:solidFill>
            <a:prstDash val="solid"/>
          </a:ln>
        </p:spPr>
      </p:sp>
      <p:sp>
        <p:nvSpPr>
          <p:cNvPr id="27" name="Shape 25"/>
          <p:cNvSpPr/>
          <p:nvPr/>
        </p:nvSpPr>
        <p:spPr>
          <a:xfrm>
            <a:off x="749808" y="4873752"/>
            <a:ext cx="457200" cy="457200"/>
          </a:xfrm>
          <a:prstGeom prst="ellipse">
            <a:avLst/>
          </a:prstGeom>
          <a:solidFill>
            <a:srgbClr val="E45728"/>
          </a:solidFill>
          <a:ln w="12700">
            <a:solidFill>
              <a:srgbClr val="E45728"/>
            </a:solidFill>
            <a:prstDash val="solid"/>
          </a:ln>
        </p:spPr>
      </p:sp>
      <p:sp>
        <p:nvSpPr>
          <p:cNvPr id="28" name="Text 26"/>
          <p:cNvSpPr txBox="1"/>
          <p:nvPr/>
        </p:nvSpPr>
        <p:spPr>
          <a:xfrm>
            <a:off x="749808" y="487375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Lato" pitchFamily="34" charset="0"/>
                <a:ea typeface="Lato" pitchFamily="34" charset="-122"/>
                <a:cs typeface="Lato" pitchFamily="34" charset="-120"/>
              </a:rPr>
              <a:t>✕</a:t>
            </a:r>
            <a:endParaRPr lang="en-US" sz="1500" dirty="0"/>
          </a:p>
        </p:txBody>
      </p:sp>
      <p:sp>
        <p:nvSpPr>
          <p:cNvPr id="29" name="Text 27"/>
          <p:cNvSpPr txBox="1"/>
          <p:nvPr/>
        </p:nvSpPr>
        <p:spPr>
          <a:xfrm>
            <a:off x="1371600" y="4800600"/>
            <a:ext cx="10104120" cy="329184"/>
          </a:xfrm>
          <a:prstGeom prst="rect">
            <a:avLst/>
          </a:prstGeom>
          <a:noFill/>
          <a:ln/>
        </p:spPr>
        <p:txBody>
          <a:bodyPr wrap="square" lIns="0" tIns="0" rIns="0" bIns="0" rtlCol="0" anchor="ctr"/>
          <a:lstStyle/>
          <a:p>
            <a:pPr indent="0" marL="0">
              <a:buNone/>
            </a:pPr>
            <a:r>
              <a:rPr lang="en-US" sz="1500" b="1" dirty="0">
                <a:solidFill>
                  <a:srgbClr val="FEBE5C"/>
                </a:solidFill>
                <a:latin typeface="Fredoka" pitchFamily="34" charset="0"/>
                <a:ea typeface="Fredoka" pitchFamily="34" charset="-122"/>
                <a:cs typeface="Fredoka" pitchFamily="34" charset="-120"/>
              </a:rPr>
              <a:t>Les livrables sans calendrier ferme</a:t>
            </a:r>
            <a:endParaRPr lang="en-US" sz="1500" dirty="0"/>
          </a:p>
        </p:txBody>
      </p:sp>
      <p:sp>
        <p:nvSpPr>
          <p:cNvPr id="30" name="Text 28"/>
          <p:cNvSpPr txBox="1"/>
          <p:nvPr/>
        </p:nvSpPr>
        <p:spPr>
          <a:xfrm>
            <a:off x="1371600" y="5157216"/>
            <a:ext cx="10104120" cy="777240"/>
          </a:xfrm>
          <a:prstGeom prst="rect">
            <a:avLst/>
          </a:prstGeom>
          <a:noFill/>
          <a:ln/>
        </p:spPr>
        <p:txBody>
          <a:bodyPr wrap="square" lIns="0" tIns="0" rIns="0" bIns="0" rtlCol="0" anchor="t"/>
          <a:lstStyle/>
          <a:p>
            <a:pPr indent="0" marL="0">
              <a:lnSpc>
                <a:spcPct val="108000"/>
              </a:lnSpc>
              <a:buNone/>
            </a:pPr>
            <a:r>
              <a:rPr lang="en-US" sz="1050" dirty="0">
                <a:solidFill>
                  <a:srgbClr val="FFFFFF"/>
                </a:solidFill>
                <a:latin typeface="Lato" pitchFamily="34" charset="0"/>
                <a:ea typeface="Lato" pitchFamily="34" charset="-122"/>
                <a:cs typeface="Lato" pitchFamily="34" charset="-120"/>
              </a:rPr>
              <a:t>La ligne UGC prévue chaque mois depuis avril n'a été publiée qu'en septembre. Toute ligne budgétaire 2027 est datée, sinon elle est réallouée en tournage.</a:t>
            </a:r>
            <a:endParaRPr lang="en-US" sz="1050" dirty="0"/>
          </a:p>
        </p:txBody>
      </p:sp>
      <p:sp>
        <p:nvSpPr>
          <p:cNvPr id="31" name="Text 29"/>
          <p:cNvSpPr txBox="1"/>
          <p:nvPr/>
        </p:nvSpPr>
        <p:spPr>
          <a:xfrm>
            <a:off x="548640" y="6446520"/>
            <a:ext cx="9601200" cy="274320"/>
          </a:xfrm>
          <a:prstGeom prst="rect">
            <a:avLst/>
          </a:prstGeom>
          <a:noFill/>
          <a:ln/>
        </p:spPr>
        <p:txBody>
          <a:bodyPr wrap="square" lIns="0" tIns="0" rIns="0" bIns="0" rtlCol="0" anchor="ctr"/>
          <a:lstStyle/>
          <a:p>
            <a:pPr indent="0" marL="0">
              <a:buNone/>
            </a:pPr>
            <a:r>
              <a:rPr lang="en-US" sz="850" i="1" dirty="0">
                <a:solidFill>
                  <a:srgbClr val="E9D6C4"/>
                </a:solidFill>
                <a:latin typeface="Lato" pitchFamily="34" charset="0"/>
                <a:ea typeface="Lato" pitchFamily="34" charset="-122"/>
                <a:cs typeface="Lato" pitchFamily="34" charset="-120"/>
              </a:rPr>
              <a:t>Chiffres : relevés d'abonnés, GA4 2026, API Meta Ads (juin 2026 : POV 10,59 % de CTR vs 3,46 % reel Inside 2025), board Monday PE 2026.</a:t>
            </a:r>
            <a:endParaRPr lang="en-US" sz="850" dirty="0"/>
          </a:p>
        </p:txBody>
      </p:sp>
      <p:pic>
        <p:nvPicPr>
          <p:cNvPr id="32" name="Image 0" descr="/tmp/claude-0/-home-user-Dashboard-Antidotes/19e64f65-f236-5057-97fe-8b787e5e46cb/scratchpad/assets/ChasseursDeGraines_Logo_Blanc.png">    </p:cNvPr>
          <p:cNvPicPr>
            <a:picLocks noChangeAspect="1"/>
          </p:cNvPicPr>
          <p:nvPr/>
        </p:nvPicPr>
        <p:blipFill>
          <a:blip r:embed="rId1"/>
          <a:stretch>
            <a:fillRect/>
          </a:stretch>
        </p:blipFill>
        <p:spPr>
          <a:xfrm>
            <a:off x="10561320" y="6263640"/>
            <a:ext cx="1188720" cy="57607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6EC"/>
        </a:solidFill>
      </p:bgPr>
    </p:bg>
    <p:spTree>
      <p:nvGrpSpPr>
        <p:cNvPr id="1" name=""/>
        <p:cNvGrpSpPr/>
        <p:nvPr/>
      </p:nvGrpSpPr>
      <p:grpSpPr>
        <a:xfrm>
          <a:off x="0" y="0"/>
          <a:ext cx="0" cy="0"/>
          <a:chOff x="0" y="0"/>
          <a:chExt cx="0" cy="0"/>
        </a:xfrm>
      </p:grpSpPr>
      <p:sp>
        <p:nvSpPr>
          <p:cNvPr id="2" name="Shape 0"/>
          <p:cNvSpPr/>
          <p:nvPr/>
        </p:nvSpPr>
        <p:spPr>
          <a:xfrm>
            <a:off x="548640" y="182880"/>
            <a:ext cx="3154680" cy="274320"/>
          </a:xfrm>
          <a:prstGeom prst="roundRect">
            <a:avLst>
              <a:gd name="adj" fmla="val 50000"/>
            </a:avLst>
          </a:prstGeom>
          <a:solidFill>
            <a:srgbClr val="E45728"/>
          </a:solidFill>
          <a:ln w="12700">
            <a:solidFill>
              <a:srgbClr val="E45728"/>
            </a:solidFill>
            <a:prstDash val="solid"/>
          </a:ln>
        </p:spPr>
      </p:sp>
      <p:sp>
        <p:nvSpPr>
          <p:cNvPr id="3" name="Text 1"/>
          <p:cNvSpPr txBox="1"/>
          <p:nvPr/>
        </p:nvSpPr>
        <p:spPr>
          <a:xfrm>
            <a:off x="548640" y="182880"/>
            <a:ext cx="315468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Fredoka" pitchFamily="34" charset="0"/>
                <a:ea typeface="Fredoka" pitchFamily="34" charset="-122"/>
                <a:cs typeface="Fredoka" pitchFamily="34" charset="-120"/>
              </a:rPr>
              <a:t>RECOMMANDATIONS · 2/4</a:t>
            </a:r>
            <a:endParaRPr lang="en-US" sz="950" dirty="0"/>
          </a:p>
        </p:txBody>
      </p:sp>
      <p:sp>
        <p:nvSpPr>
          <p:cNvPr id="4" name="Text 2"/>
          <p:cNvSpPr txBox="1"/>
          <p:nvPr/>
        </p:nvSpPr>
        <p:spPr>
          <a:xfrm>
            <a:off x="548640" y="411480"/>
            <a:ext cx="8229600" cy="822960"/>
          </a:xfrm>
          <a:prstGeom prst="rect">
            <a:avLst/>
          </a:prstGeom>
          <a:noFill/>
          <a:ln/>
        </p:spPr>
        <p:txBody>
          <a:bodyPr wrap="square" lIns="0" tIns="0" rIns="0" bIns="0" rtlCol="0" anchor="ctr"/>
          <a:lstStyle/>
          <a:p>
            <a:pPr indent="0" marL="0">
              <a:buNone/>
            </a:pPr>
            <a:r>
              <a:rPr lang="en-US" sz="3400" b="1" dirty="0">
                <a:solidFill>
                  <a:srgbClr val="922D18"/>
                </a:solidFill>
                <a:latin typeface="Fredoka" pitchFamily="34" charset="0"/>
                <a:ea typeface="Fredoka" pitchFamily="34" charset="-122"/>
                <a:cs typeface="Fredoka" pitchFamily="34" charset="-120"/>
              </a:rPr>
              <a:t>On continue, et on améliore</a:t>
            </a:r>
            <a:endParaRPr lang="en-US" sz="3400" dirty="0"/>
          </a:p>
        </p:txBody>
      </p:sp>
      <p:sp>
        <p:nvSpPr>
          <p:cNvPr id="5" name="Text 3"/>
          <p:cNvSpPr txBox="1"/>
          <p:nvPr/>
        </p:nvSpPr>
        <p:spPr>
          <a:xfrm>
            <a:off x="548640" y="1143000"/>
            <a:ext cx="8229600" cy="365760"/>
          </a:xfrm>
          <a:prstGeom prst="rect">
            <a:avLst/>
          </a:prstGeom>
          <a:noFill/>
          <a:ln/>
        </p:spPr>
        <p:txBody>
          <a:bodyPr wrap="square" lIns="0" tIns="0" rIns="0" bIns="0" rtlCol="0" anchor="t"/>
          <a:lstStyle/>
          <a:p>
            <a:pPr indent="0" marL="0">
              <a:buNone/>
            </a:pPr>
            <a:r>
              <a:rPr lang="en-US" sz="1300" dirty="0">
                <a:solidFill>
                  <a:srgbClr val="7A5A4A"/>
                </a:solidFill>
                <a:latin typeface="Lato" pitchFamily="34" charset="0"/>
                <a:ea typeface="Lato" pitchFamily="34" charset="-122"/>
                <a:cs typeface="Lato" pitchFamily="34" charset="-120"/>
              </a:rPr>
              <a:t>Ce qui marche est prouvé par les chiffres. On le garde, et on le pousse un cran plus loin.</a:t>
            </a:r>
            <a:endParaRPr lang="en-US" sz="1300" dirty="0"/>
          </a:p>
        </p:txBody>
      </p:sp>
      <p:sp>
        <p:nvSpPr>
          <p:cNvPr id="6" name="Shape 4"/>
          <p:cNvSpPr/>
          <p:nvPr/>
        </p:nvSpPr>
        <p:spPr>
          <a:xfrm>
            <a:off x="548640" y="1645920"/>
            <a:ext cx="5440680" cy="4617720"/>
          </a:xfrm>
          <a:prstGeom prst="roundRect">
            <a:avLst>
              <a:gd name="adj" fmla="val 3564"/>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7" name="Shape 5"/>
          <p:cNvSpPr/>
          <p:nvPr/>
        </p:nvSpPr>
        <p:spPr>
          <a:xfrm>
            <a:off x="777240" y="1828800"/>
            <a:ext cx="1554480" cy="292608"/>
          </a:xfrm>
          <a:prstGeom prst="roundRect">
            <a:avLst>
              <a:gd name="adj" fmla="val 50000"/>
            </a:avLst>
          </a:prstGeom>
          <a:solidFill>
            <a:srgbClr val="4E7A3A"/>
          </a:solidFill>
          <a:ln w="12700">
            <a:solidFill>
              <a:srgbClr val="4E7A3A"/>
            </a:solidFill>
            <a:prstDash val="solid"/>
          </a:ln>
        </p:spPr>
      </p:sp>
      <p:sp>
        <p:nvSpPr>
          <p:cNvPr id="8" name="Text 6"/>
          <p:cNvSpPr txBox="1"/>
          <p:nvPr/>
        </p:nvSpPr>
        <p:spPr>
          <a:xfrm>
            <a:off x="777240" y="1828800"/>
            <a:ext cx="1554480"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Fredoka" pitchFamily="34" charset="0"/>
                <a:ea typeface="Fredoka" pitchFamily="34" charset="-122"/>
                <a:cs typeface="Fredoka" pitchFamily="34" charset="-120"/>
              </a:rPr>
              <a:t>ON CONTINUE</a:t>
            </a:r>
            <a:endParaRPr lang="en-US" sz="1000" dirty="0"/>
          </a:p>
        </p:txBody>
      </p:sp>
      <p:sp>
        <p:nvSpPr>
          <p:cNvPr id="9" name="Text 7"/>
          <p:cNvSpPr txBox="1"/>
          <p:nvPr/>
        </p:nvSpPr>
        <p:spPr>
          <a:xfrm>
            <a:off x="822960" y="2240280"/>
            <a:ext cx="4937760" cy="274320"/>
          </a:xfrm>
          <a:prstGeom prst="rect">
            <a:avLst/>
          </a:prstGeom>
          <a:noFill/>
          <a:ln/>
        </p:spPr>
        <p:txBody>
          <a:bodyPr wrap="square" lIns="0" tIns="0" rIns="0" bIns="0" rtlCol="0" anchor="t"/>
          <a:lstStyle/>
          <a:p>
            <a:pPr indent="0" marL="0">
              <a:buNone/>
            </a:pPr>
            <a:r>
              <a:rPr lang="en-US" sz="1150" b="1" dirty="0">
                <a:solidFill>
                  <a:srgbClr val="922D18"/>
                </a:solidFill>
                <a:latin typeface="Lato" pitchFamily="34" charset="0"/>
                <a:ea typeface="Lato" pitchFamily="34" charset="-122"/>
                <a:cs typeface="Lato" pitchFamily="34" charset="-120"/>
              </a:rPr>
              <a:t>TikTok Ads</a:t>
            </a:r>
            <a:endParaRPr lang="en-US" sz="1150" dirty="0"/>
          </a:p>
        </p:txBody>
      </p:sp>
      <p:sp>
        <p:nvSpPr>
          <p:cNvPr id="10" name="Text 8"/>
          <p:cNvSpPr txBox="1"/>
          <p:nvPr/>
        </p:nvSpPr>
        <p:spPr>
          <a:xfrm>
            <a:off x="822960" y="2505456"/>
            <a:ext cx="4937760" cy="502920"/>
          </a:xfrm>
          <a:prstGeom prst="rect">
            <a:avLst/>
          </a:prstGeom>
          <a:noFill/>
          <a:ln/>
        </p:spPr>
        <p:txBody>
          <a:bodyPr wrap="square" lIns="0" tIns="0" rIns="0" bIns="0" rtlCol="0" anchor="t"/>
          <a:lstStyle/>
          <a:p>
            <a:pPr indent="0" marL="0">
              <a:lnSpc>
                <a:spcPct val="105000"/>
              </a:lnSpc>
              <a:buNone/>
            </a:pPr>
            <a:r>
              <a:rPr lang="en-US" sz="950" dirty="0">
                <a:solidFill>
                  <a:srgbClr val="3B1B0F"/>
                </a:solidFill>
                <a:latin typeface="Lato" pitchFamily="34" charset="0"/>
                <a:ea typeface="Lato" pitchFamily="34" charset="-122"/>
                <a:cs typeface="Lato" pitchFamily="34" charset="-120"/>
              </a:rPr>
              <a:t>CPM 0,26-0,30 €, 10,7 M d'impressions en 2025, 1,85 M rien qu'en juin 2026. Le levier le moins cher pour toucher les 13-24 ans (42 % de l'audience).</a:t>
            </a:r>
            <a:endParaRPr lang="en-US" sz="950" dirty="0"/>
          </a:p>
        </p:txBody>
      </p:sp>
      <p:sp>
        <p:nvSpPr>
          <p:cNvPr id="11" name="Text 9"/>
          <p:cNvSpPr txBox="1"/>
          <p:nvPr/>
        </p:nvSpPr>
        <p:spPr>
          <a:xfrm>
            <a:off x="822960" y="3026664"/>
            <a:ext cx="4937760" cy="274320"/>
          </a:xfrm>
          <a:prstGeom prst="rect">
            <a:avLst/>
          </a:prstGeom>
          <a:noFill/>
          <a:ln/>
        </p:spPr>
        <p:txBody>
          <a:bodyPr wrap="square" lIns="0" tIns="0" rIns="0" bIns="0" rtlCol="0" anchor="t"/>
          <a:lstStyle/>
          <a:p>
            <a:pPr indent="0" marL="0">
              <a:buNone/>
            </a:pPr>
            <a:r>
              <a:rPr lang="en-US" sz="1150" b="1" dirty="0">
                <a:solidFill>
                  <a:srgbClr val="922D18"/>
                </a:solidFill>
                <a:latin typeface="Lato" pitchFamily="34" charset="0"/>
                <a:ea typeface="Lato" pitchFamily="34" charset="-122"/>
                <a:cs typeface="Lato" pitchFamily="34" charset="-120"/>
              </a:rPr>
              <a:t>Inside · POV · Micro-trottoir · FAQ expert</a:t>
            </a:r>
            <a:endParaRPr lang="en-US" sz="1150" dirty="0"/>
          </a:p>
        </p:txBody>
      </p:sp>
      <p:sp>
        <p:nvSpPr>
          <p:cNvPr id="12" name="Text 10"/>
          <p:cNvSpPr txBox="1"/>
          <p:nvPr/>
        </p:nvSpPr>
        <p:spPr>
          <a:xfrm>
            <a:off x="822960" y="3291840"/>
            <a:ext cx="4937760" cy="502920"/>
          </a:xfrm>
          <a:prstGeom prst="rect">
            <a:avLst/>
          </a:prstGeom>
          <a:noFill/>
          <a:ln/>
        </p:spPr>
        <p:txBody>
          <a:bodyPr wrap="square" lIns="0" tIns="0" rIns="0" bIns="0" rtlCol="0" anchor="t"/>
          <a:lstStyle/>
          <a:p>
            <a:pPr indent="0" marL="0">
              <a:lnSpc>
                <a:spcPct val="105000"/>
              </a:lnSpc>
              <a:buNone/>
            </a:pPr>
            <a:r>
              <a:rPr lang="en-US" sz="950" dirty="0">
                <a:solidFill>
                  <a:srgbClr val="3B1B0F"/>
                </a:solidFill>
                <a:latin typeface="Lato" pitchFamily="34" charset="0"/>
                <a:ea typeface="Lato" pitchFamily="34" charset="-122"/>
                <a:cs typeface="Lato" pitchFamily="34" charset="-120"/>
              </a:rPr>
              <a:t>Les meilleurs hook rates (36 % sur le POV « tes potes en stage ») et la totalité des visites site issues des ads.</a:t>
            </a:r>
            <a:endParaRPr lang="en-US" sz="950" dirty="0"/>
          </a:p>
        </p:txBody>
      </p:sp>
      <p:sp>
        <p:nvSpPr>
          <p:cNvPr id="13" name="Text 11"/>
          <p:cNvSpPr txBox="1"/>
          <p:nvPr/>
        </p:nvSpPr>
        <p:spPr>
          <a:xfrm>
            <a:off x="822960" y="3813048"/>
            <a:ext cx="4937760" cy="274320"/>
          </a:xfrm>
          <a:prstGeom prst="rect">
            <a:avLst/>
          </a:prstGeom>
          <a:noFill/>
          <a:ln/>
        </p:spPr>
        <p:txBody>
          <a:bodyPr wrap="square" lIns="0" tIns="0" rIns="0" bIns="0" rtlCol="0" anchor="t"/>
          <a:lstStyle/>
          <a:p>
            <a:pPr indent="0" marL="0">
              <a:buNone/>
            </a:pPr>
            <a:r>
              <a:rPr lang="en-US" sz="1150" b="1" dirty="0">
                <a:solidFill>
                  <a:srgbClr val="922D18"/>
                </a:solidFill>
                <a:latin typeface="Lato" pitchFamily="34" charset="0"/>
                <a:ea typeface="Lato" pitchFamily="34" charset="-122"/>
                <a:cs typeface="Lato" pitchFamily="34" charset="-120"/>
              </a:rPr>
              <a:t>La cadence 16-18 publications / mois</a:t>
            </a:r>
            <a:endParaRPr lang="en-US" sz="1150" dirty="0"/>
          </a:p>
        </p:txBody>
      </p:sp>
      <p:sp>
        <p:nvSpPr>
          <p:cNvPr id="14" name="Text 12"/>
          <p:cNvSpPr txBox="1"/>
          <p:nvPr/>
        </p:nvSpPr>
        <p:spPr>
          <a:xfrm>
            <a:off x="822960" y="4078224"/>
            <a:ext cx="4937760" cy="502920"/>
          </a:xfrm>
          <a:prstGeom prst="rect">
            <a:avLst/>
          </a:prstGeom>
          <a:noFill/>
          <a:ln/>
        </p:spPr>
        <p:txBody>
          <a:bodyPr wrap="square" lIns="0" tIns="0" rIns="0" bIns="0" rtlCol="0" anchor="t"/>
          <a:lstStyle/>
          <a:p>
            <a:pPr indent="0" marL="0">
              <a:lnSpc>
                <a:spcPct val="105000"/>
              </a:lnSpc>
              <a:buNone/>
            </a:pPr>
            <a:r>
              <a:rPr lang="en-US" sz="950" dirty="0">
                <a:solidFill>
                  <a:srgbClr val="3B1B0F"/>
                </a:solidFill>
                <a:latin typeface="Lato" pitchFamily="34" charset="0"/>
                <a:ea typeface="Lato" pitchFamily="34" charset="-122"/>
                <a:cs typeface="Lato" pitchFamily="34" charset="-120"/>
              </a:rPr>
              <a:t>Tenue sans trou depuis mars 2026 : c'est ce qui a relancé Instagram (+938 abonnés en 5 mois).</a:t>
            </a:r>
            <a:endParaRPr lang="en-US" sz="950" dirty="0"/>
          </a:p>
        </p:txBody>
      </p:sp>
      <p:sp>
        <p:nvSpPr>
          <p:cNvPr id="15" name="Text 13"/>
          <p:cNvSpPr txBox="1"/>
          <p:nvPr/>
        </p:nvSpPr>
        <p:spPr>
          <a:xfrm>
            <a:off x="822960" y="4599432"/>
            <a:ext cx="4937760" cy="274320"/>
          </a:xfrm>
          <a:prstGeom prst="rect">
            <a:avLst/>
          </a:prstGeom>
          <a:noFill/>
          <a:ln/>
        </p:spPr>
        <p:txBody>
          <a:bodyPr wrap="square" lIns="0" tIns="0" rIns="0" bIns="0" rtlCol="0" anchor="t"/>
          <a:lstStyle/>
          <a:p>
            <a:pPr indent="0" marL="0">
              <a:buNone/>
            </a:pPr>
            <a:r>
              <a:rPr lang="en-US" sz="1150" b="1" dirty="0">
                <a:solidFill>
                  <a:srgbClr val="922D18"/>
                </a:solidFill>
                <a:latin typeface="Lato" pitchFamily="34" charset="0"/>
                <a:ea typeface="Lato" pitchFamily="34" charset="-122"/>
                <a:cs typeface="Lato" pitchFamily="34" charset="-120"/>
              </a:rPr>
              <a:t>LinkedIn ANMF</a:t>
            </a:r>
            <a:endParaRPr lang="en-US" sz="1150" dirty="0"/>
          </a:p>
        </p:txBody>
      </p:sp>
      <p:sp>
        <p:nvSpPr>
          <p:cNvPr id="16" name="Text 14"/>
          <p:cNvSpPr txBox="1"/>
          <p:nvPr/>
        </p:nvSpPr>
        <p:spPr>
          <a:xfrm>
            <a:off x="822960" y="4864608"/>
            <a:ext cx="4937760" cy="502920"/>
          </a:xfrm>
          <a:prstGeom prst="rect">
            <a:avLst/>
          </a:prstGeom>
          <a:noFill/>
          <a:ln/>
        </p:spPr>
        <p:txBody>
          <a:bodyPr wrap="square" lIns="0" tIns="0" rIns="0" bIns="0" rtlCol="0" anchor="t"/>
          <a:lstStyle/>
          <a:p>
            <a:pPr indent="0" marL="0">
              <a:lnSpc>
                <a:spcPct val="105000"/>
              </a:lnSpc>
              <a:buNone/>
            </a:pPr>
            <a:r>
              <a:rPr lang="en-US" sz="950" dirty="0">
                <a:solidFill>
                  <a:srgbClr val="3B1B0F"/>
                </a:solidFill>
                <a:latin typeface="Lato" pitchFamily="34" charset="0"/>
                <a:ea typeface="Lato" pitchFamily="34" charset="-122"/>
                <a:cs typeface="Lato" pitchFamily="34" charset="-120"/>
              </a:rPr>
              <a:t>Taux d'engagement 10 % en 2025, 25 % en juin 2026, +27 % d'abonnés. Le seul canal qui parle aux prescripteurs.</a:t>
            </a:r>
            <a:endParaRPr lang="en-US" sz="950" dirty="0"/>
          </a:p>
        </p:txBody>
      </p:sp>
      <p:sp>
        <p:nvSpPr>
          <p:cNvPr id="17" name="Text 15"/>
          <p:cNvSpPr txBox="1"/>
          <p:nvPr/>
        </p:nvSpPr>
        <p:spPr>
          <a:xfrm>
            <a:off x="822960" y="5385816"/>
            <a:ext cx="4937760" cy="274320"/>
          </a:xfrm>
          <a:prstGeom prst="rect">
            <a:avLst/>
          </a:prstGeom>
          <a:noFill/>
          <a:ln/>
        </p:spPr>
        <p:txBody>
          <a:bodyPr wrap="square" lIns="0" tIns="0" rIns="0" bIns="0" rtlCol="0" anchor="t"/>
          <a:lstStyle/>
          <a:p>
            <a:pPr indent="0" marL="0">
              <a:buNone/>
            </a:pPr>
            <a:r>
              <a:rPr lang="en-US" sz="1150" b="1" dirty="0">
                <a:solidFill>
                  <a:srgbClr val="922D18"/>
                </a:solidFill>
                <a:latin typeface="Lato" pitchFamily="34" charset="0"/>
                <a:ea typeface="Lato" pitchFamily="34" charset="-122"/>
                <a:cs typeface="Lato" pitchFamily="34" charset="-120"/>
              </a:rPr>
              <a:t>Les stories interactives</a:t>
            </a:r>
            <a:endParaRPr lang="en-US" sz="1150" dirty="0"/>
          </a:p>
        </p:txBody>
      </p:sp>
      <p:sp>
        <p:nvSpPr>
          <p:cNvPr id="18" name="Text 16"/>
          <p:cNvSpPr txBox="1"/>
          <p:nvPr/>
        </p:nvSpPr>
        <p:spPr>
          <a:xfrm>
            <a:off x="822960" y="5650992"/>
            <a:ext cx="4937760" cy="502920"/>
          </a:xfrm>
          <a:prstGeom prst="rect">
            <a:avLst/>
          </a:prstGeom>
          <a:noFill/>
          <a:ln/>
        </p:spPr>
        <p:txBody>
          <a:bodyPr wrap="square" lIns="0" tIns="0" rIns="0" bIns="0" rtlCol="0" anchor="t"/>
          <a:lstStyle/>
          <a:p>
            <a:pPr indent="0" marL="0">
              <a:lnSpc>
                <a:spcPct val="105000"/>
              </a:lnSpc>
              <a:buNone/>
            </a:pPr>
            <a:r>
              <a:rPr lang="en-US" sz="950" dirty="0">
                <a:solidFill>
                  <a:srgbClr val="3B1B0F"/>
                </a:solidFill>
                <a:latin typeface="Lato" pitchFamily="34" charset="0"/>
                <a:ea typeface="Lato" pitchFamily="34" charset="-122"/>
                <a:cs typeface="Lato" pitchFamily="34" charset="-120"/>
              </a:rPr>
              <a:t>Grain de vérité, T'es plutôt, La bonne graine, Le compte est bon : 3 sets par mois, mécaniques natives, zéro média.</a:t>
            </a:r>
            <a:endParaRPr lang="en-US" sz="950" dirty="0"/>
          </a:p>
        </p:txBody>
      </p:sp>
      <p:sp>
        <p:nvSpPr>
          <p:cNvPr id="19" name="Shape 17"/>
          <p:cNvSpPr/>
          <p:nvPr/>
        </p:nvSpPr>
        <p:spPr>
          <a:xfrm>
            <a:off x="6217920" y="1645920"/>
            <a:ext cx="5440680" cy="4617720"/>
          </a:xfrm>
          <a:prstGeom prst="roundRect">
            <a:avLst>
              <a:gd name="adj" fmla="val 3564"/>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20" name="Shape 18"/>
          <p:cNvSpPr/>
          <p:nvPr/>
        </p:nvSpPr>
        <p:spPr>
          <a:xfrm>
            <a:off x="6446520" y="1828800"/>
            <a:ext cx="1554480" cy="292608"/>
          </a:xfrm>
          <a:prstGeom prst="roundRect">
            <a:avLst>
              <a:gd name="adj" fmla="val 50000"/>
            </a:avLst>
          </a:prstGeom>
          <a:solidFill>
            <a:srgbClr val="E45728"/>
          </a:solidFill>
          <a:ln w="12700">
            <a:solidFill>
              <a:srgbClr val="E45728"/>
            </a:solidFill>
            <a:prstDash val="solid"/>
          </a:ln>
        </p:spPr>
      </p:sp>
      <p:sp>
        <p:nvSpPr>
          <p:cNvPr id="21" name="Text 19"/>
          <p:cNvSpPr txBox="1"/>
          <p:nvPr/>
        </p:nvSpPr>
        <p:spPr>
          <a:xfrm>
            <a:off x="6446520" y="1828800"/>
            <a:ext cx="1554480"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Fredoka" pitchFamily="34" charset="0"/>
                <a:ea typeface="Fredoka" pitchFamily="34" charset="-122"/>
                <a:cs typeface="Fredoka" pitchFamily="34" charset="-120"/>
              </a:rPr>
              <a:t>ON AMÉLIORE</a:t>
            </a:r>
            <a:endParaRPr lang="en-US" sz="1000" dirty="0"/>
          </a:p>
        </p:txBody>
      </p:sp>
      <p:sp>
        <p:nvSpPr>
          <p:cNvPr id="22" name="Text 20"/>
          <p:cNvSpPr txBox="1"/>
          <p:nvPr/>
        </p:nvSpPr>
        <p:spPr>
          <a:xfrm>
            <a:off x="6492240" y="2240280"/>
            <a:ext cx="4937760" cy="274320"/>
          </a:xfrm>
          <a:prstGeom prst="rect">
            <a:avLst/>
          </a:prstGeom>
          <a:noFill/>
          <a:ln/>
        </p:spPr>
        <p:txBody>
          <a:bodyPr wrap="square" lIns="0" tIns="0" rIns="0" bIns="0" rtlCol="0" anchor="t"/>
          <a:lstStyle/>
          <a:p>
            <a:pPr indent="0" marL="0">
              <a:buNone/>
            </a:pPr>
            <a:r>
              <a:rPr lang="en-US" sz="1150" b="1" dirty="0">
                <a:solidFill>
                  <a:srgbClr val="922D18"/>
                </a:solidFill>
                <a:latin typeface="Lato" pitchFamily="34" charset="0"/>
                <a:ea typeface="Lato" pitchFamily="34" charset="-122"/>
                <a:cs typeface="Lato" pitchFamily="34" charset="-120"/>
              </a:rPr>
              <a:t>Le ciblage Meta</a:t>
            </a:r>
            <a:endParaRPr lang="en-US" sz="1150" dirty="0"/>
          </a:p>
        </p:txBody>
      </p:sp>
      <p:sp>
        <p:nvSpPr>
          <p:cNvPr id="23" name="Text 21"/>
          <p:cNvSpPr txBox="1"/>
          <p:nvPr/>
        </p:nvSpPr>
        <p:spPr>
          <a:xfrm>
            <a:off x="6492240" y="2505456"/>
            <a:ext cx="4937760" cy="502920"/>
          </a:xfrm>
          <a:prstGeom prst="rect">
            <a:avLst/>
          </a:prstGeom>
          <a:noFill/>
          <a:ln/>
        </p:spPr>
        <p:txBody>
          <a:bodyPr wrap="square" lIns="0" tIns="0" rIns="0" bIns="0" rtlCol="0" anchor="t"/>
          <a:lstStyle/>
          <a:p>
            <a:pPr indent="0" marL="0">
              <a:lnSpc>
                <a:spcPct val="105000"/>
              </a:lnSpc>
              <a:buNone/>
            </a:pPr>
            <a:r>
              <a:rPr lang="en-US" sz="950" dirty="0">
                <a:solidFill>
                  <a:srgbClr val="3B1B0F"/>
                </a:solidFill>
                <a:latin typeface="Lato" pitchFamily="34" charset="0"/>
                <a:ea typeface="Lato" pitchFamily="34" charset="-122"/>
                <a:cs typeface="Lato" pitchFamily="34" charset="-120"/>
              </a:rPr>
              <a:t>45-54 ans = 22 % de l'audience 2025, 65+ en tête des impressions en juin 2026. Cible 16-30 : audiences, placements Reels et créas jeunes en priorité.</a:t>
            </a:r>
            <a:endParaRPr lang="en-US" sz="950" dirty="0"/>
          </a:p>
        </p:txBody>
      </p:sp>
      <p:sp>
        <p:nvSpPr>
          <p:cNvPr id="24" name="Text 22"/>
          <p:cNvSpPr txBox="1"/>
          <p:nvPr/>
        </p:nvSpPr>
        <p:spPr>
          <a:xfrm>
            <a:off x="6492240" y="3026664"/>
            <a:ext cx="4937760" cy="274320"/>
          </a:xfrm>
          <a:prstGeom prst="rect">
            <a:avLst/>
          </a:prstGeom>
          <a:noFill/>
          <a:ln/>
        </p:spPr>
        <p:txBody>
          <a:bodyPr wrap="square" lIns="0" tIns="0" rIns="0" bIns="0" rtlCol="0" anchor="t"/>
          <a:lstStyle/>
          <a:p>
            <a:pPr indent="0" marL="0">
              <a:buNone/>
            </a:pPr>
            <a:r>
              <a:rPr lang="en-US" sz="1150" b="1" dirty="0">
                <a:solidFill>
                  <a:srgbClr val="922D18"/>
                </a:solidFill>
                <a:latin typeface="Lato" pitchFamily="34" charset="0"/>
                <a:ea typeface="Lato" pitchFamily="34" charset="-122"/>
                <a:cs typeface="Lato" pitchFamily="34" charset="-120"/>
              </a:rPr>
              <a:t>L'optimisation des campagnes</a:t>
            </a:r>
            <a:endParaRPr lang="en-US" sz="1150" dirty="0"/>
          </a:p>
        </p:txBody>
      </p:sp>
      <p:sp>
        <p:nvSpPr>
          <p:cNvPr id="25" name="Text 23"/>
          <p:cNvSpPr txBox="1"/>
          <p:nvPr/>
        </p:nvSpPr>
        <p:spPr>
          <a:xfrm>
            <a:off x="6492240" y="3291840"/>
            <a:ext cx="4937760" cy="502920"/>
          </a:xfrm>
          <a:prstGeom prst="rect">
            <a:avLst/>
          </a:prstGeom>
          <a:noFill/>
          <a:ln/>
        </p:spPr>
        <p:txBody>
          <a:bodyPr wrap="square" lIns="0" tIns="0" rIns="0" bIns="0" rtlCol="0" anchor="t"/>
          <a:lstStyle/>
          <a:p>
            <a:pPr indent="0" marL="0">
              <a:lnSpc>
                <a:spcPct val="105000"/>
              </a:lnSpc>
              <a:buNone/>
            </a:pPr>
            <a:r>
              <a:rPr lang="en-US" sz="950" dirty="0">
                <a:solidFill>
                  <a:srgbClr val="3B1B0F"/>
                </a:solidFill>
                <a:latin typeface="Lato" pitchFamily="34" charset="0"/>
                <a:ea typeface="Lato" pitchFamily="34" charset="-122"/>
                <a:cs typeface="Lato" pitchFamily="34" charset="-120"/>
              </a:rPr>
              <a:t>Aujourd'hui sur le clic. Demain sur la session engagée puis le lead, via événements GA4 et pixels Meta / TikTok.</a:t>
            </a:r>
            <a:endParaRPr lang="en-US" sz="950" dirty="0"/>
          </a:p>
        </p:txBody>
      </p:sp>
      <p:sp>
        <p:nvSpPr>
          <p:cNvPr id="26" name="Text 24"/>
          <p:cNvSpPr txBox="1"/>
          <p:nvPr/>
        </p:nvSpPr>
        <p:spPr>
          <a:xfrm>
            <a:off x="6492240" y="3813048"/>
            <a:ext cx="4937760" cy="274320"/>
          </a:xfrm>
          <a:prstGeom prst="rect">
            <a:avLst/>
          </a:prstGeom>
          <a:noFill/>
          <a:ln/>
        </p:spPr>
        <p:txBody>
          <a:bodyPr wrap="square" lIns="0" tIns="0" rIns="0" bIns="0" rtlCol="0" anchor="t"/>
          <a:lstStyle/>
          <a:p>
            <a:pPr indent="0" marL="0">
              <a:buNone/>
            </a:pPr>
            <a:r>
              <a:rPr lang="en-US" sz="1150" b="1" dirty="0">
                <a:solidFill>
                  <a:srgbClr val="922D18"/>
                </a:solidFill>
                <a:latin typeface="Lato" pitchFamily="34" charset="0"/>
                <a:ea typeface="Lato" pitchFamily="34" charset="-122"/>
                <a:cs typeface="Lato" pitchFamily="34" charset="-120"/>
              </a:rPr>
              <a:t>Le retargeting</a:t>
            </a:r>
            <a:endParaRPr lang="en-US" sz="1150" dirty="0"/>
          </a:p>
        </p:txBody>
      </p:sp>
      <p:sp>
        <p:nvSpPr>
          <p:cNvPr id="27" name="Text 25"/>
          <p:cNvSpPr txBox="1"/>
          <p:nvPr/>
        </p:nvSpPr>
        <p:spPr>
          <a:xfrm>
            <a:off x="6492240" y="4078224"/>
            <a:ext cx="4937760" cy="502920"/>
          </a:xfrm>
          <a:prstGeom prst="rect">
            <a:avLst/>
          </a:prstGeom>
          <a:noFill/>
          <a:ln/>
        </p:spPr>
        <p:txBody>
          <a:bodyPr wrap="square" lIns="0" tIns="0" rIns="0" bIns="0" rtlCol="0" anchor="t"/>
          <a:lstStyle/>
          <a:p>
            <a:pPr indent="0" marL="0">
              <a:lnSpc>
                <a:spcPct val="105000"/>
              </a:lnSpc>
              <a:buNone/>
            </a:pPr>
            <a:r>
              <a:rPr lang="en-US" sz="950" dirty="0">
                <a:solidFill>
                  <a:srgbClr val="3B1B0F"/>
                </a:solidFill>
                <a:latin typeface="Lato" pitchFamily="34" charset="0"/>
                <a:ea typeface="Lato" pitchFamily="34" charset="-122"/>
                <a:cs typeface="Lato" pitchFamily="34" charset="-120"/>
              </a:rPr>
              <a:t>60 000 visiteurs en 2026 jamais recontactés. Une audience site + engagés vidéo à relancer avec les témoignages.</a:t>
            </a:r>
            <a:endParaRPr lang="en-US" sz="950" dirty="0"/>
          </a:p>
        </p:txBody>
      </p:sp>
      <p:sp>
        <p:nvSpPr>
          <p:cNvPr id="28" name="Text 26"/>
          <p:cNvSpPr txBox="1"/>
          <p:nvPr/>
        </p:nvSpPr>
        <p:spPr>
          <a:xfrm>
            <a:off x="6492240" y="4599432"/>
            <a:ext cx="4937760" cy="274320"/>
          </a:xfrm>
          <a:prstGeom prst="rect">
            <a:avLst/>
          </a:prstGeom>
          <a:noFill/>
          <a:ln/>
        </p:spPr>
        <p:txBody>
          <a:bodyPr wrap="square" lIns="0" tIns="0" rIns="0" bIns="0" rtlCol="0" anchor="t"/>
          <a:lstStyle/>
          <a:p>
            <a:pPr indent="0" marL="0">
              <a:buNone/>
            </a:pPr>
            <a:r>
              <a:rPr lang="en-US" sz="1150" b="1" dirty="0">
                <a:solidFill>
                  <a:srgbClr val="922D18"/>
                </a:solidFill>
                <a:latin typeface="Lato" pitchFamily="34" charset="0"/>
                <a:ea typeface="Lato" pitchFamily="34" charset="-122"/>
                <a:cs typeface="Lato" pitchFamily="34" charset="-120"/>
              </a:rPr>
              <a:t>La mesure des stories</a:t>
            </a:r>
            <a:endParaRPr lang="en-US" sz="1150" dirty="0"/>
          </a:p>
        </p:txBody>
      </p:sp>
      <p:sp>
        <p:nvSpPr>
          <p:cNvPr id="29" name="Text 27"/>
          <p:cNvSpPr txBox="1"/>
          <p:nvPr/>
        </p:nvSpPr>
        <p:spPr>
          <a:xfrm>
            <a:off x="6492240" y="4864608"/>
            <a:ext cx="4937760" cy="502920"/>
          </a:xfrm>
          <a:prstGeom prst="rect">
            <a:avLst/>
          </a:prstGeom>
          <a:noFill/>
          <a:ln/>
        </p:spPr>
        <p:txBody>
          <a:bodyPr wrap="square" lIns="0" tIns="0" rIns="0" bIns="0" rtlCol="0" anchor="t"/>
          <a:lstStyle/>
          <a:p>
            <a:pPr indent="0" marL="0">
              <a:lnSpc>
                <a:spcPct val="105000"/>
              </a:lnSpc>
              <a:buNone/>
            </a:pPr>
            <a:r>
              <a:rPr lang="en-US" sz="950" dirty="0">
                <a:solidFill>
                  <a:srgbClr val="3B1B0F"/>
                </a:solidFill>
                <a:latin typeface="Lato" pitchFamily="34" charset="0"/>
                <a:ea typeface="Lato" pitchFamily="34" charset="-122"/>
                <a:cs typeface="Lato" pitchFamily="34" charset="-120"/>
              </a:rPr>
              <a:t>3 sets par mois, aucun KPI dans le reporting. Réponses aux stickers et clics lien à intégrer au dashboard.</a:t>
            </a:r>
            <a:endParaRPr lang="en-US" sz="950" dirty="0"/>
          </a:p>
        </p:txBody>
      </p:sp>
      <p:sp>
        <p:nvSpPr>
          <p:cNvPr id="30" name="Text 28"/>
          <p:cNvSpPr txBox="1"/>
          <p:nvPr/>
        </p:nvSpPr>
        <p:spPr>
          <a:xfrm>
            <a:off x="6492240" y="5385816"/>
            <a:ext cx="4937760" cy="274320"/>
          </a:xfrm>
          <a:prstGeom prst="rect">
            <a:avLst/>
          </a:prstGeom>
          <a:noFill/>
          <a:ln/>
        </p:spPr>
        <p:txBody>
          <a:bodyPr wrap="square" lIns="0" tIns="0" rIns="0" bIns="0" rtlCol="0" anchor="t"/>
          <a:lstStyle/>
          <a:p>
            <a:pPr indent="0" marL="0">
              <a:buNone/>
            </a:pPr>
            <a:r>
              <a:rPr lang="en-US" sz="1150" b="1" dirty="0">
                <a:solidFill>
                  <a:srgbClr val="922D18"/>
                </a:solidFill>
                <a:latin typeface="Lato" pitchFamily="34" charset="0"/>
                <a:ea typeface="Lato" pitchFamily="34" charset="-122"/>
                <a:cs typeface="Lato" pitchFamily="34" charset="-120"/>
              </a:rPr>
              <a:t>L'UGC</a:t>
            </a:r>
            <a:endParaRPr lang="en-US" sz="1150" dirty="0"/>
          </a:p>
        </p:txBody>
      </p:sp>
      <p:sp>
        <p:nvSpPr>
          <p:cNvPr id="31" name="Text 29"/>
          <p:cNvSpPr txBox="1"/>
          <p:nvPr/>
        </p:nvSpPr>
        <p:spPr>
          <a:xfrm>
            <a:off x="6492240" y="5650992"/>
            <a:ext cx="4937760" cy="502920"/>
          </a:xfrm>
          <a:prstGeom prst="rect">
            <a:avLst/>
          </a:prstGeom>
          <a:noFill/>
          <a:ln/>
        </p:spPr>
        <p:txBody>
          <a:bodyPr wrap="square" lIns="0" tIns="0" rIns="0" bIns="0" rtlCol="0" anchor="t"/>
          <a:lstStyle/>
          <a:p>
            <a:pPr indent="0" marL="0">
              <a:lnSpc>
                <a:spcPct val="105000"/>
              </a:lnSpc>
              <a:buNone/>
            </a:pPr>
            <a:r>
              <a:rPr lang="en-US" sz="950" dirty="0">
                <a:solidFill>
                  <a:srgbClr val="3B1B0F"/>
                </a:solidFill>
                <a:latin typeface="Lato" pitchFamily="34" charset="0"/>
                <a:ea typeface="Lato" pitchFamily="34" charset="-122"/>
                <a:cs typeface="Lato" pitchFamily="34" charset="-120"/>
              </a:rPr>
              <a:t>Passer d'une créatrice à un programme d'apprentis-ambassadeurs : 4 profils, 1 vidéo par mois chacun, brief et cadre contractuel.</a:t>
            </a:r>
            <a:endParaRPr lang="en-US" sz="950" dirty="0"/>
          </a:p>
        </p:txBody>
      </p:sp>
      <p:sp>
        <p:nvSpPr>
          <p:cNvPr id="32" name="Text 30"/>
          <p:cNvSpPr txBox="1"/>
          <p:nvPr/>
        </p:nvSpPr>
        <p:spPr>
          <a:xfrm>
            <a:off x="548640" y="6446520"/>
            <a:ext cx="9601200" cy="274320"/>
          </a:xfrm>
          <a:prstGeom prst="rect">
            <a:avLst/>
          </a:prstGeom>
          <a:noFill/>
          <a:ln/>
        </p:spPr>
        <p:txBody>
          <a:bodyPr wrap="square" lIns="0" tIns="0" rIns="0" bIns="0" rtlCol="0" anchor="ctr"/>
          <a:lstStyle/>
          <a:p>
            <a:pPr indent="0" marL="0">
              <a:buNone/>
            </a:pPr>
            <a:r>
              <a:rPr lang="en-US" sz="850" i="1" dirty="0">
                <a:solidFill>
                  <a:srgbClr val="7A5A4A"/>
                </a:solidFill>
                <a:latin typeface="Lato" pitchFamily="34" charset="0"/>
                <a:ea typeface="Lato" pitchFamily="34" charset="-122"/>
                <a:cs typeface="Lato" pitchFamily="34" charset="-120"/>
              </a:rPr>
              <a:t>Chiffres : reportings Looker 2025 et juin 2026, API Meta Ads, GA4, board Monday PE 2026.</a:t>
            </a:r>
            <a:endParaRPr lang="en-US" sz="850" dirty="0"/>
          </a:p>
        </p:txBody>
      </p:sp>
      <p:pic>
        <p:nvPicPr>
          <p:cNvPr id="33" name="Image 0" descr="/tmp/claude-0/-home-user-Dashboard-Antidotes/19e64f65-f236-5057-97fe-8b787e5e46cb/scratchpad/assets/ChasseursDeGraines_Logo_Quadri.png">    </p:cNvPr>
          <p:cNvPicPr>
            <a:picLocks noChangeAspect="1"/>
          </p:cNvPicPr>
          <p:nvPr/>
        </p:nvPicPr>
        <p:blipFill>
          <a:blip r:embed="rId1"/>
          <a:stretch>
            <a:fillRect/>
          </a:stretch>
        </p:blipFill>
        <p:spPr>
          <a:xfrm>
            <a:off x="10561320" y="6263640"/>
            <a:ext cx="1188720" cy="57607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EBDA"/>
        </a:solidFill>
      </p:bgPr>
    </p:bg>
    <p:spTree>
      <p:nvGrpSpPr>
        <p:cNvPr id="1" name=""/>
        <p:cNvGrpSpPr/>
        <p:nvPr/>
      </p:nvGrpSpPr>
      <p:grpSpPr>
        <a:xfrm>
          <a:off x="0" y="0"/>
          <a:ext cx="0" cy="0"/>
          <a:chOff x="0" y="0"/>
          <a:chExt cx="0" cy="0"/>
        </a:xfrm>
      </p:grpSpPr>
      <p:sp>
        <p:nvSpPr>
          <p:cNvPr id="2" name="Shape 0"/>
          <p:cNvSpPr/>
          <p:nvPr/>
        </p:nvSpPr>
        <p:spPr>
          <a:xfrm>
            <a:off x="548640" y="182880"/>
            <a:ext cx="3154680" cy="274320"/>
          </a:xfrm>
          <a:prstGeom prst="roundRect">
            <a:avLst>
              <a:gd name="adj" fmla="val 50000"/>
            </a:avLst>
          </a:prstGeom>
          <a:solidFill>
            <a:srgbClr val="E45728"/>
          </a:solidFill>
          <a:ln w="12700">
            <a:solidFill>
              <a:srgbClr val="E45728"/>
            </a:solidFill>
            <a:prstDash val="solid"/>
          </a:ln>
        </p:spPr>
      </p:sp>
      <p:sp>
        <p:nvSpPr>
          <p:cNvPr id="3" name="Text 1"/>
          <p:cNvSpPr txBox="1"/>
          <p:nvPr/>
        </p:nvSpPr>
        <p:spPr>
          <a:xfrm>
            <a:off x="548640" y="182880"/>
            <a:ext cx="315468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Fredoka" pitchFamily="34" charset="0"/>
                <a:ea typeface="Fredoka" pitchFamily="34" charset="-122"/>
                <a:cs typeface="Fredoka" pitchFamily="34" charset="-120"/>
              </a:rPr>
              <a:t>RECOMMANDATIONS · 3/4</a:t>
            </a:r>
            <a:endParaRPr lang="en-US" sz="950" dirty="0"/>
          </a:p>
        </p:txBody>
      </p:sp>
      <p:sp>
        <p:nvSpPr>
          <p:cNvPr id="4" name="Text 2"/>
          <p:cNvSpPr txBox="1"/>
          <p:nvPr/>
        </p:nvSpPr>
        <p:spPr>
          <a:xfrm>
            <a:off x="548640" y="411480"/>
            <a:ext cx="10058400" cy="822960"/>
          </a:xfrm>
          <a:prstGeom prst="rect">
            <a:avLst/>
          </a:prstGeom>
          <a:noFill/>
          <a:ln/>
        </p:spPr>
        <p:txBody>
          <a:bodyPr wrap="square" lIns="0" tIns="0" rIns="0" bIns="0" rtlCol="0" anchor="ctr"/>
          <a:lstStyle/>
          <a:p>
            <a:pPr indent="0" marL="0">
              <a:buNone/>
            </a:pPr>
            <a:r>
              <a:rPr lang="en-US" sz="3400" b="1" dirty="0">
                <a:solidFill>
                  <a:srgbClr val="922D18"/>
                </a:solidFill>
                <a:latin typeface="Fredoka" pitchFamily="34" charset="0"/>
                <a:ea typeface="Fredoka" pitchFamily="34" charset="-122"/>
                <a:cs typeface="Fredoka" pitchFamily="34" charset="-120"/>
              </a:rPr>
              <a:t>On ajoute (1) : six leviers pour changer d'échelle</a:t>
            </a:r>
            <a:endParaRPr lang="en-US" sz="3400" dirty="0"/>
          </a:p>
        </p:txBody>
      </p:sp>
      <p:sp>
        <p:nvSpPr>
          <p:cNvPr id="5" name="Text 3"/>
          <p:cNvSpPr txBox="1"/>
          <p:nvPr/>
        </p:nvSpPr>
        <p:spPr>
          <a:xfrm>
            <a:off x="548640" y="1143000"/>
            <a:ext cx="10515600" cy="365760"/>
          </a:xfrm>
          <a:prstGeom prst="rect">
            <a:avLst/>
          </a:prstGeom>
          <a:noFill/>
          <a:ln/>
        </p:spPr>
        <p:txBody>
          <a:bodyPr wrap="square" lIns="0" tIns="0" rIns="0" bIns="0" rtlCol="0" anchor="t"/>
          <a:lstStyle/>
          <a:p>
            <a:pPr indent="0" marL="0">
              <a:buNone/>
            </a:pPr>
            <a:r>
              <a:rPr lang="en-US" sz="1250" dirty="0">
                <a:solidFill>
                  <a:srgbClr val="7A5A4A"/>
                </a:solidFill>
                <a:latin typeface="Lato" pitchFamily="34" charset="0"/>
                <a:ea typeface="Lato" pitchFamily="34" charset="-122"/>
                <a:cs typeface="Lato" pitchFamily="34" charset="-120"/>
              </a:rPr>
              <a:t>Le dispositif 2026 a prouvé le contenu et la médiatisation. 2027 va chercher la cible là où elle décide, et transforme l'audience en candidats.</a:t>
            </a:r>
            <a:endParaRPr lang="en-US" sz="1250" dirty="0"/>
          </a:p>
        </p:txBody>
      </p:sp>
      <p:sp>
        <p:nvSpPr>
          <p:cNvPr id="6" name="Shape 4"/>
          <p:cNvSpPr/>
          <p:nvPr/>
        </p:nvSpPr>
        <p:spPr>
          <a:xfrm>
            <a:off x="548640" y="1691640"/>
            <a:ext cx="3611880" cy="2148840"/>
          </a:xfrm>
          <a:prstGeom prst="roundRect">
            <a:avLst>
              <a:gd name="adj" fmla="val 7660"/>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7" name="Shape 5"/>
          <p:cNvSpPr/>
          <p:nvPr/>
        </p:nvSpPr>
        <p:spPr>
          <a:xfrm>
            <a:off x="777240" y="1920240"/>
            <a:ext cx="402336" cy="402336"/>
          </a:xfrm>
          <a:prstGeom prst="ellipse">
            <a:avLst/>
          </a:prstGeom>
          <a:solidFill>
            <a:srgbClr val="E45728"/>
          </a:solidFill>
          <a:ln w="12700">
            <a:solidFill>
              <a:srgbClr val="E45728"/>
            </a:solidFill>
            <a:prstDash val="solid"/>
          </a:ln>
        </p:spPr>
      </p:sp>
      <p:sp>
        <p:nvSpPr>
          <p:cNvPr id="8" name="Text 6"/>
          <p:cNvSpPr txBox="1"/>
          <p:nvPr/>
        </p:nvSpPr>
        <p:spPr>
          <a:xfrm>
            <a:off x="777240" y="19202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Fredoka" pitchFamily="34" charset="0"/>
                <a:ea typeface="Fredoka" pitchFamily="34" charset="-122"/>
                <a:cs typeface="Fredoka" pitchFamily="34" charset="-120"/>
              </a:rPr>
              <a:t>1</a:t>
            </a:r>
            <a:endParaRPr lang="en-US" sz="1300" dirty="0"/>
          </a:p>
        </p:txBody>
      </p:sp>
      <p:sp>
        <p:nvSpPr>
          <p:cNvPr id="9" name="Text 7"/>
          <p:cNvSpPr txBox="1"/>
          <p:nvPr/>
        </p:nvSpPr>
        <p:spPr>
          <a:xfrm>
            <a:off x="1298448" y="1892808"/>
            <a:ext cx="2697480" cy="457200"/>
          </a:xfrm>
          <a:prstGeom prst="rect">
            <a:avLst/>
          </a:prstGeom>
          <a:noFill/>
          <a:ln/>
        </p:spPr>
        <p:txBody>
          <a:bodyPr wrap="square" lIns="0" tIns="0" rIns="0" bIns="0" rtlCol="0" anchor="ctr"/>
          <a:lstStyle/>
          <a:p>
            <a:pPr indent="0" marL="0">
              <a:lnSpc>
                <a:spcPct val="95000"/>
              </a:lnSpc>
              <a:buNone/>
            </a:pPr>
            <a:r>
              <a:rPr lang="en-US" sz="1400" b="1" dirty="0">
                <a:solidFill>
                  <a:srgbClr val="922D18"/>
                </a:solidFill>
                <a:latin typeface="Fredoka" pitchFamily="34" charset="0"/>
                <a:ea typeface="Fredoka" pitchFamily="34" charset="-122"/>
                <a:cs typeface="Fredoka" pitchFamily="34" charset="-120"/>
              </a:rPr>
              <a:t>Opération Parcoursup</a:t>
            </a:r>
            <a:endParaRPr lang="en-US" sz="1400" dirty="0"/>
          </a:p>
        </p:txBody>
      </p:sp>
      <p:sp>
        <p:nvSpPr>
          <p:cNvPr id="10" name="Shape 8"/>
          <p:cNvSpPr/>
          <p:nvPr/>
        </p:nvSpPr>
        <p:spPr>
          <a:xfrm>
            <a:off x="777240" y="2468880"/>
            <a:ext cx="2103120" cy="237744"/>
          </a:xfrm>
          <a:prstGeom prst="roundRect">
            <a:avLst>
              <a:gd name="adj" fmla="val 50000"/>
            </a:avLst>
          </a:prstGeom>
          <a:solidFill>
            <a:srgbClr val="F6EBDA"/>
          </a:solidFill>
          <a:ln w="12700">
            <a:solidFill>
              <a:srgbClr val="F6EBDA"/>
            </a:solidFill>
            <a:prstDash val="solid"/>
          </a:ln>
        </p:spPr>
      </p:sp>
      <p:sp>
        <p:nvSpPr>
          <p:cNvPr id="11" name="Text 9"/>
          <p:cNvSpPr txBox="1"/>
          <p:nvPr/>
        </p:nvSpPr>
        <p:spPr>
          <a:xfrm>
            <a:off x="777240" y="2468880"/>
            <a:ext cx="2103120" cy="237744"/>
          </a:xfrm>
          <a:prstGeom prst="rect">
            <a:avLst/>
          </a:prstGeom>
          <a:noFill/>
          <a:ln/>
        </p:spPr>
        <p:txBody>
          <a:bodyPr wrap="square" lIns="0" tIns="0" rIns="0" bIns="0" rtlCol="0" anchor="ctr"/>
          <a:lstStyle/>
          <a:p>
            <a:pPr algn="ctr" indent="0" marL="0">
              <a:buNone/>
            </a:pPr>
            <a:r>
              <a:rPr lang="en-US" sz="750" b="1" spc="100" kern="0" dirty="0">
                <a:solidFill>
                  <a:srgbClr val="922D18"/>
                </a:solidFill>
                <a:latin typeface="Fredoka" pitchFamily="34" charset="0"/>
                <a:ea typeface="Fredoka" pitchFamily="34" charset="-122"/>
                <a:cs typeface="Fredoka" pitchFamily="34" charset="-120"/>
              </a:rPr>
              <a:t>LYCÉENS · CONVERSION</a:t>
            </a:r>
            <a:endParaRPr lang="en-US" sz="750" dirty="0"/>
          </a:p>
        </p:txBody>
      </p:sp>
      <p:sp>
        <p:nvSpPr>
          <p:cNvPr id="12" name="Text 10"/>
          <p:cNvSpPr txBox="1"/>
          <p:nvPr/>
        </p:nvSpPr>
        <p:spPr>
          <a:xfrm>
            <a:off x="777240" y="2788920"/>
            <a:ext cx="3154680" cy="960120"/>
          </a:xfrm>
          <a:prstGeom prst="rect">
            <a:avLst/>
          </a:prstGeom>
          <a:noFill/>
          <a:ln/>
        </p:spPr>
        <p:txBody>
          <a:bodyPr wrap="square" lIns="0" tIns="0" rIns="0" bIns="0" rtlCol="0" anchor="t"/>
          <a:lstStyle/>
          <a:p>
            <a:pPr indent="0" marL="0">
              <a:lnSpc>
                <a:spcPct val="106000"/>
              </a:lnSpc>
              <a:buNone/>
            </a:pPr>
            <a:r>
              <a:rPr lang="en-US" sz="960" dirty="0">
                <a:solidFill>
                  <a:srgbClr val="3B1B0F"/>
                </a:solidFill>
                <a:latin typeface="Lato" pitchFamily="34" charset="0"/>
                <a:ea typeface="Lato" pitchFamily="34" charset="-122"/>
                <a:cs typeface="Lato" pitchFamily="34" charset="-120"/>
              </a:rPr>
              <a:t>Du 15 janvier au 13 mars, la seule fenêtre où les lycéens choisissent. Série quotidienne « 48 h avant tes vœux », live TikTok apprenti + chef meunier, dark concentré sur 8 semaines vers la page lycéen.</a:t>
            </a:r>
            <a:endParaRPr lang="en-US" sz="960" dirty="0"/>
          </a:p>
        </p:txBody>
      </p:sp>
      <p:sp>
        <p:nvSpPr>
          <p:cNvPr id="13" name="Shape 11"/>
          <p:cNvSpPr/>
          <p:nvPr/>
        </p:nvSpPr>
        <p:spPr>
          <a:xfrm>
            <a:off x="4297680" y="1691640"/>
            <a:ext cx="3611880" cy="2148840"/>
          </a:xfrm>
          <a:prstGeom prst="roundRect">
            <a:avLst>
              <a:gd name="adj" fmla="val 7660"/>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14" name="Shape 12"/>
          <p:cNvSpPr/>
          <p:nvPr/>
        </p:nvSpPr>
        <p:spPr>
          <a:xfrm>
            <a:off x="4526280" y="1920240"/>
            <a:ext cx="402336" cy="402336"/>
          </a:xfrm>
          <a:prstGeom prst="ellipse">
            <a:avLst/>
          </a:prstGeom>
          <a:solidFill>
            <a:srgbClr val="E45728"/>
          </a:solidFill>
          <a:ln w="12700">
            <a:solidFill>
              <a:srgbClr val="E45728"/>
            </a:solidFill>
            <a:prstDash val="solid"/>
          </a:ln>
        </p:spPr>
      </p:sp>
      <p:sp>
        <p:nvSpPr>
          <p:cNvPr id="15" name="Text 13"/>
          <p:cNvSpPr txBox="1"/>
          <p:nvPr/>
        </p:nvSpPr>
        <p:spPr>
          <a:xfrm>
            <a:off x="4526280" y="19202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Fredoka" pitchFamily="34" charset="0"/>
                <a:ea typeface="Fredoka" pitchFamily="34" charset="-122"/>
                <a:cs typeface="Fredoka" pitchFamily="34" charset="-120"/>
              </a:rPr>
              <a:t>2</a:t>
            </a:r>
            <a:endParaRPr lang="en-US" sz="1300" dirty="0"/>
          </a:p>
        </p:txBody>
      </p:sp>
      <p:sp>
        <p:nvSpPr>
          <p:cNvPr id="16" name="Text 14"/>
          <p:cNvSpPr txBox="1"/>
          <p:nvPr/>
        </p:nvSpPr>
        <p:spPr>
          <a:xfrm>
            <a:off x="5047488" y="1892808"/>
            <a:ext cx="2697480" cy="457200"/>
          </a:xfrm>
          <a:prstGeom prst="rect">
            <a:avLst/>
          </a:prstGeom>
          <a:noFill/>
          <a:ln/>
        </p:spPr>
        <p:txBody>
          <a:bodyPr wrap="square" lIns="0" tIns="0" rIns="0" bIns="0" rtlCol="0" anchor="ctr"/>
          <a:lstStyle/>
          <a:p>
            <a:pPr indent="0" marL="0">
              <a:lnSpc>
                <a:spcPct val="95000"/>
              </a:lnSpc>
              <a:buNone/>
            </a:pPr>
            <a:r>
              <a:rPr lang="en-US" sz="1400" b="1" dirty="0">
                <a:solidFill>
                  <a:srgbClr val="922D18"/>
                </a:solidFill>
                <a:latin typeface="Fredoka" pitchFamily="34" charset="0"/>
                <a:ea typeface="Fredoka" pitchFamily="34" charset="-122"/>
                <a:cs typeface="Fredoka" pitchFamily="34" charset="-120"/>
              </a:rPr>
              <a:t>4 apprentis-ambassadeurs</a:t>
            </a:r>
            <a:endParaRPr lang="en-US" sz="1400" dirty="0"/>
          </a:p>
        </p:txBody>
      </p:sp>
      <p:sp>
        <p:nvSpPr>
          <p:cNvPr id="17" name="Shape 15"/>
          <p:cNvSpPr/>
          <p:nvPr/>
        </p:nvSpPr>
        <p:spPr>
          <a:xfrm>
            <a:off x="4526280" y="2468880"/>
            <a:ext cx="2103120" cy="237744"/>
          </a:xfrm>
          <a:prstGeom prst="roundRect">
            <a:avLst>
              <a:gd name="adj" fmla="val 50000"/>
            </a:avLst>
          </a:prstGeom>
          <a:solidFill>
            <a:srgbClr val="F6EBDA"/>
          </a:solidFill>
          <a:ln w="12700">
            <a:solidFill>
              <a:srgbClr val="F6EBDA"/>
            </a:solidFill>
            <a:prstDash val="solid"/>
          </a:ln>
        </p:spPr>
      </p:sp>
      <p:sp>
        <p:nvSpPr>
          <p:cNvPr id="18" name="Text 16"/>
          <p:cNvSpPr txBox="1"/>
          <p:nvPr/>
        </p:nvSpPr>
        <p:spPr>
          <a:xfrm>
            <a:off x="4526280" y="2468880"/>
            <a:ext cx="2103120" cy="237744"/>
          </a:xfrm>
          <a:prstGeom prst="rect">
            <a:avLst/>
          </a:prstGeom>
          <a:noFill/>
          <a:ln/>
        </p:spPr>
        <p:txBody>
          <a:bodyPr wrap="square" lIns="0" tIns="0" rIns="0" bIns="0" rtlCol="0" anchor="ctr"/>
          <a:lstStyle/>
          <a:p>
            <a:pPr algn="ctr" indent="0" marL="0">
              <a:buNone/>
            </a:pPr>
            <a:r>
              <a:rPr lang="en-US" sz="750" b="1" spc="100" kern="0" dirty="0">
                <a:solidFill>
                  <a:srgbClr val="922D18"/>
                </a:solidFill>
                <a:latin typeface="Fredoka" pitchFamily="34" charset="0"/>
                <a:ea typeface="Fredoka" pitchFamily="34" charset="-122"/>
                <a:cs typeface="Fredoka" pitchFamily="34" charset="-120"/>
              </a:rPr>
              <a:t>ÉTUDIANTS · PREUVE SOCIALE</a:t>
            </a:r>
            <a:endParaRPr lang="en-US" sz="750" dirty="0"/>
          </a:p>
        </p:txBody>
      </p:sp>
      <p:sp>
        <p:nvSpPr>
          <p:cNvPr id="19" name="Text 17"/>
          <p:cNvSpPr txBox="1"/>
          <p:nvPr/>
        </p:nvSpPr>
        <p:spPr>
          <a:xfrm>
            <a:off x="4526280" y="2788920"/>
            <a:ext cx="3154680" cy="960120"/>
          </a:xfrm>
          <a:prstGeom prst="rect">
            <a:avLst/>
          </a:prstGeom>
          <a:noFill/>
          <a:ln/>
        </p:spPr>
        <p:txBody>
          <a:bodyPr wrap="square" lIns="0" tIns="0" rIns="0" bIns="0" rtlCol="0" anchor="t"/>
          <a:lstStyle/>
          <a:p>
            <a:pPr indent="0" marL="0">
              <a:lnSpc>
                <a:spcPct val="106000"/>
              </a:lnSpc>
              <a:buNone/>
            </a:pPr>
            <a:r>
              <a:rPr lang="en-US" sz="960" dirty="0">
                <a:solidFill>
                  <a:srgbClr val="3B1B0F"/>
                </a:solidFill>
                <a:latin typeface="Lato" pitchFamily="34" charset="0"/>
                <a:ea typeface="Lato" pitchFamily="34" charset="-122"/>
                <a:cs typeface="Lato" pitchFamily="34" charset="-120"/>
              </a:rPr>
              <a:t>Quatre apprentis dans quatre moulins filment leur mois en vlog de 60 s. Plus crédible qu'une créatrice extérieure, un vivier de témoignages pour le site et les ads, et un calendrier qu'on tient.</a:t>
            </a:r>
            <a:endParaRPr lang="en-US" sz="960" dirty="0"/>
          </a:p>
        </p:txBody>
      </p:sp>
      <p:sp>
        <p:nvSpPr>
          <p:cNvPr id="20" name="Shape 18"/>
          <p:cNvSpPr/>
          <p:nvPr/>
        </p:nvSpPr>
        <p:spPr>
          <a:xfrm>
            <a:off x="8046720" y="1691640"/>
            <a:ext cx="3611880" cy="2148840"/>
          </a:xfrm>
          <a:prstGeom prst="roundRect">
            <a:avLst>
              <a:gd name="adj" fmla="val 7660"/>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21" name="Shape 19"/>
          <p:cNvSpPr/>
          <p:nvPr/>
        </p:nvSpPr>
        <p:spPr>
          <a:xfrm>
            <a:off x="8275320" y="1920240"/>
            <a:ext cx="402336" cy="402336"/>
          </a:xfrm>
          <a:prstGeom prst="ellipse">
            <a:avLst/>
          </a:prstGeom>
          <a:solidFill>
            <a:srgbClr val="E45728"/>
          </a:solidFill>
          <a:ln w="12700">
            <a:solidFill>
              <a:srgbClr val="E45728"/>
            </a:solidFill>
            <a:prstDash val="solid"/>
          </a:ln>
        </p:spPr>
      </p:sp>
      <p:sp>
        <p:nvSpPr>
          <p:cNvPr id="22" name="Text 20"/>
          <p:cNvSpPr txBox="1"/>
          <p:nvPr/>
        </p:nvSpPr>
        <p:spPr>
          <a:xfrm>
            <a:off x="8275320" y="19202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Fredoka" pitchFamily="34" charset="0"/>
                <a:ea typeface="Fredoka" pitchFamily="34" charset="-122"/>
                <a:cs typeface="Fredoka" pitchFamily="34" charset="-120"/>
              </a:rPr>
              <a:t>3</a:t>
            </a:r>
            <a:endParaRPr lang="en-US" sz="1300" dirty="0"/>
          </a:p>
        </p:txBody>
      </p:sp>
      <p:sp>
        <p:nvSpPr>
          <p:cNvPr id="23" name="Text 21"/>
          <p:cNvSpPr txBox="1"/>
          <p:nvPr/>
        </p:nvSpPr>
        <p:spPr>
          <a:xfrm>
            <a:off x="8796528" y="1892808"/>
            <a:ext cx="2697480" cy="457200"/>
          </a:xfrm>
          <a:prstGeom prst="rect">
            <a:avLst/>
          </a:prstGeom>
          <a:noFill/>
          <a:ln/>
        </p:spPr>
        <p:txBody>
          <a:bodyPr wrap="square" lIns="0" tIns="0" rIns="0" bIns="0" rtlCol="0" anchor="ctr"/>
          <a:lstStyle/>
          <a:p>
            <a:pPr indent="0" marL="0">
              <a:lnSpc>
                <a:spcPct val="95000"/>
              </a:lnSpc>
              <a:buNone/>
            </a:pPr>
            <a:r>
              <a:rPr lang="en-US" sz="1400" b="1" dirty="0">
                <a:solidFill>
                  <a:srgbClr val="922D18"/>
                </a:solidFill>
                <a:latin typeface="Fredoka" pitchFamily="34" charset="0"/>
                <a:ea typeface="Fredoka" pitchFamily="34" charset="-122"/>
                <a:cs typeface="Fredoka" pitchFamily="34" charset="-120"/>
              </a:rPr>
              <a:t>Influence orientation, pas lifestyle</a:t>
            </a:r>
            <a:endParaRPr lang="en-US" sz="1400" dirty="0"/>
          </a:p>
        </p:txBody>
      </p:sp>
      <p:sp>
        <p:nvSpPr>
          <p:cNvPr id="24" name="Shape 22"/>
          <p:cNvSpPr/>
          <p:nvPr/>
        </p:nvSpPr>
        <p:spPr>
          <a:xfrm>
            <a:off x="8275320" y="2468880"/>
            <a:ext cx="2103120" cy="237744"/>
          </a:xfrm>
          <a:prstGeom prst="roundRect">
            <a:avLst>
              <a:gd name="adj" fmla="val 50000"/>
            </a:avLst>
          </a:prstGeom>
          <a:solidFill>
            <a:srgbClr val="F6EBDA"/>
          </a:solidFill>
          <a:ln w="12700">
            <a:solidFill>
              <a:srgbClr val="F6EBDA"/>
            </a:solidFill>
            <a:prstDash val="solid"/>
          </a:ln>
        </p:spPr>
      </p:sp>
      <p:sp>
        <p:nvSpPr>
          <p:cNvPr id="25" name="Text 23"/>
          <p:cNvSpPr txBox="1"/>
          <p:nvPr/>
        </p:nvSpPr>
        <p:spPr>
          <a:xfrm>
            <a:off x="8275320" y="2468880"/>
            <a:ext cx="2103120" cy="237744"/>
          </a:xfrm>
          <a:prstGeom prst="rect">
            <a:avLst/>
          </a:prstGeom>
          <a:noFill/>
          <a:ln/>
        </p:spPr>
        <p:txBody>
          <a:bodyPr wrap="square" lIns="0" tIns="0" rIns="0" bIns="0" rtlCol="0" anchor="ctr"/>
          <a:lstStyle/>
          <a:p>
            <a:pPr algn="ctr" indent="0" marL="0">
              <a:buNone/>
            </a:pPr>
            <a:r>
              <a:rPr lang="en-US" sz="750" b="1" spc="100" kern="0" dirty="0">
                <a:solidFill>
                  <a:srgbClr val="922D18"/>
                </a:solidFill>
                <a:latin typeface="Fredoka" pitchFamily="34" charset="0"/>
                <a:ea typeface="Fredoka" pitchFamily="34" charset="-122"/>
                <a:cs typeface="Fredoka" pitchFamily="34" charset="-120"/>
              </a:rPr>
              <a:t>16-20 ANS · REACH</a:t>
            </a:r>
            <a:endParaRPr lang="en-US" sz="750" dirty="0"/>
          </a:p>
        </p:txBody>
      </p:sp>
      <p:sp>
        <p:nvSpPr>
          <p:cNvPr id="26" name="Text 24"/>
          <p:cNvSpPr txBox="1"/>
          <p:nvPr/>
        </p:nvSpPr>
        <p:spPr>
          <a:xfrm>
            <a:off x="8275320" y="2788920"/>
            <a:ext cx="3154680" cy="960120"/>
          </a:xfrm>
          <a:prstGeom prst="rect">
            <a:avLst/>
          </a:prstGeom>
          <a:noFill/>
          <a:ln/>
        </p:spPr>
        <p:txBody>
          <a:bodyPr wrap="square" lIns="0" tIns="0" rIns="0" bIns="0" rtlCol="0" anchor="t"/>
          <a:lstStyle/>
          <a:p>
            <a:pPr indent="0" marL="0">
              <a:lnSpc>
                <a:spcPct val="106000"/>
              </a:lnSpc>
              <a:buNone/>
            </a:pPr>
            <a:r>
              <a:rPr lang="en-US" sz="960" dirty="0">
                <a:solidFill>
                  <a:srgbClr val="3B1B0F"/>
                </a:solidFill>
                <a:latin typeface="Lato" pitchFamily="34" charset="0"/>
                <a:ea typeface="Lato" pitchFamily="34" charset="-122"/>
                <a:cs typeface="Lato" pitchFamily="34" charset="-120"/>
              </a:rPr>
              <a:t>Deux créateurs qui parlent études, alternance et Parcoursup aux 16-20 ans. Ils portent la cible qu'on va chercher aujourd'hui uniquement en payant, avec un discours qu'ils ont déjà installé.</a:t>
            </a:r>
            <a:endParaRPr lang="en-US" sz="960" dirty="0"/>
          </a:p>
        </p:txBody>
      </p:sp>
      <p:sp>
        <p:nvSpPr>
          <p:cNvPr id="27" name="Shape 25"/>
          <p:cNvSpPr/>
          <p:nvPr/>
        </p:nvSpPr>
        <p:spPr>
          <a:xfrm>
            <a:off x="548640" y="3977640"/>
            <a:ext cx="3611880" cy="2148840"/>
          </a:xfrm>
          <a:prstGeom prst="roundRect">
            <a:avLst>
              <a:gd name="adj" fmla="val 7660"/>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28" name="Shape 26"/>
          <p:cNvSpPr/>
          <p:nvPr/>
        </p:nvSpPr>
        <p:spPr>
          <a:xfrm>
            <a:off x="777240" y="4206240"/>
            <a:ext cx="402336" cy="402336"/>
          </a:xfrm>
          <a:prstGeom prst="ellipse">
            <a:avLst/>
          </a:prstGeom>
          <a:solidFill>
            <a:srgbClr val="E45728"/>
          </a:solidFill>
          <a:ln w="12700">
            <a:solidFill>
              <a:srgbClr val="E45728"/>
            </a:solidFill>
            <a:prstDash val="solid"/>
          </a:ln>
        </p:spPr>
      </p:sp>
      <p:sp>
        <p:nvSpPr>
          <p:cNvPr id="29" name="Text 27"/>
          <p:cNvSpPr txBox="1"/>
          <p:nvPr/>
        </p:nvSpPr>
        <p:spPr>
          <a:xfrm>
            <a:off x="777240" y="42062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Fredoka" pitchFamily="34" charset="0"/>
                <a:ea typeface="Fredoka" pitchFamily="34" charset="-122"/>
                <a:cs typeface="Fredoka" pitchFamily="34" charset="-120"/>
              </a:rPr>
              <a:t>4</a:t>
            </a:r>
            <a:endParaRPr lang="en-US" sz="1300" dirty="0"/>
          </a:p>
        </p:txBody>
      </p:sp>
      <p:sp>
        <p:nvSpPr>
          <p:cNvPr id="30" name="Text 28"/>
          <p:cNvSpPr txBox="1"/>
          <p:nvPr/>
        </p:nvSpPr>
        <p:spPr>
          <a:xfrm>
            <a:off x="1298448" y="4178808"/>
            <a:ext cx="2697480" cy="457200"/>
          </a:xfrm>
          <a:prstGeom prst="rect">
            <a:avLst/>
          </a:prstGeom>
          <a:noFill/>
          <a:ln/>
        </p:spPr>
        <p:txBody>
          <a:bodyPr wrap="square" lIns="0" tIns="0" rIns="0" bIns="0" rtlCol="0" anchor="ctr"/>
          <a:lstStyle/>
          <a:p>
            <a:pPr indent="0" marL="0">
              <a:lnSpc>
                <a:spcPct val="95000"/>
              </a:lnSpc>
              <a:buNone/>
            </a:pPr>
            <a:r>
              <a:rPr lang="en-US" sz="1400" b="1" dirty="0">
                <a:solidFill>
                  <a:srgbClr val="922D18"/>
                </a:solidFill>
                <a:latin typeface="Fredoka" pitchFamily="34" charset="0"/>
                <a:ea typeface="Fredoka" pitchFamily="34" charset="-122"/>
                <a:cs typeface="Fredoka" pitchFamily="34" charset="-120"/>
              </a:rPr>
              <a:t>Snapchat + YouTube Shorts</a:t>
            </a:r>
            <a:endParaRPr lang="en-US" sz="1400" dirty="0"/>
          </a:p>
        </p:txBody>
      </p:sp>
      <p:sp>
        <p:nvSpPr>
          <p:cNvPr id="31" name="Shape 29"/>
          <p:cNvSpPr/>
          <p:nvPr/>
        </p:nvSpPr>
        <p:spPr>
          <a:xfrm>
            <a:off x="777240" y="4754880"/>
            <a:ext cx="2103120" cy="237744"/>
          </a:xfrm>
          <a:prstGeom prst="roundRect">
            <a:avLst>
              <a:gd name="adj" fmla="val 50000"/>
            </a:avLst>
          </a:prstGeom>
          <a:solidFill>
            <a:srgbClr val="F6EBDA"/>
          </a:solidFill>
          <a:ln w="12700">
            <a:solidFill>
              <a:srgbClr val="F6EBDA"/>
            </a:solidFill>
            <a:prstDash val="solid"/>
          </a:ln>
        </p:spPr>
      </p:sp>
      <p:sp>
        <p:nvSpPr>
          <p:cNvPr id="32" name="Text 30"/>
          <p:cNvSpPr txBox="1"/>
          <p:nvPr/>
        </p:nvSpPr>
        <p:spPr>
          <a:xfrm>
            <a:off x="777240" y="4754880"/>
            <a:ext cx="2103120" cy="237744"/>
          </a:xfrm>
          <a:prstGeom prst="rect">
            <a:avLst/>
          </a:prstGeom>
          <a:noFill/>
          <a:ln/>
        </p:spPr>
        <p:txBody>
          <a:bodyPr wrap="square" lIns="0" tIns="0" rIns="0" bIns="0" rtlCol="0" anchor="ctr"/>
          <a:lstStyle/>
          <a:p>
            <a:pPr algn="ctr" indent="0" marL="0">
              <a:buNone/>
            </a:pPr>
            <a:r>
              <a:rPr lang="en-US" sz="750" b="1" spc="100" kern="0" dirty="0">
                <a:solidFill>
                  <a:srgbClr val="922D18"/>
                </a:solidFill>
                <a:latin typeface="Fredoka" pitchFamily="34" charset="0"/>
                <a:ea typeface="Fredoka" pitchFamily="34" charset="-122"/>
                <a:cs typeface="Fredoka" pitchFamily="34" charset="-120"/>
              </a:rPr>
              <a:t>13-24 ANS · DISTRIBUTION</a:t>
            </a:r>
            <a:endParaRPr lang="en-US" sz="750" dirty="0"/>
          </a:p>
        </p:txBody>
      </p:sp>
      <p:sp>
        <p:nvSpPr>
          <p:cNvPr id="33" name="Text 31"/>
          <p:cNvSpPr txBox="1"/>
          <p:nvPr/>
        </p:nvSpPr>
        <p:spPr>
          <a:xfrm>
            <a:off x="777240" y="5074920"/>
            <a:ext cx="3154680" cy="960120"/>
          </a:xfrm>
          <a:prstGeom prst="rect">
            <a:avLst/>
          </a:prstGeom>
          <a:noFill/>
          <a:ln/>
        </p:spPr>
        <p:txBody>
          <a:bodyPr wrap="square" lIns="0" tIns="0" rIns="0" bIns="0" rtlCol="0" anchor="t"/>
          <a:lstStyle/>
          <a:p>
            <a:pPr indent="0" marL="0">
              <a:lnSpc>
                <a:spcPct val="106000"/>
              </a:lnSpc>
              <a:buNone/>
            </a:pPr>
            <a:r>
              <a:rPr lang="en-US" sz="960" dirty="0">
                <a:solidFill>
                  <a:srgbClr val="3B1B0F"/>
                </a:solidFill>
                <a:latin typeface="Lato" pitchFamily="34" charset="0"/>
                <a:ea typeface="Lato" pitchFamily="34" charset="-122"/>
                <a:cs typeface="Lato" pitchFamily="34" charset="-120"/>
              </a:rPr>
              <a:t>Les 20 vidéos existent déjà. Snapchat est un des premiers réseaux des 15-24 ans en France, Shorts le second écran des 13-17. Zéro production supplémentaire, deux canaux de plus.</a:t>
            </a:r>
            <a:endParaRPr lang="en-US" sz="960" dirty="0"/>
          </a:p>
        </p:txBody>
      </p:sp>
      <p:sp>
        <p:nvSpPr>
          <p:cNvPr id="34" name="Shape 32"/>
          <p:cNvSpPr/>
          <p:nvPr/>
        </p:nvSpPr>
        <p:spPr>
          <a:xfrm>
            <a:off x="4297680" y="3977640"/>
            <a:ext cx="3611880" cy="2148840"/>
          </a:xfrm>
          <a:prstGeom prst="roundRect">
            <a:avLst>
              <a:gd name="adj" fmla="val 7660"/>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35" name="Shape 33"/>
          <p:cNvSpPr/>
          <p:nvPr/>
        </p:nvSpPr>
        <p:spPr>
          <a:xfrm>
            <a:off x="4526280" y="4206240"/>
            <a:ext cx="402336" cy="402336"/>
          </a:xfrm>
          <a:prstGeom prst="ellipse">
            <a:avLst/>
          </a:prstGeom>
          <a:solidFill>
            <a:srgbClr val="E45728"/>
          </a:solidFill>
          <a:ln w="12700">
            <a:solidFill>
              <a:srgbClr val="E45728"/>
            </a:solidFill>
            <a:prstDash val="solid"/>
          </a:ln>
        </p:spPr>
      </p:sp>
      <p:sp>
        <p:nvSpPr>
          <p:cNvPr id="36" name="Text 34"/>
          <p:cNvSpPr txBox="1"/>
          <p:nvPr/>
        </p:nvSpPr>
        <p:spPr>
          <a:xfrm>
            <a:off x="4526280" y="42062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Fredoka" pitchFamily="34" charset="0"/>
                <a:ea typeface="Fredoka" pitchFamily="34" charset="-122"/>
                <a:cs typeface="Fredoka" pitchFamily="34" charset="-120"/>
              </a:rPr>
              <a:t>5</a:t>
            </a:r>
            <a:endParaRPr lang="en-US" sz="1300" dirty="0"/>
          </a:p>
        </p:txBody>
      </p:sp>
      <p:sp>
        <p:nvSpPr>
          <p:cNvPr id="37" name="Text 35"/>
          <p:cNvSpPr txBox="1"/>
          <p:nvPr/>
        </p:nvSpPr>
        <p:spPr>
          <a:xfrm>
            <a:off x="5047488" y="4178808"/>
            <a:ext cx="2697480" cy="457200"/>
          </a:xfrm>
          <a:prstGeom prst="rect">
            <a:avLst/>
          </a:prstGeom>
          <a:noFill/>
          <a:ln/>
        </p:spPr>
        <p:txBody>
          <a:bodyPr wrap="square" lIns="0" tIns="0" rIns="0" bIns="0" rtlCol="0" anchor="ctr"/>
          <a:lstStyle/>
          <a:p>
            <a:pPr indent="0" marL="0">
              <a:lnSpc>
                <a:spcPct val="95000"/>
              </a:lnSpc>
              <a:buNone/>
            </a:pPr>
            <a:r>
              <a:rPr lang="en-US" sz="1400" b="1" dirty="0">
                <a:solidFill>
                  <a:srgbClr val="922D18"/>
                </a:solidFill>
                <a:latin typeface="Fredoka" pitchFamily="34" charset="0"/>
                <a:ea typeface="Fredoka" pitchFamily="34" charset="-122"/>
                <a:cs typeface="Fredoka" pitchFamily="34" charset="-120"/>
              </a:rPr>
              <a:t>Les DM Instagram automatisés</a:t>
            </a:r>
            <a:endParaRPr lang="en-US" sz="1400" dirty="0"/>
          </a:p>
        </p:txBody>
      </p:sp>
      <p:sp>
        <p:nvSpPr>
          <p:cNvPr id="38" name="Shape 36"/>
          <p:cNvSpPr/>
          <p:nvPr/>
        </p:nvSpPr>
        <p:spPr>
          <a:xfrm>
            <a:off x="4526280" y="4754880"/>
            <a:ext cx="2103120" cy="237744"/>
          </a:xfrm>
          <a:prstGeom prst="roundRect">
            <a:avLst>
              <a:gd name="adj" fmla="val 50000"/>
            </a:avLst>
          </a:prstGeom>
          <a:solidFill>
            <a:srgbClr val="F6EBDA"/>
          </a:solidFill>
          <a:ln w="12700">
            <a:solidFill>
              <a:srgbClr val="F6EBDA"/>
            </a:solidFill>
            <a:prstDash val="solid"/>
          </a:ln>
        </p:spPr>
      </p:sp>
      <p:sp>
        <p:nvSpPr>
          <p:cNvPr id="39" name="Text 37"/>
          <p:cNvSpPr txBox="1"/>
          <p:nvPr/>
        </p:nvSpPr>
        <p:spPr>
          <a:xfrm>
            <a:off x="4526280" y="4754880"/>
            <a:ext cx="2103120" cy="237744"/>
          </a:xfrm>
          <a:prstGeom prst="rect">
            <a:avLst/>
          </a:prstGeom>
          <a:noFill/>
          <a:ln/>
        </p:spPr>
        <p:txBody>
          <a:bodyPr wrap="square" lIns="0" tIns="0" rIns="0" bIns="0" rtlCol="0" anchor="ctr"/>
          <a:lstStyle/>
          <a:p>
            <a:pPr algn="ctr" indent="0" marL="0">
              <a:buNone/>
            </a:pPr>
            <a:r>
              <a:rPr lang="en-US" sz="750" b="1" spc="100" kern="0" dirty="0">
                <a:solidFill>
                  <a:srgbClr val="922D18"/>
                </a:solidFill>
                <a:latin typeface="Fredoka" pitchFamily="34" charset="0"/>
                <a:ea typeface="Fredoka" pitchFamily="34" charset="-122"/>
                <a:cs typeface="Fredoka" pitchFamily="34" charset="-120"/>
              </a:rPr>
              <a:t>COMMUNAUTÉ · LEADS</a:t>
            </a:r>
            <a:endParaRPr lang="en-US" sz="750" dirty="0"/>
          </a:p>
        </p:txBody>
      </p:sp>
      <p:sp>
        <p:nvSpPr>
          <p:cNvPr id="40" name="Text 38"/>
          <p:cNvSpPr txBox="1"/>
          <p:nvPr/>
        </p:nvSpPr>
        <p:spPr>
          <a:xfrm>
            <a:off x="4526280" y="5074920"/>
            <a:ext cx="3154680" cy="960120"/>
          </a:xfrm>
          <a:prstGeom prst="rect">
            <a:avLst/>
          </a:prstGeom>
          <a:noFill/>
          <a:ln/>
        </p:spPr>
        <p:txBody>
          <a:bodyPr wrap="square" lIns="0" tIns="0" rIns="0" bIns="0" rtlCol="0" anchor="t"/>
          <a:lstStyle/>
          <a:p>
            <a:pPr indent="0" marL="0">
              <a:lnSpc>
                <a:spcPct val="106000"/>
              </a:lnSpc>
              <a:buNone/>
            </a:pPr>
            <a:r>
              <a:rPr lang="en-US" sz="960" dirty="0">
                <a:solidFill>
                  <a:srgbClr val="3B1B0F"/>
                </a:solidFill>
                <a:latin typeface="Lato" pitchFamily="34" charset="0"/>
                <a:ea typeface="Lato" pitchFamily="34" charset="-122"/>
                <a:cs typeface="Lato" pitchFamily="34" charset="-120"/>
              </a:rPr>
              <a:t>Un mot-clé en commentaire (« GUIDE ») envoie le guide des formations en message privé et capte l'e-mail. Les commentaires deviennent des leads, et chaque post fixe retrouve une raison d'exister.</a:t>
            </a:r>
            <a:endParaRPr lang="en-US" sz="960" dirty="0"/>
          </a:p>
        </p:txBody>
      </p:sp>
      <p:sp>
        <p:nvSpPr>
          <p:cNvPr id="41" name="Shape 39"/>
          <p:cNvSpPr/>
          <p:nvPr/>
        </p:nvSpPr>
        <p:spPr>
          <a:xfrm>
            <a:off x="8046720" y="3977640"/>
            <a:ext cx="3611880" cy="2148840"/>
          </a:xfrm>
          <a:prstGeom prst="roundRect">
            <a:avLst>
              <a:gd name="adj" fmla="val 7660"/>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42" name="Shape 40"/>
          <p:cNvSpPr/>
          <p:nvPr/>
        </p:nvSpPr>
        <p:spPr>
          <a:xfrm>
            <a:off x="8275320" y="4206240"/>
            <a:ext cx="402336" cy="402336"/>
          </a:xfrm>
          <a:prstGeom prst="ellipse">
            <a:avLst/>
          </a:prstGeom>
          <a:solidFill>
            <a:srgbClr val="E45728"/>
          </a:solidFill>
          <a:ln w="12700">
            <a:solidFill>
              <a:srgbClr val="E45728"/>
            </a:solidFill>
            <a:prstDash val="solid"/>
          </a:ln>
        </p:spPr>
      </p:sp>
      <p:sp>
        <p:nvSpPr>
          <p:cNvPr id="43" name="Text 41"/>
          <p:cNvSpPr txBox="1"/>
          <p:nvPr/>
        </p:nvSpPr>
        <p:spPr>
          <a:xfrm>
            <a:off x="8275320" y="42062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Fredoka" pitchFamily="34" charset="0"/>
                <a:ea typeface="Fredoka" pitchFamily="34" charset="-122"/>
                <a:cs typeface="Fredoka" pitchFamily="34" charset="-120"/>
              </a:rPr>
              <a:t>6</a:t>
            </a:r>
            <a:endParaRPr lang="en-US" sz="1300" dirty="0"/>
          </a:p>
        </p:txBody>
      </p:sp>
      <p:sp>
        <p:nvSpPr>
          <p:cNvPr id="44" name="Text 42"/>
          <p:cNvSpPr txBox="1"/>
          <p:nvPr/>
        </p:nvSpPr>
        <p:spPr>
          <a:xfrm>
            <a:off x="8796528" y="4178808"/>
            <a:ext cx="2697480" cy="457200"/>
          </a:xfrm>
          <a:prstGeom prst="rect">
            <a:avLst/>
          </a:prstGeom>
          <a:noFill/>
          <a:ln/>
        </p:spPr>
        <p:txBody>
          <a:bodyPr wrap="square" lIns="0" tIns="0" rIns="0" bIns="0" rtlCol="0" anchor="ctr"/>
          <a:lstStyle/>
          <a:p>
            <a:pPr indent="0" marL="0">
              <a:lnSpc>
                <a:spcPct val="95000"/>
              </a:lnSpc>
              <a:buNone/>
            </a:pPr>
            <a:r>
              <a:rPr lang="en-US" sz="1400" b="1" dirty="0">
                <a:solidFill>
                  <a:srgbClr val="922D18"/>
                </a:solidFill>
                <a:latin typeface="Fredoka" pitchFamily="34" charset="0"/>
                <a:ea typeface="Fredoka" pitchFamily="34" charset="-122"/>
                <a:cs typeface="Fredoka" pitchFamily="34" charset="-120"/>
              </a:rPr>
              <a:t>Le terrain filmé</a:t>
            </a:r>
            <a:endParaRPr lang="en-US" sz="1400" dirty="0"/>
          </a:p>
        </p:txBody>
      </p:sp>
      <p:sp>
        <p:nvSpPr>
          <p:cNvPr id="45" name="Shape 43"/>
          <p:cNvSpPr/>
          <p:nvPr/>
        </p:nvSpPr>
        <p:spPr>
          <a:xfrm>
            <a:off x="8275320" y="4754880"/>
            <a:ext cx="2103120" cy="237744"/>
          </a:xfrm>
          <a:prstGeom prst="roundRect">
            <a:avLst>
              <a:gd name="adj" fmla="val 50000"/>
            </a:avLst>
          </a:prstGeom>
          <a:solidFill>
            <a:srgbClr val="F6EBDA"/>
          </a:solidFill>
          <a:ln w="12700">
            <a:solidFill>
              <a:srgbClr val="F6EBDA"/>
            </a:solidFill>
            <a:prstDash val="solid"/>
          </a:ln>
        </p:spPr>
      </p:sp>
      <p:sp>
        <p:nvSpPr>
          <p:cNvPr id="46" name="Text 44"/>
          <p:cNvSpPr txBox="1"/>
          <p:nvPr/>
        </p:nvSpPr>
        <p:spPr>
          <a:xfrm>
            <a:off x="8275320" y="4754880"/>
            <a:ext cx="2103120" cy="237744"/>
          </a:xfrm>
          <a:prstGeom prst="rect">
            <a:avLst/>
          </a:prstGeom>
          <a:noFill/>
          <a:ln/>
        </p:spPr>
        <p:txBody>
          <a:bodyPr wrap="square" lIns="0" tIns="0" rIns="0" bIns="0" rtlCol="0" anchor="ctr"/>
          <a:lstStyle/>
          <a:p>
            <a:pPr algn="ctr" indent="0" marL="0">
              <a:buNone/>
            </a:pPr>
            <a:r>
              <a:rPr lang="en-US" sz="750" b="1" spc="100" kern="0" dirty="0">
                <a:solidFill>
                  <a:srgbClr val="922D18"/>
                </a:solidFill>
                <a:latin typeface="Fredoka" pitchFamily="34" charset="0"/>
                <a:ea typeface="Fredoka" pitchFamily="34" charset="-122"/>
                <a:cs typeface="Fredoka" pitchFamily="34" charset="-120"/>
              </a:rPr>
              <a:t>PRESCRIPTEURS · NOTORIÉTÉ</a:t>
            </a:r>
            <a:endParaRPr lang="en-US" sz="750" dirty="0"/>
          </a:p>
        </p:txBody>
      </p:sp>
      <p:sp>
        <p:nvSpPr>
          <p:cNvPr id="47" name="Text 45"/>
          <p:cNvSpPr txBox="1"/>
          <p:nvPr/>
        </p:nvSpPr>
        <p:spPr>
          <a:xfrm>
            <a:off x="8275320" y="5074920"/>
            <a:ext cx="3154680" cy="960120"/>
          </a:xfrm>
          <a:prstGeom prst="rect">
            <a:avLst/>
          </a:prstGeom>
          <a:noFill/>
          <a:ln/>
        </p:spPr>
        <p:txBody>
          <a:bodyPr wrap="square" lIns="0" tIns="0" rIns="0" bIns="0" rtlCol="0" anchor="t"/>
          <a:lstStyle/>
          <a:p>
            <a:pPr indent="0" marL="0">
              <a:lnSpc>
                <a:spcPct val="106000"/>
              </a:lnSpc>
              <a:buNone/>
            </a:pPr>
            <a:r>
              <a:rPr lang="en-US" sz="960" dirty="0">
                <a:solidFill>
                  <a:srgbClr val="3B1B0F"/>
                </a:solidFill>
                <a:latin typeface="Lato" pitchFamily="34" charset="0"/>
                <a:ea typeface="Lato" pitchFamily="34" charset="-122"/>
                <a:cs typeface="Lato" pitchFamily="34" charset="-120"/>
              </a:rPr>
              <a:t>Tournée micro-trottoir de 4 CFA et lycées pro, Journées européennes des moulins en mai avec une visite à gagner, salons d'orientation couverts en stories. Le contenu vient du réel, et les prescripteurs rencontrent la campagne.</a:t>
            </a:r>
            <a:endParaRPr lang="en-US" sz="960" dirty="0"/>
          </a:p>
        </p:txBody>
      </p:sp>
      <p:sp>
        <p:nvSpPr>
          <p:cNvPr id="48" name="Text 46"/>
          <p:cNvSpPr txBox="1"/>
          <p:nvPr/>
        </p:nvSpPr>
        <p:spPr>
          <a:xfrm>
            <a:off x="548640" y="6446520"/>
            <a:ext cx="9601200" cy="274320"/>
          </a:xfrm>
          <a:prstGeom prst="rect">
            <a:avLst/>
          </a:prstGeom>
          <a:noFill/>
          <a:ln/>
        </p:spPr>
        <p:txBody>
          <a:bodyPr wrap="square" lIns="0" tIns="0" rIns="0" bIns="0" rtlCol="0" anchor="ctr"/>
          <a:lstStyle/>
          <a:p>
            <a:pPr indent="0" marL="0">
              <a:buNone/>
            </a:pPr>
            <a:r>
              <a:rPr lang="en-US" sz="850" i="1" dirty="0">
                <a:solidFill>
                  <a:srgbClr val="7A5A4A"/>
                </a:solidFill>
                <a:latin typeface="Lato" pitchFamily="34" charset="0"/>
                <a:ea typeface="Lato" pitchFamily="34" charset="-122"/>
                <a:cs typeface="Lato" pitchFamily="34" charset="-120"/>
              </a:rPr>
              <a:t>Cibles issues de la stratégie 2026 (lycéens, étudiants et jeunes actifs, reconversion, prescripteurs). Persona TikTok 2025 : 42 % de 18-24 ans, 21 % de 13-17 ans.</a:t>
            </a:r>
            <a:endParaRPr lang="en-US" sz="850" dirty="0"/>
          </a:p>
        </p:txBody>
      </p:sp>
      <p:pic>
        <p:nvPicPr>
          <p:cNvPr id="49" name="Image 0" descr="/tmp/claude-0/-home-user-Dashboard-Antidotes/19e64f65-f236-5057-97fe-8b787e5e46cb/scratchpad/assets/ChasseursDeGraines_Logo_Quadri.png">    </p:cNvPr>
          <p:cNvPicPr>
            <a:picLocks noChangeAspect="1"/>
          </p:cNvPicPr>
          <p:nvPr/>
        </p:nvPicPr>
        <p:blipFill>
          <a:blip r:embed="rId1"/>
          <a:stretch>
            <a:fillRect/>
          </a:stretch>
        </p:blipFill>
        <p:spPr>
          <a:xfrm>
            <a:off x="10561320" y="6263640"/>
            <a:ext cx="1188720" cy="5760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EBDA"/>
        </a:solidFill>
      </p:bgPr>
    </p:bg>
    <p:spTree>
      <p:nvGrpSpPr>
        <p:cNvPr id="1" name=""/>
        <p:cNvGrpSpPr/>
        <p:nvPr/>
      </p:nvGrpSpPr>
      <p:grpSpPr>
        <a:xfrm>
          <a:off x="0" y="0"/>
          <a:ext cx="0" cy="0"/>
          <a:chOff x="0" y="0"/>
          <a:chExt cx="0" cy="0"/>
        </a:xfrm>
      </p:grpSpPr>
      <p:sp>
        <p:nvSpPr>
          <p:cNvPr id="2" name="Shape 0"/>
          <p:cNvSpPr/>
          <p:nvPr/>
        </p:nvSpPr>
        <p:spPr>
          <a:xfrm>
            <a:off x="548640" y="182880"/>
            <a:ext cx="3154680" cy="274320"/>
          </a:xfrm>
          <a:prstGeom prst="roundRect">
            <a:avLst>
              <a:gd name="adj" fmla="val 50000"/>
            </a:avLst>
          </a:prstGeom>
          <a:solidFill>
            <a:srgbClr val="E45728"/>
          </a:solidFill>
          <a:ln w="12700">
            <a:solidFill>
              <a:srgbClr val="E45728"/>
            </a:solidFill>
            <a:prstDash val="solid"/>
          </a:ln>
        </p:spPr>
      </p:sp>
      <p:sp>
        <p:nvSpPr>
          <p:cNvPr id="3" name="Text 1"/>
          <p:cNvSpPr txBox="1"/>
          <p:nvPr/>
        </p:nvSpPr>
        <p:spPr>
          <a:xfrm>
            <a:off x="548640" y="182880"/>
            <a:ext cx="315468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Fredoka" pitchFamily="34" charset="0"/>
                <a:ea typeface="Fredoka" pitchFamily="34" charset="-122"/>
                <a:cs typeface="Fredoka" pitchFamily="34" charset="-120"/>
              </a:rPr>
              <a:t>RECOMMANDATIONS · 4/4</a:t>
            </a:r>
            <a:endParaRPr lang="en-US" sz="950" dirty="0"/>
          </a:p>
        </p:txBody>
      </p:sp>
      <p:sp>
        <p:nvSpPr>
          <p:cNvPr id="4" name="Text 2"/>
          <p:cNvSpPr txBox="1"/>
          <p:nvPr/>
        </p:nvSpPr>
        <p:spPr>
          <a:xfrm>
            <a:off x="548640" y="411480"/>
            <a:ext cx="6400800" cy="822960"/>
          </a:xfrm>
          <a:prstGeom prst="rect">
            <a:avLst/>
          </a:prstGeom>
          <a:noFill/>
          <a:ln/>
        </p:spPr>
        <p:txBody>
          <a:bodyPr wrap="square" lIns="0" tIns="0" rIns="0" bIns="0" rtlCol="0" anchor="ctr"/>
          <a:lstStyle/>
          <a:p>
            <a:pPr indent="0" marL="0">
              <a:buNone/>
            </a:pPr>
            <a:r>
              <a:rPr lang="en-US" sz="3400" b="1" dirty="0">
                <a:solidFill>
                  <a:srgbClr val="922D18"/>
                </a:solidFill>
                <a:latin typeface="Fredoka" pitchFamily="34" charset="0"/>
                <a:ea typeface="Fredoka" pitchFamily="34" charset="-122"/>
                <a:cs typeface="Fredoka" pitchFamily="34" charset="-120"/>
              </a:rPr>
              <a:t>On ajoute (2) : le site convertit</a:t>
            </a:r>
            <a:endParaRPr lang="en-US" sz="3400" dirty="0"/>
          </a:p>
        </p:txBody>
      </p:sp>
      <p:sp>
        <p:nvSpPr>
          <p:cNvPr id="5" name="Text 3"/>
          <p:cNvSpPr txBox="1"/>
          <p:nvPr/>
        </p:nvSpPr>
        <p:spPr>
          <a:xfrm>
            <a:off x="548640" y="1188720"/>
            <a:ext cx="6400800" cy="365760"/>
          </a:xfrm>
          <a:prstGeom prst="rect">
            <a:avLst/>
          </a:prstGeom>
          <a:noFill/>
          <a:ln/>
        </p:spPr>
        <p:txBody>
          <a:bodyPr wrap="square" lIns="0" tIns="0" rIns="0" bIns="0" rtlCol="0" anchor="t"/>
          <a:lstStyle/>
          <a:p>
            <a:pPr indent="0" marL="0">
              <a:buNone/>
            </a:pPr>
            <a:r>
              <a:rPr lang="en-US" sz="1250" dirty="0">
                <a:solidFill>
                  <a:srgbClr val="7A5A4A"/>
                </a:solidFill>
                <a:latin typeface="Lato" pitchFamily="34" charset="0"/>
                <a:ea typeface="Lato" pitchFamily="34" charset="-122"/>
                <a:cs typeface="Lato" pitchFamily="34" charset="-120"/>
              </a:rPr>
              <a:t>Le social sait créer l'attention. En 2027, chasseursdegraines.fr doit la transformer et la prouver.</a:t>
            </a:r>
            <a:endParaRPr lang="en-US" sz="1250" dirty="0"/>
          </a:p>
        </p:txBody>
      </p:sp>
      <p:sp>
        <p:nvSpPr>
          <p:cNvPr id="6" name="Shape 4"/>
          <p:cNvSpPr/>
          <p:nvPr/>
        </p:nvSpPr>
        <p:spPr>
          <a:xfrm>
            <a:off x="548640" y="1764792"/>
            <a:ext cx="384048" cy="384048"/>
          </a:xfrm>
          <a:prstGeom prst="ellipse">
            <a:avLst/>
          </a:prstGeom>
          <a:solidFill>
            <a:srgbClr val="E45728"/>
          </a:solidFill>
          <a:ln w="12700">
            <a:solidFill>
              <a:srgbClr val="E45728"/>
            </a:solidFill>
            <a:prstDash val="solid"/>
          </a:ln>
        </p:spPr>
      </p:sp>
      <p:sp>
        <p:nvSpPr>
          <p:cNvPr id="7" name="Text 5"/>
          <p:cNvSpPr txBox="1"/>
          <p:nvPr/>
        </p:nvSpPr>
        <p:spPr>
          <a:xfrm>
            <a:off x="548640" y="17647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Fredoka" pitchFamily="34" charset="0"/>
                <a:ea typeface="Fredoka" pitchFamily="34" charset="-122"/>
                <a:cs typeface="Fredoka" pitchFamily="34" charset="-120"/>
              </a:rPr>
              <a:t>1</a:t>
            </a:r>
            <a:endParaRPr lang="en-US" sz="1300" dirty="0"/>
          </a:p>
        </p:txBody>
      </p:sp>
      <p:sp>
        <p:nvSpPr>
          <p:cNvPr id="8" name="Text 6"/>
          <p:cNvSpPr txBox="1"/>
          <p:nvPr/>
        </p:nvSpPr>
        <p:spPr>
          <a:xfrm>
            <a:off x="1051560" y="1737360"/>
            <a:ext cx="5669280" cy="274320"/>
          </a:xfrm>
          <a:prstGeom prst="rect">
            <a:avLst/>
          </a:prstGeom>
          <a:noFill/>
          <a:ln/>
        </p:spPr>
        <p:txBody>
          <a:bodyPr wrap="square" lIns="0" tIns="0" rIns="0" bIns="0" rtlCol="0" anchor="t"/>
          <a:lstStyle/>
          <a:p>
            <a:pPr indent="0" marL="0">
              <a:buNone/>
            </a:pPr>
            <a:r>
              <a:rPr lang="en-US" sz="1200" b="1" dirty="0">
                <a:solidFill>
                  <a:srgbClr val="922D18"/>
                </a:solidFill>
                <a:latin typeface="Lato" pitchFamily="34" charset="0"/>
                <a:ea typeface="Lato" pitchFamily="34" charset="-122"/>
                <a:cs typeface="Lato" pitchFamily="34" charset="-120"/>
              </a:rPr>
              <a:t>3 pages d'atterrissage par cible</a:t>
            </a:r>
            <a:endParaRPr lang="en-US" sz="1200" dirty="0"/>
          </a:p>
        </p:txBody>
      </p:sp>
      <p:sp>
        <p:nvSpPr>
          <p:cNvPr id="9" name="Text 7"/>
          <p:cNvSpPr txBox="1"/>
          <p:nvPr/>
        </p:nvSpPr>
        <p:spPr>
          <a:xfrm>
            <a:off x="1051560" y="2011680"/>
            <a:ext cx="5669280" cy="621792"/>
          </a:xfrm>
          <a:prstGeom prst="rect">
            <a:avLst/>
          </a:prstGeom>
          <a:noFill/>
          <a:ln/>
        </p:spPr>
        <p:txBody>
          <a:bodyPr wrap="square" lIns="0" tIns="0" rIns="0" bIns="0" rtlCol="0" anchor="t"/>
          <a:lstStyle/>
          <a:p>
            <a:pPr indent="0" marL="0">
              <a:lnSpc>
                <a:spcPct val="105000"/>
              </a:lnSpc>
              <a:buNone/>
            </a:pPr>
            <a:r>
              <a:rPr lang="en-US" sz="980" dirty="0">
                <a:solidFill>
                  <a:srgbClr val="3B1B0F"/>
                </a:solidFill>
                <a:latin typeface="Lato" pitchFamily="34" charset="0"/>
                <a:ea typeface="Lato" pitchFamily="34" charset="-122"/>
                <a:cs typeface="Lato" pitchFamily="34" charset="-120"/>
              </a:rPr>
              <a:t>Lycéen · reconversion · prescripteur, chacune branchée sur ses ads. Objectif : passer de 8 % à 30 % de sessions engagées depuis le paid.</a:t>
            </a:r>
            <a:endParaRPr lang="en-US" sz="980" dirty="0"/>
          </a:p>
        </p:txBody>
      </p:sp>
      <p:sp>
        <p:nvSpPr>
          <p:cNvPr id="10" name="Shape 8"/>
          <p:cNvSpPr/>
          <p:nvPr/>
        </p:nvSpPr>
        <p:spPr>
          <a:xfrm>
            <a:off x="548640" y="2660904"/>
            <a:ext cx="384048" cy="384048"/>
          </a:xfrm>
          <a:prstGeom prst="ellipse">
            <a:avLst/>
          </a:prstGeom>
          <a:solidFill>
            <a:srgbClr val="E45728"/>
          </a:solidFill>
          <a:ln w="12700">
            <a:solidFill>
              <a:srgbClr val="E45728"/>
            </a:solidFill>
            <a:prstDash val="solid"/>
          </a:ln>
        </p:spPr>
      </p:sp>
      <p:sp>
        <p:nvSpPr>
          <p:cNvPr id="11" name="Text 9"/>
          <p:cNvSpPr txBox="1"/>
          <p:nvPr/>
        </p:nvSpPr>
        <p:spPr>
          <a:xfrm>
            <a:off x="548640" y="2660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Fredoka" pitchFamily="34" charset="0"/>
                <a:ea typeface="Fredoka" pitchFamily="34" charset="-122"/>
                <a:cs typeface="Fredoka" pitchFamily="34" charset="-120"/>
              </a:rPr>
              <a:t>2</a:t>
            </a:r>
            <a:endParaRPr lang="en-US" sz="1300" dirty="0"/>
          </a:p>
        </p:txBody>
      </p:sp>
      <p:sp>
        <p:nvSpPr>
          <p:cNvPr id="12" name="Text 10"/>
          <p:cNvSpPr txBox="1"/>
          <p:nvPr/>
        </p:nvSpPr>
        <p:spPr>
          <a:xfrm>
            <a:off x="1051560" y="2633472"/>
            <a:ext cx="5669280" cy="274320"/>
          </a:xfrm>
          <a:prstGeom prst="rect">
            <a:avLst/>
          </a:prstGeom>
          <a:noFill/>
          <a:ln/>
        </p:spPr>
        <p:txBody>
          <a:bodyPr wrap="square" lIns="0" tIns="0" rIns="0" bIns="0" rtlCol="0" anchor="t"/>
          <a:lstStyle/>
          <a:p>
            <a:pPr indent="0" marL="0">
              <a:buNone/>
            </a:pPr>
            <a:r>
              <a:rPr lang="en-US" sz="1200" b="1" dirty="0">
                <a:solidFill>
                  <a:srgbClr val="922D18"/>
                </a:solidFill>
                <a:latin typeface="Lato" pitchFamily="34" charset="0"/>
                <a:ea typeface="Lato" pitchFamily="34" charset="-122"/>
                <a:cs typeface="Lato" pitchFamily="34" charset="-120"/>
              </a:rPr>
              <a:t>Un tunnel mesurable</a:t>
            </a:r>
            <a:endParaRPr lang="en-US" sz="1200" dirty="0"/>
          </a:p>
        </p:txBody>
      </p:sp>
      <p:sp>
        <p:nvSpPr>
          <p:cNvPr id="13" name="Text 11"/>
          <p:cNvSpPr txBox="1"/>
          <p:nvPr/>
        </p:nvSpPr>
        <p:spPr>
          <a:xfrm>
            <a:off x="1051560" y="2907792"/>
            <a:ext cx="5669280" cy="621792"/>
          </a:xfrm>
          <a:prstGeom prst="rect">
            <a:avLst/>
          </a:prstGeom>
          <a:noFill/>
          <a:ln/>
        </p:spPr>
        <p:txBody>
          <a:bodyPr wrap="square" lIns="0" tIns="0" rIns="0" bIns="0" rtlCol="0" anchor="t"/>
          <a:lstStyle/>
          <a:p>
            <a:pPr indent="0" marL="0">
              <a:lnSpc>
                <a:spcPct val="105000"/>
              </a:lnSpc>
              <a:buNone/>
            </a:pPr>
            <a:r>
              <a:rPr lang="en-US" sz="980" dirty="0">
                <a:solidFill>
                  <a:srgbClr val="3B1B0F"/>
                </a:solidFill>
                <a:latin typeface="Lato" pitchFamily="34" charset="0"/>
                <a:ea typeface="Lato" pitchFamily="34" charset="-122"/>
                <a:cs typeface="Lato" pitchFamily="34" charset="-120"/>
              </a:rPr>
              <a:t>« Visiter un moulin », « être rappelé », « candidater en alternance » : formulaires courts, événements GA4, pixels Meta et TikTok. Premier chiffre de leads dès le T1.</a:t>
            </a:r>
            <a:endParaRPr lang="en-US" sz="980" dirty="0"/>
          </a:p>
        </p:txBody>
      </p:sp>
      <p:sp>
        <p:nvSpPr>
          <p:cNvPr id="14" name="Shape 12"/>
          <p:cNvSpPr/>
          <p:nvPr/>
        </p:nvSpPr>
        <p:spPr>
          <a:xfrm>
            <a:off x="548640" y="3557016"/>
            <a:ext cx="384048" cy="384048"/>
          </a:xfrm>
          <a:prstGeom prst="ellipse">
            <a:avLst/>
          </a:prstGeom>
          <a:solidFill>
            <a:srgbClr val="E45728"/>
          </a:solidFill>
          <a:ln w="12700">
            <a:solidFill>
              <a:srgbClr val="E45728"/>
            </a:solidFill>
            <a:prstDash val="solid"/>
          </a:ln>
        </p:spPr>
      </p:sp>
      <p:sp>
        <p:nvSpPr>
          <p:cNvPr id="15" name="Text 13"/>
          <p:cNvSpPr txBox="1"/>
          <p:nvPr/>
        </p:nvSpPr>
        <p:spPr>
          <a:xfrm>
            <a:off x="548640" y="35570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Fredoka" pitchFamily="34" charset="0"/>
                <a:ea typeface="Fredoka" pitchFamily="34" charset="-122"/>
                <a:cs typeface="Fredoka" pitchFamily="34" charset="-120"/>
              </a:rPr>
              <a:t>3</a:t>
            </a:r>
            <a:endParaRPr lang="en-US" sz="1300" dirty="0"/>
          </a:p>
        </p:txBody>
      </p:sp>
      <p:sp>
        <p:nvSpPr>
          <p:cNvPr id="16" name="Text 14"/>
          <p:cNvSpPr txBox="1"/>
          <p:nvPr/>
        </p:nvSpPr>
        <p:spPr>
          <a:xfrm>
            <a:off x="1051560" y="3529584"/>
            <a:ext cx="5669280" cy="274320"/>
          </a:xfrm>
          <a:prstGeom prst="rect">
            <a:avLst/>
          </a:prstGeom>
          <a:noFill/>
          <a:ln/>
        </p:spPr>
        <p:txBody>
          <a:bodyPr wrap="square" lIns="0" tIns="0" rIns="0" bIns="0" rtlCol="0" anchor="t"/>
          <a:lstStyle/>
          <a:p>
            <a:pPr indent="0" marL="0">
              <a:buNone/>
            </a:pPr>
            <a:r>
              <a:rPr lang="en-US" sz="1200" b="1" dirty="0">
                <a:solidFill>
                  <a:srgbClr val="922D18"/>
                </a:solidFill>
                <a:latin typeface="Lato" pitchFamily="34" charset="0"/>
                <a:ea typeface="Lato" pitchFamily="34" charset="-122"/>
                <a:cs typeface="Lato" pitchFamily="34" charset="-120"/>
              </a:rPr>
              <a:t>Le SEO de fond</a:t>
            </a:r>
            <a:endParaRPr lang="en-US" sz="1200" dirty="0"/>
          </a:p>
        </p:txBody>
      </p:sp>
      <p:sp>
        <p:nvSpPr>
          <p:cNvPr id="17" name="Text 15"/>
          <p:cNvSpPr txBox="1"/>
          <p:nvPr/>
        </p:nvSpPr>
        <p:spPr>
          <a:xfrm>
            <a:off x="1051560" y="3803904"/>
            <a:ext cx="5669280" cy="621792"/>
          </a:xfrm>
          <a:prstGeom prst="rect">
            <a:avLst/>
          </a:prstGeom>
          <a:noFill/>
          <a:ln/>
        </p:spPr>
        <p:txBody>
          <a:bodyPr wrap="square" lIns="0" tIns="0" rIns="0" bIns="0" rtlCol="0" anchor="t"/>
          <a:lstStyle/>
          <a:p>
            <a:pPr indent="0" marL="0">
              <a:lnSpc>
                <a:spcPct val="105000"/>
              </a:lnSpc>
              <a:buNone/>
            </a:pPr>
            <a:r>
              <a:rPr lang="en-US" sz="980" dirty="0">
                <a:solidFill>
                  <a:srgbClr val="3B1B0F"/>
                </a:solidFill>
                <a:latin typeface="Lato" pitchFamily="34" charset="0"/>
                <a:ea typeface="Lato" pitchFamily="34" charset="-122"/>
                <a:cs typeface="Lato" pitchFamily="34" charset="-120"/>
              </a:rPr>
              <a:t>Fiches métiers et guides de formation réécrits pour la recherche (66 % d'engagement sur ce trafic aujourd'hui), pages fantômes du thème supprimées, Search Console suivie.</a:t>
            </a:r>
            <a:endParaRPr lang="en-US" sz="980" dirty="0"/>
          </a:p>
        </p:txBody>
      </p:sp>
      <p:sp>
        <p:nvSpPr>
          <p:cNvPr id="18" name="Shape 16"/>
          <p:cNvSpPr/>
          <p:nvPr/>
        </p:nvSpPr>
        <p:spPr>
          <a:xfrm>
            <a:off x="548640" y="4453128"/>
            <a:ext cx="384048" cy="384048"/>
          </a:xfrm>
          <a:prstGeom prst="ellipse">
            <a:avLst/>
          </a:prstGeom>
          <a:solidFill>
            <a:srgbClr val="E45728"/>
          </a:solidFill>
          <a:ln w="12700">
            <a:solidFill>
              <a:srgbClr val="E45728"/>
            </a:solidFill>
            <a:prstDash val="solid"/>
          </a:ln>
        </p:spPr>
      </p:sp>
      <p:sp>
        <p:nvSpPr>
          <p:cNvPr id="19" name="Text 17"/>
          <p:cNvSpPr txBox="1"/>
          <p:nvPr/>
        </p:nvSpPr>
        <p:spPr>
          <a:xfrm>
            <a:off x="548640" y="4453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Fredoka" pitchFamily="34" charset="0"/>
                <a:ea typeface="Fredoka" pitchFamily="34" charset="-122"/>
                <a:cs typeface="Fredoka" pitchFamily="34" charset="-120"/>
              </a:rPr>
              <a:t>4</a:t>
            </a:r>
            <a:endParaRPr lang="en-US" sz="1300" dirty="0"/>
          </a:p>
        </p:txBody>
      </p:sp>
      <p:sp>
        <p:nvSpPr>
          <p:cNvPr id="20" name="Text 18"/>
          <p:cNvSpPr txBox="1"/>
          <p:nvPr/>
        </p:nvSpPr>
        <p:spPr>
          <a:xfrm>
            <a:off x="1051560" y="4425696"/>
            <a:ext cx="5669280" cy="274320"/>
          </a:xfrm>
          <a:prstGeom prst="rect">
            <a:avLst/>
          </a:prstGeom>
          <a:noFill/>
          <a:ln/>
        </p:spPr>
        <p:txBody>
          <a:bodyPr wrap="square" lIns="0" tIns="0" rIns="0" bIns="0" rtlCol="0" anchor="t"/>
          <a:lstStyle/>
          <a:p>
            <a:pPr indent="0" marL="0">
              <a:buNone/>
            </a:pPr>
            <a:r>
              <a:rPr lang="en-US" sz="1200" b="1" dirty="0">
                <a:solidFill>
                  <a:srgbClr val="922D18"/>
                </a:solidFill>
                <a:latin typeface="Lato" pitchFamily="34" charset="0"/>
                <a:ea typeface="Lato" pitchFamily="34" charset="-122"/>
                <a:cs typeface="Lato" pitchFamily="34" charset="-120"/>
              </a:rPr>
              <a:t>La carte des moulins et les offres en vitrine</a:t>
            </a:r>
            <a:endParaRPr lang="en-US" sz="1200" dirty="0"/>
          </a:p>
        </p:txBody>
      </p:sp>
      <p:sp>
        <p:nvSpPr>
          <p:cNvPr id="21" name="Text 19"/>
          <p:cNvSpPr txBox="1"/>
          <p:nvPr/>
        </p:nvSpPr>
        <p:spPr>
          <a:xfrm>
            <a:off x="1051560" y="4700016"/>
            <a:ext cx="5669280" cy="621792"/>
          </a:xfrm>
          <a:prstGeom prst="rect">
            <a:avLst/>
          </a:prstGeom>
          <a:noFill/>
          <a:ln/>
        </p:spPr>
        <p:txBody>
          <a:bodyPr wrap="square" lIns="0" tIns="0" rIns="0" bIns="0" rtlCol="0" anchor="t"/>
          <a:lstStyle/>
          <a:p>
            <a:pPr indent="0" marL="0">
              <a:lnSpc>
                <a:spcPct val="105000"/>
              </a:lnSpc>
              <a:buNone/>
            </a:pPr>
            <a:r>
              <a:rPr lang="en-US" sz="980" dirty="0">
                <a:solidFill>
                  <a:srgbClr val="3B1B0F"/>
                </a:solidFill>
                <a:latin typeface="Lato" pitchFamily="34" charset="0"/>
                <a:ea typeface="Lato" pitchFamily="34" charset="-122"/>
                <a:cs typeface="Lato" pitchFamily="34" charset="-120"/>
              </a:rPr>
              <a:t>Jamais poussées en social : elles deviennent la destination des POV et des témoignages.</a:t>
            </a:r>
            <a:endParaRPr lang="en-US" sz="980" dirty="0"/>
          </a:p>
        </p:txBody>
      </p:sp>
      <p:sp>
        <p:nvSpPr>
          <p:cNvPr id="22" name="Shape 20"/>
          <p:cNvSpPr/>
          <p:nvPr/>
        </p:nvSpPr>
        <p:spPr>
          <a:xfrm>
            <a:off x="548640" y="5349240"/>
            <a:ext cx="1965960" cy="960120"/>
          </a:xfrm>
          <a:prstGeom prst="roundRect">
            <a:avLst>
              <a:gd name="adj" fmla="val 17143"/>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23" name="Text 21"/>
          <p:cNvSpPr txBox="1"/>
          <p:nvPr/>
        </p:nvSpPr>
        <p:spPr>
          <a:xfrm>
            <a:off x="731520" y="5413248"/>
            <a:ext cx="1737360" cy="411480"/>
          </a:xfrm>
          <a:prstGeom prst="rect">
            <a:avLst/>
          </a:prstGeom>
          <a:noFill/>
          <a:ln/>
        </p:spPr>
        <p:txBody>
          <a:bodyPr wrap="square" lIns="0" tIns="0" rIns="0" bIns="0" rtlCol="0" anchor="ctr"/>
          <a:lstStyle/>
          <a:p>
            <a:pPr indent="0" marL="0">
              <a:buNone/>
            </a:pPr>
            <a:r>
              <a:rPr lang="en-US" sz="1800" b="1" dirty="0">
                <a:solidFill>
                  <a:srgbClr val="E45728"/>
                </a:solidFill>
                <a:latin typeface="Fredoka" pitchFamily="34" charset="0"/>
                <a:ea typeface="Fredoka" pitchFamily="34" charset="-122"/>
                <a:cs typeface="Fredoka" pitchFamily="34" charset="-120"/>
              </a:rPr>
              <a:t>8 % → 30 %</a:t>
            </a:r>
            <a:endParaRPr lang="en-US" sz="1800" dirty="0"/>
          </a:p>
        </p:txBody>
      </p:sp>
      <p:sp>
        <p:nvSpPr>
          <p:cNvPr id="24" name="Text 22"/>
          <p:cNvSpPr txBox="1"/>
          <p:nvPr/>
        </p:nvSpPr>
        <p:spPr>
          <a:xfrm>
            <a:off x="731520" y="5815584"/>
            <a:ext cx="1737360" cy="457200"/>
          </a:xfrm>
          <a:prstGeom prst="rect">
            <a:avLst/>
          </a:prstGeom>
          <a:noFill/>
          <a:ln/>
        </p:spPr>
        <p:txBody>
          <a:bodyPr wrap="square" lIns="0" tIns="0" rIns="0" bIns="0" rtlCol="0" anchor="t"/>
          <a:lstStyle/>
          <a:p>
            <a:pPr indent="0" marL="0">
              <a:lnSpc>
                <a:spcPct val="105000"/>
              </a:lnSpc>
              <a:buNone/>
            </a:pPr>
            <a:r>
              <a:rPr lang="en-US" sz="880" dirty="0">
                <a:solidFill>
                  <a:srgbClr val="7A5A4A"/>
                </a:solidFill>
                <a:latin typeface="Lato" pitchFamily="34" charset="0"/>
                <a:ea typeface="Lato" pitchFamily="34" charset="-122"/>
                <a:cs typeface="Lato" pitchFamily="34" charset="-120"/>
              </a:rPr>
              <a:t>de sessions engagées</a:t>
            </a:r>
            <a:endParaRPr lang="en-US" sz="880" dirty="0"/>
          </a:p>
          <a:p>
            <a:pPr indent="0" marL="0">
              <a:lnSpc>
                <a:spcPct val="105000"/>
              </a:lnSpc>
              <a:buNone/>
            </a:pPr>
            <a:r>
              <a:rPr lang="en-US" sz="880" dirty="0">
                <a:solidFill>
                  <a:srgbClr val="7A5A4A"/>
                </a:solidFill>
                <a:latin typeface="Lato" pitchFamily="34" charset="0"/>
                <a:ea typeface="Lato" pitchFamily="34" charset="-122"/>
                <a:cs typeface="Lato" pitchFamily="34" charset="-120"/>
              </a:rPr>
              <a:t>depuis le paid social</a:t>
            </a:r>
            <a:endParaRPr lang="en-US" sz="880" dirty="0"/>
          </a:p>
        </p:txBody>
      </p:sp>
      <p:sp>
        <p:nvSpPr>
          <p:cNvPr id="25" name="Shape 23"/>
          <p:cNvSpPr/>
          <p:nvPr/>
        </p:nvSpPr>
        <p:spPr>
          <a:xfrm>
            <a:off x="2651760" y="5349240"/>
            <a:ext cx="1965960" cy="960120"/>
          </a:xfrm>
          <a:prstGeom prst="roundRect">
            <a:avLst>
              <a:gd name="adj" fmla="val 17143"/>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26" name="Text 24"/>
          <p:cNvSpPr txBox="1"/>
          <p:nvPr/>
        </p:nvSpPr>
        <p:spPr>
          <a:xfrm>
            <a:off x="2834640" y="5413248"/>
            <a:ext cx="1737360" cy="411480"/>
          </a:xfrm>
          <a:prstGeom prst="rect">
            <a:avLst/>
          </a:prstGeom>
          <a:noFill/>
          <a:ln/>
        </p:spPr>
        <p:txBody>
          <a:bodyPr wrap="square" lIns="0" tIns="0" rIns="0" bIns="0" rtlCol="0" anchor="ctr"/>
          <a:lstStyle/>
          <a:p>
            <a:pPr indent="0" marL="0">
              <a:buNone/>
            </a:pPr>
            <a:r>
              <a:rPr lang="en-US" sz="1800" b="1" dirty="0">
                <a:solidFill>
                  <a:srgbClr val="E45728"/>
                </a:solidFill>
                <a:latin typeface="Fredoka" pitchFamily="34" charset="0"/>
                <a:ea typeface="Fredoka" pitchFamily="34" charset="-122"/>
                <a:cs typeface="Fredoka" pitchFamily="34" charset="-120"/>
              </a:rPr>
              <a:t>3,8 % → 15 %</a:t>
            </a:r>
            <a:endParaRPr lang="en-US" sz="1800" dirty="0"/>
          </a:p>
        </p:txBody>
      </p:sp>
      <p:sp>
        <p:nvSpPr>
          <p:cNvPr id="27" name="Text 25"/>
          <p:cNvSpPr txBox="1"/>
          <p:nvPr/>
        </p:nvSpPr>
        <p:spPr>
          <a:xfrm>
            <a:off x="2834640" y="5815584"/>
            <a:ext cx="1737360" cy="457200"/>
          </a:xfrm>
          <a:prstGeom prst="rect">
            <a:avLst/>
          </a:prstGeom>
          <a:noFill/>
          <a:ln/>
        </p:spPr>
        <p:txBody>
          <a:bodyPr wrap="square" lIns="0" tIns="0" rIns="0" bIns="0" rtlCol="0" anchor="t"/>
          <a:lstStyle/>
          <a:p>
            <a:pPr indent="0" marL="0">
              <a:lnSpc>
                <a:spcPct val="105000"/>
              </a:lnSpc>
              <a:buNone/>
            </a:pPr>
            <a:r>
              <a:rPr lang="en-US" sz="880" dirty="0">
                <a:solidFill>
                  <a:srgbClr val="7A5A4A"/>
                </a:solidFill>
                <a:latin typeface="Lato" pitchFamily="34" charset="0"/>
                <a:ea typeface="Lato" pitchFamily="34" charset="-122"/>
                <a:cs typeface="Lato" pitchFamily="34" charset="-120"/>
              </a:rPr>
              <a:t>de trafic SEO</a:t>
            </a:r>
            <a:endParaRPr lang="en-US" sz="880" dirty="0"/>
          </a:p>
          <a:p>
            <a:pPr indent="0" marL="0">
              <a:lnSpc>
                <a:spcPct val="105000"/>
              </a:lnSpc>
              <a:buNone/>
            </a:pPr>
            <a:r>
              <a:rPr lang="en-US" sz="880" dirty="0">
                <a:solidFill>
                  <a:srgbClr val="7A5A4A"/>
                </a:solidFill>
                <a:latin typeface="Lato" pitchFamily="34" charset="0"/>
                <a:ea typeface="Lato" pitchFamily="34" charset="-122"/>
                <a:cs typeface="Lato" pitchFamily="34" charset="-120"/>
              </a:rPr>
              <a:t>sur les fiches métiers</a:t>
            </a:r>
            <a:endParaRPr lang="en-US" sz="880" dirty="0"/>
          </a:p>
        </p:txBody>
      </p:sp>
      <p:sp>
        <p:nvSpPr>
          <p:cNvPr id="28" name="Shape 26"/>
          <p:cNvSpPr/>
          <p:nvPr/>
        </p:nvSpPr>
        <p:spPr>
          <a:xfrm>
            <a:off x="4754880" y="5349240"/>
            <a:ext cx="1965960" cy="960120"/>
          </a:xfrm>
          <a:prstGeom prst="roundRect">
            <a:avLst>
              <a:gd name="adj" fmla="val 17143"/>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29" name="Text 27"/>
          <p:cNvSpPr txBox="1"/>
          <p:nvPr/>
        </p:nvSpPr>
        <p:spPr>
          <a:xfrm>
            <a:off x="4937760" y="5413248"/>
            <a:ext cx="1737360" cy="411480"/>
          </a:xfrm>
          <a:prstGeom prst="rect">
            <a:avLst/>
          </a:prstGeom>
          <a:noFill/>
          <a:ln/>
        </p:spPr>
        <p:txBody>
          <a:bodyPr wrap="square" lIns="0" tIns="0" rIns="0" bIns="0" rtlCol="0" anchor="ctr"/>
          <a:lstStyle/>
          <a:p>
            <a:pPr indent="0" marL="0">
              <a:buNone/>
            </a:pPr>
            <a:r>
              <a:rPr lang="en-US" sz="1800" b="1" dirty="0">
                <a:solidFill>
                  <a:srgbClr val="E45728"/>
                </a:solidFill>
                <a:latin typeface="Fredoka" pitchFamily="34" charset="0"/>
                <a:ea typeface="Fredoka" pitchFamily="34" charset="-122"/>
                <a:cs typeface="Fredoka" pitchFamily="34" charset="-120"/>
              </a:rPr>
              <a:t>0 → 500</a:t>
            </a:r>
            <a:endParaRPr lang="en-US" sz="1800" dirty="0"/>
          </a:p>
        </p:txBody>
      </p:sp>
      <p:sp>
        <p:nvSpPr>
          <p:cNvPr id="30" name="Text 28"/>
          <p:cNvSpPr txBox="1"/>
          <p:nvPr/>
        </p:nvSpPr>
        <p:spPr>
          <a:xfrm>
            <a:off x="4937760" y="5815584"/>
            <a:ext cx="1737360" cy="457200"/>
          </a:xfrm>
          <a:prstGeom prst="rect">
            <a:avLst/>
          </a:prstGeom>
          <a:noFill/>
          <a:ln/>
        </p:spPr>
        <p:txBody>
          <a:bodyPr wrap="square" lIns="0" tIns="0" rIns="0" bIns="0" rtlCol="0" anchor="t"/>
          <a:lstStyle/>
          <a:p>
            <a:pPr indent="0" marL="0">
              <a:lnSpc>
                <a:spcPct val="105000"/>
              </a:lnSpc>
              <a:buNone/>
            </a:pPr>
            <a:r>
              <a:rPr lang="en-US" sz="880" dirty="0">
                <a:solidFill>
                  <a:srgbClr val="7A5A4A"/>
                </a:solidFill>
                <a:latin typeface="Lato" pitchFamily="34" charset="0"/>
                <a:ea typeface="Lato" pitchFamily="34" charset="-122"/>
                <a:cs typeface="Lato" pitchFamily="34" charset="-120"/>
              </a:rPr>
              <a:t>leads mesurés</a:t>
            </a:r>
            <a:endParaRPr lang="en-US" sz="880" dirty="0"/>
          </a:p>
          <a:p>
            <a:pPr indent="0" marL="0">
              <a:lnSpc>
                <a:spcPct val="105000"/>
              </a:lnSpc>
              <a:buNone/>
            </a:pPr>
            <a:r>
              <a:rPr lang="en-US" sz="880" dirty="0">
                <a:solidFill>
                  <a:srgbClr val="7A5A4A"/>
                </a:solidFill>
                <a:latin typeface="Lato" pitchFamily="34" charset="0"/>
                <a:ea typeface="Lato" pitchFamily="34" charset="-122"/>
                <a:cs typeface="Lato" pitchFamily="34" charset="-120"/>
              </a:rPr>
              <a:t>par an</a:t>
            </a:r>
            <a:endParaRPr lang="en-US" sz="880" dirty="0"/>
          </a:p>
        </p:txBody>
      </p:sp>
      <p:sp>
        <p:nvSpPr>
          <p:cNvPr id="31" name="Shape 29"/>
          <p:cNvSpPr/>
          <p:nvPr/>
        </p:nvSpPr>
        <p:spPr>
          <a:xfrm>
            <a:off x="7178040" y="1920240"/>
            <a:ext cx="4526280" cy="2715768"/>
          </a:xfrm>
          <a:prstGeom prst="roundRect">
            <a:avLst>
              <a:gd name="adj" fmla="val 5387"/>
            </a:avLst>
          </a:prstGeom>
          <a:solidFill>
            <a:srgbClr val="1C1410"/>
          </a:solidFill>
          <a:ln w="12700">
            <a:solidFill>
              <a:srgbClr val="1C1410"/>
            </a:solidFill>
            <a:prstDash val="solid"/>
          </a:ln>
          <a:effectLst>
            <a:outerShdw sx="100000" sy="100000" kx="0" ky="0" algn="bl" rotWithShape="0" blurRad="127000" dist="50800" dir="5400000">
              <a:srgbClr val="000000">
                <a:alpha val="22000"/>
              </a:srgbClr>
            </a:outerShdw>
          </a:effectLst>
        </p:spPr>
      </p:sp>
      <p:sp>
        <p:nvSpPr>
          <p:cNvPr id="32" name="Shape 30"/>
          <p:cNvSpPr/>
          <p:nvPr/>
        </p:nvSpPr>
        <p:spPr>
          <a:xfrm>
            <a:off x="7260336" y="2002536"/>
            <a:ext cx="4361688" cy="2551176"/>
          </a:xfrm>
          <a:prstGeom prst="rect">
            <a:avLst/>
          </a:prstGeom>
          <a:solidFill>
            <a:srgbClr val="FFFFFF"/>
          </a:solidFill>
          <a:ln w="12700">
            <a:solidFill>
              <a:srgbClr val="FFFFFF"/>
            </a:solidFill>
            <a:prstDash val="solid"/>
          </a:ln>
        </p:spPr>
      </p:sp>
      <p:sp>
        <p:nvSpPr>
          <p:cNvPr id="33" name="Shape 31"/>
          <p:cNvSpPr/>
          <p:nvPr/>
        </p:nvSpPr>
        <p:spPr>
          <a:xfrm>
            <a:off x="6906463" y="4636008"/>
            <a:ext cx="5069434" cy="146304"/>
          </a:xfrm>
          <a:prstGeom prst="roundRect">
            <a:avLst>
              <a:gd name="adj" fmla="val 37500"/>
            </a:avLst>
          </a:prstGeom>
          <a:solidFill>
            <a:srgbClr val="D8D3CC"/>
          </a:solidFill>
          <a:ln w="12700">
            <a:solidFill>
              <a:srgbClr val="D8D3CC"/>
            </a:solidFill>
            <a:prstDash val="solid"/>
          </a:ln>
        </p:spPr>
      </p:sp>
      <p:sp>
        <p:nvSpPr>
          <p:cNvPr id="34" name="Shape 32"/>
          <p:cNvSpPr/>
          <p:nvPr/>
        </p:nvSpPr>
        <p:spPr>
          <a:xfrm>
            <a:off x="8988552" y="4636008"/>
            <a:ext cx="905256" cy="45720"/>
          </a:xfrm>
          <a:prstGeom prst="rect">
            <a:avLst/>
          </a:prstGeom>
          <a:solidFill>
            <a:srgbClr val="B9B3AA"/>
          </a:solidFill>
          <a:ln w="12700">
            <a:solidFill>
              <a:srgbClr val="B9B3AA"/>
            </a:solidFill>
            <a:prstDash val="solid"/>
          </a:ln>
        </p:spPr>
      </p:sp>
      <p:sp>
        <p:nvSpPr>
          <p:cNvPr id="35" name="Shape 33"/>
          <p:cNvSpPr/>
          <p:nvPr/>
        </p:nvSpPr>
        <p:spPr>
          <a:xfrm>
            <a:off x="7260336" y="2002536"/>
            <a:ext cx="4361688" cy="2551176"/>
          </a:xfrm>
          <a:prstGeom prst="rect">
            <a:avLst/>
          </a:prstGeom>
          <a:solidFill>
            <a:srgbClr val="F6EBDA"/>
          </a:solidFill>
          <a:ln w="12700">
            <a:solidFill>
              <a:srgbClr val="F6EBDA"/>
            </a:solidFill>
            <a:prstDash val="solid"/>
          </a:ln>
        </p:spPr>
      </p:sp>
      <p:sp>
        <p:nvSpPr>
          <p:cNvPr id="36" name="Shape 34"/>
          <p:cNvSpPr/>
          <p:nvPr/>
        </p:nvSpPr>
        <p:spPr>
          <a:xfrm>
            <a:off x="7260336" y="2002536"/>
            <a:ext cx="4361688" cy="292608"/>
          </a:xfrm>
          <a:prstGeom prst="rect">
            <a:avLst/>
          </a:prstGeom>
          <a:solidFill>
            <a:srgbClr val="FFFFFF"/>
          </a:solidFill>
          <a:ln w="12700">
            <a:solidFill>
              <a:srgbClr val="FFFFFF"/>
            </a:solidFill>
            <a:prstDash val="solid"/>
          </a:ln>
        </p:spPr>
      </p:sp>
      <p:pic>
        <p:nvPicPr>
          <p:cNvPr id="37" name="Image 0" descr="/tmp/claude-0/-home-user-Dashboard-Antidotes/19e64f65-f236-5057-97fe-8b787e5e46cb/scratchpad/assets/ChasseursDeGraines_Logo_Quadri.png">    </p:cNvPr>
          <p:cNvPicPr>
            <a:picLocks noChangeAspect="1"/>
          </p:cNvPicPr>
          <p:nvPr/>
        </p:nvPicPr>
        <p:blipFill>
          <a:blip r:embed="rId1"/>
          <a:stretch>
            <a:fillRect/>
          </a:stretch>
        </p:blipFill>
        <p:spPr>
          <a:xfrm>
            <a:off x="7351776" y="2020824"/>
            <a:ext cx="548640" cy="265176"/>
          </a:xfrm>
          <a:prstGeom prst="rect">
            <a:avLst/>
          </a:prstGeom>
        </p:spPr>
      </p:pic>
      <p:sp>
        <p:nvSpPr>
          <p:cNvPr id="38" name="Text 35"/>
          <p:cNvSpPr txBox="1"/>
          <p:nvPr/>
        </p:nvSpPr>
        <p:spPr>
          <a:xfrm>
            <a:off x="8357616" y="2048256"/>
            <a:ext cx="2926080" cy="219456"/>
          </a:xfrm>
          <a:prstGeom prst="rect">
            <a:avLst/>
          </a:prstGeom>
          <a:noFill/>
          <a:ln/>
        </p:spPr>
        <p:txBody>
          <a:bodyPr wrap="square" lIns="0" tIns="0" rIns="0" bIns="0" rtlCol="0" anchor="ctr"/>
          <a:lstStyle/>
          <a:p>
            <a:pPr indent="0" marL="0">
              <a:buNone/>
            </a:pPr>
            <a:r>
              <a:rPr lang="en-US" sz="750" dirty="0">
                <a:solidFill>
                  <a:srgbClr val="7A5A4A"/>
                </a:solidFill>
                <a:latin typeface="Lato" pitchFamily="34" charset="0"/>
                <a:ea typeface="Lato" pitchFamily="34" charset="-122"/>
                <a:cs typeface="Lato" pitchFamily="34" charset="-120"/>
              </a:rPr>
              <a:t>Métiers   Formations   Moulins   Offres</a:t>
            </a:r>
            <a:endParaRPr lang="en-US" sz="750" dirty="0"/>
          </a:p>
        </p:txBody>
      </p:sp>
      <p:sp>
        <p:nvSpPr>
          <p:cNvPr id="39" name="Shape 36"/>
          <p:cNvSpPr/>
          <p:nvPr/>
        </p:nvSpPr>
        <p:spPr>
          <a:xfrm>
            <a:off x="10479024" y="2048256"/>
            <a:ext cx="1051560" cy="201168"/>
          </a:xfrm>
          <a:prstGeom prst="roundRect">
            <a:avLst>
              <a:gd name="adj" fmla="val 50000"/>
            </a:avLst>
          </a:prstGeom>
          <a:solidFill>
            <a:srgbClr val="E45728"/>
          </a:solidFill>
          <a:ln w="12700">
            <a:solidFill>
              <a:srgbClr val="E45728"/>
            </a:solidFill>
            <a:prstDash val="solid"/>
          </a:ln>
        </p:spPr>
      </p:sp>
      <p:sp>
        <p:nvSpPr>
          <p:cNvPr id="40" name="Text 37"/>
          <p:cNvSpPr txBox="1"/>
          <p:nvPr/>
        </p:nvSpPr>
        <p:spPr>
          <a:xfrm>
            <a:off x="10479024" y="2048256"/>
            <a:ext cx="1051560" cy="201168"/>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Fredoka" pitchFamily="34" charset="0"/>
                <a:ea typeface="Fredoka" pitchFamily="34" charset="-122"/>
                <a:cs typeface="Fredoka" pitchFamily="34" charset="-120"/>
              </a:rPr>
              <a:t>Je visite un moulin</a:t>
            </a:r>
            <a:endParaRPr lang="en-US" sz="650" dirty="0"/>
          </a:p>
        </p:txBody>
      </p:sp>
      <p:sp>
        <p:nvSpPr>
          <p:cNvPr id="41" name="Text 38"/>
          <p:cNvSpPr txBox="1"/>
          <p:nvPr/>
        </p:nvSpPr>
        <p:spPr>
          <a:xfrm>
            <a:off x="7488936" y="2414016"/>
            <a:ext cx="3904488" cy="548640"/>
          </a:xfrm>
          <a:prstGeom prst="rect">
            <a:avLst/>
          </a:prstGeom>
          <a:noFill/>
          <a:ln/>
        </p:spPr>
        <p:txBody>
          <a:bodyPr wrap="square" lIns="0" tIns="0" rIns="0" bIns="0" rtlCol="0" anchor="t"/>
          <a:lstStyle/>
          <a:p>
            <a:pPr indent="0" marL="0">
              <a:lnSpc>
                <a:spcPct val="100000"/>
              </a:lnSpc>
              <a:buNone/>
            </a:pPr>
            <a:r>
              <a:rPr lang="en-US" sz="1700" b="1" dirty="0">
                <a:solidFill>
                  <a:srgbClr val="922D18"/>
                </a:solidFill>
                <a:latin typeface="Fredoka" pitchFamily="34" charset="0"/>
                <a:ea typeface="Fredoka" pitchFamily="34" charset="-122"/>
                <a:cs typeface="Fredoka" pitchFamily="34" charset="-120"/>
              </a:rPr>
              <a:t>25 000 postes. Et si c'était toi ?</a:t>
            </a:r>
            <a:endParaRPr lang="en-US" sz="1700" dirty="0"/>
          </a:p>
        </p:txBody>
      </p:sp>
      <p:sp>
        <p:nvSpPr>
          <p:cNvPr id="42" name="Text 39"/>
          <p:cNvSpPr txBox="1"/>
          <p:nvPr/>
        </p:nvSpPr>
        <p:spPr>
          <a:xfrm>
            <a:off x="7488936" y="2962656"/>
            <a:ext cx="3904488" cy="228600"/>
          </a:xfrm>
          <a:prstGeom prst="rect">
            <a:avLst/>
          </a:prstGeom>
          <a:noFill/>
          <a:ln/>
        </p:spPr>
        <p:txBody>
          <a:bodyPr wrap="square" lIns="0" tIns="0" rIns="0" bIns="0" rtlCol="0" anchor="t"/>
          <a:lstStyle/>
          <a:p>
            <a:pPr indent="0" marL="0">
              <a:buNone/>
            </a:pPr>
            <a:r>
              <a:rPr lang="en-US" sz="800" dirty="0">
                <a:solidFill>
                  <a:srgbClr val="3B1B0F"/>
                </a:solidFill>
                <a:latin typeface="Lato" pitchFamily="34" charset="0"/>
                <a:ea typeface="Lato" pitchFamily="34" charset="-122"/>
                <a:cs typeface="Lato" pitchFamily="34" charset="-120"/>
              </a:rPr>
              <a:t>Choisis ton profil, on te montre le chemin.</a:t>
            </a:r>
            <a:endParaRPr lang="en-US" sz="800" dirty="0"/>
          </a:p>
        </p:txBody>
      </p:sp>
      <p:sp>
        <p:nvSpPr>
          <p:cNvPr id="43" name="Shape 40"/>
          <p:cNvSpPr/>
          <p:nvPr/>
        </p:nvSpPr>
        <p:spPr>
          <a:xfrm>
            <a:off x="7488936" y="3282696"/>
            <a:ext cx="1240536" cy="640080"/>
          </a:xfrm>
          <a:prstGeom prst="roundRect">
            <a:avLst>
              <a:gd name="adj" fmla="val 14286"/>
            </a:avLst>
          </a:prstGeom>
          <a:solidFill>
            <a:srgbClr val="FFFFFF"/>
          </a:solidFill>
          <a:ln w="12700">
            <a:solidFill>
              <a:srgbClr val="EADCC8"/>
            </a:solidFill>
            <a:prstDash val="solid"/>
          </a:ln>
        </p:spPr>
      </p:sp>
      <p:sp>
        <p:nvSpPr>
          <p:cNvPr id="44" name="Shape 41"/>
          <p:cNvSpPr/>
          <p:nvPr/>
        </p:nvSpPr>
        <p:spPr>
          <a:xfrm>
            <a:off x="7598664" y="3392424"/>
            <a:ext cx="201168" cy="201168"/>
          </a:xfrm>
          <a:prstGeom prst="ellipse">
            <a:avLst/>
          </a:prstGeom>
          <a:solidFill>
            <a:srgbClr val="E45728"/>
          </a:solidFill>
          <a:ln w="12700">
            <a:solidFill>
              <a:srgbClr val="E45728"/>
            </a:solidFill>
            <a:prstDash val="solid"/>
          </a:ln>
        </p:spPr>
      </p:sp>
      <p:sp>
        <p:nvSpPr>
          <p:cNvPr id="45" name="Text 42"/>
          <p:cNvSpPr txBox="1"/>
          <p:nvPr/>
        </p:nvSpPr>
        <p:spPr>
          <a:xfrm>
            <a:off x="7854696" y="3374136"/>
            <a:ext cx="829056" cy="237744"/>
          </a:xfrm>
          <a:prstGeom prst="rect">
            <a:avLst/>
          </a:prstGeom>
          <a:noFill/>
          <a:ln/>
        </p:spPr>
        <p:txBody>
          <a:bodyPr wrap="square" lIns="0" tIns="0" rIns="0" bIns="0" rtlCol="0" anchor="ctr"/>
          <a:lstStyle/>
          <a:p>
            <a:pPr indent="0" marL="0">
              <a:buNone/>
            </a:pPr>
            <a:r>
              <a:rPr lang="en-US" sz="800" b="1" dirty="0">
                <a:solidFill>
                  <a:srgbClr val="922D18"/>
                </a:solidFill>
                <a:latin typeface="Lato" pitchFamily="34" charset="0"/>
                <a:ea typeface="Lato" pitchFamily="34" charset="-122"/>
                <a:cs typeface="Lato" pitchFamily="34" charset="-120"/>
              </a:rPr>
              <a:t>Lycéen·ne</a:t>
            </a:r>
            <a:endParaRPr lang="en-US" sz="800" dirty="0"/>
          </a:p>
        </p:txBody>
      </p:sp>
      <p:sp>
        <p:nvSpPr>
          <p:cNvPr id="46" name="Text 43"/>
          <p:cNvSpPr txBox="1"/>
          <p:nvPr/>
        </p:nvSpPr>
        <p:spPr>
          <a:xfrm>
            <a:off x="7854696" y="3630168"/>
            <a:ext cx="829056" cy="201168"/>
          </a:xfrm>
          <a:prstGeom prst="rect">
            <a:avLst/>
          </a:prstGeom>
          <a:noFill/>
          <a:ln/>
        </p:spPr>
        <p:txBody>
          <a:bodyPr wrap="square" lIns="0" tIns="0" rIns="0" bIns="0" rtlCol="0" anchor="ctr"/>
          <a:lstStyle/>
          <a:p>
            <a:pPr indent="0" marL="0">
              <a:buNone/>
            </a:pPr>
            <a:r>
              <a:rPr lang="en-US" sz="700" dirty="0">
                <a:solidFill>
                  <a:srgbClr val="7A5A4A"/>
                </a:solidFill>
                <a:latin typeface="Lato" pitchFamily="34" charset="0"/>
                <a:ea typeface="Lato" pitchFamily="34" charset="-122"/>
                <a:cs typeface="Lato" pitchFamily="34" charset="-120"/>
              </a:rPr>
              <a:t>→ ma page</a:t>
            </a:r>
            <a:endParaRPr lang="en-US" sz="700" dirty="0"/>
          </a:p>
        </p:txBody>
      </p:sp>
      <p:sp>
        <p:nvSpPr>
          <p:cNvPr id="47" name="Shape 44"/>
          <p:cNvSpPr/>
          <p:nvPr/>
        </p:nvSpPr>
        <p:spPr>
          <a:xfrm>
            <a:off x="8820912" y="3282696"/>
            <a:ext cx="1240536" cy="640080"/>
          </a:xfrm>
          <a:prstGeom prst="roundRect">
            <a:avLst>
              <a:gd name="adj" fmla="val 14286"/>
            </a:avLst>
          </a:prstGeom>
          <a:solidFill>
            <a:srgbClr val="FFFFFF"/>
          </a:solidFill>
          <a:ln w="12700">
            <a:solidFill>
              <a:srgbClr val="EADCC8"/>
            </a:solidFill>
            <a:prstDash val="solid"/>
          </a:ln>
        </p:spPr>
      </p:sp>
      <p:sp>
        <p:nvSpPr>
          <p:cNvPr id="48" name="Shape 45"/>
          <p:cNvSpPr/>
          <p:nvPr/>
        </p:nvSpPr>
        <p:spPr>
          <a:xfrm>
            <a:off x="8930640" y="3392424"/>
            <a:ext cx="201168" cy="201168"/>
          </a:xfrm>
          <a:prstGeom prst="ellipse">
            <a:avLst/>
          </a:prstGeom>
          <a:solidFill>
            <a:srgbClr val="922D18"/>
          </a:solidFill>
          <a:ln w="12700">
            <a:solidFill>
              <a:srgbClr val="922D18"/>
            </a:solidFill>
            <a:prstDash val="solid"/>
          </a:ln>
        </p:spPr>
      </p:sp>
      <p:sp>
        <p:nvSpPr>
          <p:cNvPr id="49" name="Text 46"/>
          <p:cNvSpPr txBox="1"/>
          <p:nvPr/>
        </p:nvSpPr>
        <p:spPr>
          <a:xfrm>
            <a:off x="9186672" y="3374136"/>
            <a:ext cx="829056" cy="237744"/>
          </a:xfrm>
          <a:prstGeom prst="rect">
            <a:avLst/>
          </a:prstGeom>
          <a:noFill/>
          <a:ln/>
        </p:spPr>
        <p:txBody>
          <a:bodyPr wrap="square" lIns="0" tIns="0" rIns="0" bIns="0" rtlCol="0" anchor="ctr"/>
          <a:lstStyle/>
          <a:p>
            <a:pPr indent="0" marL="0">
              <a:buNone/>
            </a:pPr>
            <a:r>
              <a:rPr lang="en-US" sz="800" b="1" dirty="0">
                <a:solidFill>
                  <a:srgbClr val="922D18"/>
                </a:solidFill>
                <a:latin typeface="Lato" pitchFamily="34" charset="0"/>
                <a:ea typeface="Lato" pitchFamily="34" charset="-122"/>
                <a:cs typeface="Lato" pitchFamily="34" charset="-120"/>
              </a:rPr>
              <a:t>En reconversion</a:t>
            </a:r>
            <a:endParaRPr lang="en-US" sz="800" dirty="0"/>
          </a:p>
        </p:txBody>
      </p:sp>
      <p:sp>
        <p:nvSpPr>
          <p:cNvPr id="50" name="Text 47"/>
          <p:cNvSpPr txBox="1"/>
          <p:nvPr/>
        </p:nvSpPr>
        <p:spPr>
          <a:xfrm>
            <a:off x="9186672" y="3630168"/>
            <a:ext cx="829056" cy="201168"/>
          </a:xfrm>
          <a:prstGeom prst="rect">
            <a:avLst/>
          </a:prstGeom>
          <a:noFill/>
          <a:ln/>
        </p:spPr>
        <p:txBody>
          <a:bodyPr wrap="square" lIns="0" tIns="0" rIns="0" bIns="0" rtlCol="0" anchor="ctr"/>
          <a:lstStyle/>
          <a:p>
            <a:pPr indent="0" marL="0">
              <a:buNone/>
            </a:pPr>
            <a:r>
              <a:rPr lang="en-US" sz="700" dirty="0">
                <a:solidFill>
                  <a:srgbClr val="7A5A4A"/>
                </a:solidFill>
                <a:latin typeface="Lato" pitchFamily="34" charset="0"/>
                <a:ea typeface="Lato" pitchFamily="34" charset="-122"/>
                <a:cs typeface="Lato" pitchFamily="34" charset="-120"/>
              </a:rPr>
              <a:t>→ ma page</a:t>
            </a:r>
            <a:endParaRPr lang="en-US" sz="700" dirty="0"/>
          </a:p>
        </p:txBody>
      </p:sp>
      <p:sp>
        <p:nvSpPr>
          <p:cNvPr id="51" name="Shape 48"/>
          <p:cNvSpPr/>
          <p:nvPr/>
        </p:nvSpPr>
        <p:spPr>
          <a:xfrm>
            <a:off x="10152888" y="3282696"/>
            <a:ext cx="1240536" cy="640080"/>
          </a:xfrm>
          <a:prstGeom prst="roundRect">
            <a:avLst>
              <a:gd name="adj" fmla="val 14286"/>
            </a:avLst>
          </a:prstGeom>
          <a:solidFill>
            <a:srgbClr val="FFFFFF"/>
          </a:solidFill>
          <a:ln w="12700">
            <a:solidFill>
              <a:srgbClr val="EADCC8"/>
            </a:solidFill>
            <a:prstDash val="solid"/>
          </a:ln>
        </p:spPr>
      </p:sp>
      <p:sp>
        <p:nvSpPr>
          <p:cNvPr id="52" name="Shape 49"/>
          <p:cNvSpPr/>
          <p:nvPr/>
        </p:nvSpPr>
        <p:spPr>
          <a:xfrm>
            <a:off x="10262616" y="3392424"/>
            <a:ext cx="201168" cy="201168"/>
          </a:xfrm>
          <a:prstGeom prst="ellipse">
            <a:avLst/>
          </a:prstGeom>
          <a:solidFill>
            <a:srgbClr val="FEBE5C"/>
          </a:solidFill>
          <a:ln w="12700">
            <a:solidFill>
              <a:srgbClr val="FEBE5C"/>
            </a:solidFill>
            <a:prstDash val="solid"/>
          </a:ln>
        </p:spPr>
      </p:sp>
      <p:sp>
        <p:nvSpPr>
          <p:cNvPr id="53" name="Text 50"/>
          <p:cNvSpPr txBox="1"/>
          <p:nvPr/>
        </p:nvSpPr>
        <p:spPr>
          <a:xfrm>
            <a:off x="10518648" y="3374136"/>
            <a:ext cx="829056" cy="237744"/>
          </a:xfrm>
          <a:prstGeom prst="rect">
            <a:avLst/>
          </a:prstGeom>
          <a:noFill/>
          <a:ln/>
        </p:spPr>
        <p:txBody>
          <a:bodyPr wrap="square" lIns="0" tIns="0" rIns="0" bIns="0" rtlCol="0" anchor="ctr"/>
          <a:lstStyle/>
          <a:p>
            <a:pPr indent="0" marL="0">
              <a:buNone/>
            </a:pPr>
            <a:r>
              <a:rPr lang="en-US" sz="800" b="1" dirty="0">
                <a:solidFill>
                  <a:srgbClr val="922D18"/>
                </a:solidFill>
                <a:latin typeface="Lato" pitchFamily="34" charset="0"/>
                <a:ea typeface="Lato" pitchFamily="34" charset="-122"/>
                <a:cs typeface="Lato" pitchFamily="34" charset="-120"/>
              </a:rPr>
              <a:t>Prof / CIO</a:t>
            </a:r>
            <a:endParaRPr lang="en-US" sz="800" dirty="0"/>
          </a:p>
        </p:txBody>
      </p:sp>
      <p:sp>
        <p:nvSpPr>
          <p:cNvPr id="54" name="Text 51"/>
          <p:cNvSpPr txBox="1"/>
          <p:nvPr/>
        </p:nvSpPr>
        <p:spPr>
          <a:xfrm>
            <a:off x="10518648" y="3630168"/>
            <a:ext cx="829056" cy="201168"/>
          </a:xfrm>
          <a:prstGeom prst="rect">
            <a:avLst/>
          </a:prstGeom>
          <a:noFill/>
          <a:ln/>
        </p:spPr>
        <p:txBody>
          <a:bodyPr wrap="square" lIns="0" tIns="0" rIns="0" bIns="0" rtlCol="0" anchor="ctr"/>
          <a:lstStyle/>
          <a:p>
            <a:pPr indent="0" marL="0">
              <a:buNone/>
            </a:pPr>
            <a:r>
              <a:rPr lang="en-US" sz="700" dirty="0">
                <a:solidFill>
                  <a:srgbClr val="7A5A4A"/>
                </a:solidFill>
                <a:latin typeface="Lato" pitchFamily="34" charset="0"/>
                <a:ea typeface="Lato" pitchFamily="34" charset="-122"/>
                <a:cs typeface="Lato" pitchFamily="34" charset="-120"/>
              </a:rPr>
              <a:t>→ ma page</a:t>
            </a:r>
            <a:endParaRPr lang="en-US" sz="700" dirty="0"/>
          </a:p>
        </p:txBody>
      </p:sp>
      <p:sp>
        <p:nvSpPr>
          <p:cNvPr id="55" name="Shape 52"/>
          <p:cNvSpPr/>
          <p:nvPr/>
        </p:nvSpPr>
        <p:spPr>
          <a:xfrm>
            <a:off x="7488936" y="4059936"/>
            <a:ext cx="3904488" cy="411480"/>
          </a:xfrm>
          <a:prstGeom prst="roundRect">
            <a:avLst>
              <a:gd name="adj" fmla="val 17778"/>
            </a:avLst>
          </a:prstGeom>
          <a:solidFill>
            <a:srgbClr val="FFFFFF"/>
          </a:solidFill>
          <a:ln w="12700">
            <a:solidFill>
              <a:srgbClr val="EADCC8"/>
            </a:solidFill>
            <a:prstDash val="solid"/>
          </a:ln>
        </p:spPr>
      </p:sp>
      <p:sp>
        <p:nvSpPr>
          <p:cNvPr id="56" name="Text 53"/>
          <p:cNvSpPr txBox="1"/>
          <p:nvPr/>
        </p:nvSpPr>
        <p:spPr>
          <a:xfrm>
            <a:off x="7607808" y="4059936"/>
            <a:ext cx="2532888" cy="411480"/>
          </a:xfrm>
          <a:prstGeom prst="rect">
            <a:avLst/>
          </a:prstGeom>
          <a:noFill/>
          <a:ln/>
        </p:spPr>
        <p:txBody>
          <a:bodyPr wrap="square" lIns="0" tIns="0" rIns="0" bIns="0" rtlCol="0" anchor="ctr"/>
          <a:lstStyle/>
          <a:p>
            <a:pPr indent="0" marL="0">
              <a:buNone/>
            </a:pPr>
            <a:r>
              <a:rPr lang="en-US" sz="750" dirty="0">
                <a:solidFill>
                  <a:srgbClr val="7A5A4A"/>
                </a:solidFill>
                <a:latin typeface="Lato" pitchFamily="34" charset="0"/>
                <a:ea typeface="Lato" pitchFamily="34" charset="-122"/>
                <a:cs typeface="Lato" pitchFamily="34" charset="-120"/>
              </a:rPr>
              <a:t>Ton e-mail pour recevoir le guide Parcoursup × meunerie</a:t>
            </a:r>
            <a:endParaRPr lang="en-US" sz="750" dirty="0"/>
          </a:p>
        </p:txBody>
      </p:sp>
      <p:sp>
        <p:nvSpPr>
          <p:cNvPr id="57" name="Shape 54"/>
          <p:cNvSpPr/>
          <p:nvPr/>
        </p:nvSpPr>
        <p:spPr>
          <a:xfrm>
            <a:off x="10204704" y="4133088"/>
            <a:ext cx="1097280" cy="265176"/>
          </a:xfrm>
          <a:prstGeom prst="roundRect">
            <a:avLst>
              <a:gd name="adj" fmla="val 50000"/>
            </a:avLst>
          </a:prstGeom>
          <a:solidFill>
            <a:srgbClr val="922D18"/>
          </a:solidFill>
          <a:ln w="12700">
            <a:solidFill>
              <a:srgbClr val="922D18"/>
            </a:solidFill>
            <a:prstDash val="solid"/>
          </a:ln>
        </p:spPr>
      </p:sp>
      <p:sp>
        <p:nvSpPr>
          <p:cNvPr id="58" name="Text 55"/>
          <p:cNvSpPr txBox="1"/>
          <p:nvPr/>
        </p:nvSpPr>
        <p:spPr>
          <a:xfrm>
            <a:off x="10204704" y="4133088"/>
            <a:ext cx="1097280" cy="265176"/>
          </a:xfrm>
          <a:prstGeom prst="rect">
            <a:avLst/>
          </a:prstGeom>
          <a:noFill/>
          <a:ln/>
        </p:spPr>
        <p:txBody>
          <a:bodyPr wrap="square" lIns="0" tIns="0" rIns="0" bIns="0" rtlCol="0" anchor="ctr"/>
          <a:lstStyle/>
          <a:p>
            <a:pPr algn="ctr" indent="0" marL="0">
              <a:buNone/>
            </a:pPr>
            <a:r>
              <a:rPr lang="en-US" sz="700" b="1" spc="100" kern="0" dirty="0">
                <a:solidFill>
                  <a:srgbClr val="FFFFFF"/>
                </a:solidFill>
                <a:latin typeface="Fredoka" pitchFamily="34" charset="0"/>
                <a:ea typeface="Fredoka" pitchFamily="34" charset="-122"/>
                <a:cs typeface="Fredoka" pitchFamily="34" charset="-120"/>
              </a:rPr>
              <a:t>Je reçois le guide</a:t>
            </a:r>
            <a:endParaRPr lang="en-US" sz="700" dirty="0"/>
          </a:p>
        </p:txBody>
      </p:sp>
      <p:sp>
        <p:nvSpPr>
          <p:cNvPr id="59" name="Text 56"/>
          <p:cNvSpPr txBox="1"/>
          <p:nvPr/>
        </p:nvSpPr>
        <p:spPr>
          <a:xfrm>
            <a:off x="7223760" y="5120640"/>
            <a:ext cx="4480560" cy="274320"/>
          </a:xfrm>
          <a:prstGeom prst="rect">
            <a:avLst/>
          </a:prstGeom>
          <a:noFill/>
          <a:ln/>
        </p:spPr>
        <p:txBody>
          <a:bodyPr wrap="square" lIns="0" tIns="0" rIns="0" bIns="0" rtlCol="0" anchor="t"/>
          <a:lstStyle/>
          <a:p>
            <a:pPr algn="ctr" indent="0" marL="0">
              <a:buNone/>
            </a:pPr>
            <a:r>
              <a:rPr lang="en-US" sz="850" i="1" dirty="0">
                <a:solidFill>
                  <a:srgbClr val="7A5A4A"/>
                </a:solidFill>
                <a:latin typeface="Lato" pitchFamily="34" charset="0"/>
                <a:ea typeface="Lato" pitchFamily="34" charset="-122"/>
                <a:cs typeface="Lato" pitchFamily="34" charset="-120"/>
              </a:rPr>
              <a:t>Principe de page d'atterrissage « lycéen » — maquette de travail, à concevoir.</a:t>
            </a:r>
            <a:endParaRPr lang="en-US" sz="850" dirty="0"/>
          </a:p>
        </p:txBody>
      </p:sp>
      <p:sp>
        <p:nvSpPr>
          <p:cNvPr id="60" name="Text 57"/>
          <p:cNvSpPr txBox="1"/>
          <p:nvPr/>
        </p:nvSpPr>
        <p:spPr>
          <a:xfrm>
            <a:off x="548640" y="6446520"/>
            <a:ext cx="9601200" cy="274320"/>
          </a:xfrm>
          <a:prstGeom prst="rect">
            <a:avLst/>
          </a:prstGeom>
          <a:noFill/>
          <a:ln/>
        </p:spPr>
        <p:txBody>
          <a:bodyPr wrap="square" lIns="0" tIns="0" rIns="0" bIns="0" rtlCol="0" anchor="ctr"/>
          <a:lstStyle/>
          <a:p>
            <a:pPr indent="0" marL="0">
              <a:buNone/>
            </a:pPr>
            <a:r>
              <a:rPr lang="en-US" sz="850" i="1" dirty="0">
                <a:solidFill>
                  <a:srgbClr val="7A5A4A"/>
                </a:solidFill>
                <a:latin typeface="Lato" pitchFamily="34" charset="0"/>
                <a:ea typeface="Lato" pitchFamily="34" charset="-122"/>
                <a:cs typeface="Lato" pitchFamily="34" charset="-120"/>
              </a:rPr>
              <a:t>Chiffres : GA4 2026 (sessions engagées paid social 8 %, organic search 66 %). Les pages /produit/… et /elements/tabs du thème sont encore servies et comptées.</a:t>
            </a:r>
            <a:endParaRPr lang="en-US" sz="850" dirty="0"/>
          </a:p>
        </p:txBody>
      </p:sp>
      <p:pic>
        <p:nvPicPr>
          <p:cNvPr id="61" name="Image 1" descr="/tmp/claude-0/-home-user-Dashboard-Antidotes/19e64f65-f236-5057-97fe-8b787e5e46cb/scratchpad/assets/ChasseursDeGraines_Logo_Quadri.png">    </p:cNvPr>
          <p:cNvPicPr>
            <a:picLocks noChangeAspect="1"/>
          </p:cNvPicPr>
          <p:nvPr/>
        </p:nvPicPr>
        <p:blipFill>
          <a:blip r:embed="rId2"/>
          <a:stretch>
            <a:fillRect/>
          </a:stretch>
        </p:blipFill>
        <p:spPr>
          <a:xfrm>
            <a:off x="10561320" y="6263640"/>
            <a:ext cx="1188720" cy="5760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6EC"/>
        </a:solidFill>
      </p:bgPr>
    </p:bg>
    <p:spTree>
      <p:nvGrpSpPr>
        <p:cNvPr id="1" name=""/>
        <p:cNvGrpSpPr/>
        <p:nvPr/>
      </p:nvGrpSpPr>
      <p:grpSpPr>
        <a:xfrm>
          <a:off x="0" y="0"/>
          <a:ext cx="0" cy="0"/>
          <a:chOff x="0" y="0"/>
          <a:chExt cx="0" cy="0"/>
        </a:xfrm>
      </p:grpSpPr>
      <p:sp>
        <p:nvSpPr>
          <p:cNvPr id="2" name="Shape 0"/>
          <p:cNvSpPr/>
          <p:nvPr/>
        </p:nvSpPr>
        <p:spPr>
          <a:xfrm>
            <a:off x="548640" y="182880"/>
            <a:ext cx="2560320" cy="274320"/>
          </a:xfrm>
          <a:prstGeom prst="roundRect">
            <a:avLst>
              <a:gd name="adj" fmla="val 50000"/>
            </a:avLst>
          </a:prstGeom>
          <a:solidFill>
            <a:srgbClr val="E45728"/>
          </a:solidFill>
          <a:ln w="12700">
            <a:solidFill>
              <a:srgbClr val="E45728"/>
            </a:solidFill>
            <a:prstDash val="solid"/>
          </a:ln>
        </p:spPr>
      </p:sp>
      <p:sp>
        <p:nvSpPr>
          <p:cNvPr id="3" name="Text 1"/>
          <p:cNvSpPr txBox="1"/>
          <p:nvPr/>
        </p:nvSpPr>
        <p:spPr>
          <a:xfrm>
            <a:off x="548640" y="182880"/>
            <a:ext cx="256032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Fredoka" pitchFamily="34" charset="0"/>
                <a:ea typeface="Fredoka" pitchFamily="34" charset="-122"/>
                <a:cs typeface="Fredoka" pitchFamily="34" charset="-120"/>
              </a:rPr>
              <a:t>CAP 2027</a:t>
            </a:r>
            <a:endParaRPr lang="en-US" sz="950" dirty="0"/>
          </a:p>
        </p:txBody>
      </p:sp>
      <p:sp>
        <p:nvSpPr>
          <p:cNvPr id="4" name="Text 2"/>
          <p:cNvSpPr txBox="1"/>
          <p:nvPr/>
        </p:nvSpPr>
        <p:spPr>
          <a:xfrm>
            <a:off x="548640" y="411480"/>
            <a:ext cx="8229600" cy="822960"/>
          </a:xfrm>
          <a:prstGeom prst="rect">
            <a:avLst/>
          </a:prstGeom>
          <a:noFill/>
          <a:ln/>
        </p:spPr>
        <p:txBody>
          <a:bodyPr wrap="square" lIns="0" tIns="0" rIns="0" bIns="0" rtlCol="0" anchor="ctr"/>
          <a:lstStyle/>
          <a:p>
            <a:pPr indent="0" marL="0">
              <a:buNone/>
            </a:pPr>
            <a:r>
              <a:rPr lang="en-US" sz="3400" b="1" dirty="0">
                <a:solidFill>
                  <a:srgbClr val="922D18"/>
                </a:solidFill>
                <a:latin typeface="Fredoka" pitchFamily="34" charset="0"/>
                <a:ea typeface="Fredoka" pitchFamily="34" charset="-122"/>
                <a:cs typeface="Fredoka" pitchFamily="34" charset="-120"/>
              </a:rPr>
              <a:t>Ce qu'on vise, et comment on y va</a:t>
            </a:r>
            <a:endParaRPr lang="en-US" sz="3400" dirty="0"/>
          </a:p>
        </p:txBody>
      </p:sp>
      <p:sp>
        <p:nvSpPr>
          <p:cNvPr id="5" name="Shape 3"/>
          <p:cNvSpPr/>
          <p:nvPr/>
        </p:nvSpPr>
        <p:spPr>
          <a:xfrm>
            <a:off x="548640" y="1371600"/>
            <a:ext cx="6400800" cy="3246120"/>
          </a:xfrm>
          <a:prstGeom prst="roundRect">
            <a:avLst>
              <a:gd name="adj" fmla="val 5070"/>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6" name="Text 4"/>
          <p:cNvSpPr txBox="1"/>
          <p:nvPr/>
        </p:nvSpPr>
        <p:spPr>
          <a:xfrm>
            <a:off x="777240" y="1481328"/>
            <a:ext cx="5486400" cy="320040"/>
          </a:xfrm>
          <a:prstGeom prst="rect">
            <a:avLst/>
          </a:prstGeom>
          <a:noFill/>
          <a:ln/>
        </p:spPr>
        <p:txBody>
          <a:bodyPr wrap="square" lIns="0" tIns="0" rIns="0" bIns="0" rtlCol="0" anchor="t"/>
          <a:lstStyle/>
          <a:p>
            <a:pPr indent="0" marL="0">
              <a:buNone/>
            </a:pPr>
            <a:r>
              <a:rPr lang="en-US" sz="1200" b="1" dirty="0">
                <a:solidFill>
                  <a:srgbClr val="922D18"/>
                </a:solidFill>
                <a:latin typeface="Lato" pitchFamily="34" charset="0"/>
                <a:ea typeface="Lato" pitchFamily="34" charset="-122"/>
                <a:cs typeface="Lato" pitchFamily="34" charset="-120"/>
              </a:rPr>
              <a:t>Objectifs proposés pour 2027</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77240" y="1828800"/>
          <a:ext cx="5943600" cy="914400"/>
        </p:xfrm>
        <a:graphic>
          <a:graphicData uri="http://schemas.openxmlformats.org/drawingml/2006/table">
            <a:tbl>
              <a:tblPr/>
              <a:tblGrid>
                <a:gridCol w="2743200"/>
                <a:gridCol w="1737360"/>
                <a:gridCol w="1463040"/>
              </a:tblGrid>
              <a:tr h="310896">
                <a:tc>
                  <a:txBody>
                    <a:bodyPr/>
                    <a:lstStyle/>
                    <a:p>
                      <a:pPr algn="l" indent="0" marL="0">
                        <a:buNone/>
                      </a:pPr>
                      <a:r>
                        <a:rPr lang="en-US" sz="1000" b="1" dirty="0">
                          <a:solidFill>
                            <a:srgbClr val="7A5A4A"/>
                          </a:solidFill>
                          <a:latin typeface="Lato" pitchFamily="34" charset="0"/>
                          <a:ea typeface="Lato" pitchFamily="34" charset="-122"/>
                          <a:cs typeface="Lato" pitchFamily="34" charset="-120"/>
                        </a:rPr>
                        <a:t>Indicateur</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7A5A4A"/>
                          </a:solidFill>
                          <a:latin typeface="Lato" pitchFamily="34" charset="0"/>
                          <a:ea typeface="Lato" pitchFamily="34" charset="-122"/>
                          <a:cs typeface="Lato" pitchFamily="34" charset="-120"/>
                        </a:rPr>
                        <a:t>Aujourd'hui</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7A5A4A"/>
                          </a:solidFill>
                          <a:latin typeface="Lato" pitchFamily="34" charset="0"/>
                          <a:ea typeface="Lato" pitchFamily="34" charset="-122"/>
                          <a:cs typeface="Lato" pitchFamily="34" charset="-120"/>
                        </a:rPr>
                        <a:t>Objectif 2027</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3B1B0F"/>
                          </a:solidFill>
                          <a:latin typeface="Lato" pitchFamily="34" charset="0"/>
                          <a:ea typeface="Lato" pitchFamily="34" charset="-122"/>
                          <a:cs typeface="Lato" pitchFamily="34" charset="-120"/>
                        </a:rPr>
                        <a:t>Abonnés Instagram</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B1B0F"/>
                          </a:solidFill>
                          <a:latin typeface="Lato" pitchFamily="34" charset="0"/>
                          <a:ea typeface="Lato" pitchFamily="34" charset="-122"/>
                          <a:cs typeface="Lato" pitchFamily="34" charset="-120"/>
                        </a:rPr>
                        <a:t>3 496 (juil. 2026)</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E45728"/>
                          </a:solidFill>
                          <a:latin typeface="Lato" pitchFamily="34" charset="0"/>
                          <a:ea typeface="Lato" pitchFamily="34" charset="-122"/>
                          <a:cs typeface="Lato" pitchFamily="34" charset="-120"/>
                        </a:rPr>
                        <a:t>5 000</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3B1B0F"/>
                          </a:solidFill>
                          <a:latin typeface="Lato" pitchFamily="34" charset="0"/>
                          <a:ea typeface="Lato" pitchFamily="34" charset="-122"/>
                          <a:cs typeface="Lato" pitchFamily="34" charset="-120"/>
                        </a:rPr>
                        <a:t>Abonnés TikTok</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B1B0F"/>
                          </a:solidFill>
                          <a:latin typeface="Lato" pitchFamily="34" charset="0"/>
                          <a:ea typeface="Lato" pitchFamily="34" charset="-122"/>
                          <a:cs typeface="Lato" pitchFamily="34" charset="-120"/>
                        </a:rPr>
                        <a:t>813 (juil. 2026)</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E45728"/>
                          </a:solidFill>
                          <a:latin typeface="Lato" pitchFamily="34" charset="0"/>
                          <a:ea typeface="Lato" pitchFamily="34" charset="-122"/>
                          <a:cs typeface="Lato" pitchFamily="34" charset="-120"/>
                        </a:rPr>
                        <a:t>1 500</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3B1B0F"/>
                          </a:solidFill>
                          <a:latin typeface="Lato" pitchFamily="34" charset="0"/>
                          <a:ea typeface="Lato" pitchFamily="34" charset="-122"/>
                          <a:cs typeface="Lato" pitchFamily="34" charset="-120"/>
                        </a:rPr>
                        <a:t>Abonnés LinkedIn ANMF</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B1B0F"/>
                          </a:solidFill>
                          <a:latin typeface="Lato" pitchFamily="34" charset="0"/>
                          <a:ea typeface="Lato" pitchFamily="34" charset="-122"/>
                          <a:cs typeface="Lato" pitchFamily="34" charset="-120"/>
                        </a:rPr>
                        <a:t>6 632 (juil. 2026)</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E45728"/>
                          </a:solidFill>
                          <a:latin typeface="Lato" pitchFamily="34" charset="0"/>
                          <a:ea typeface="Lato" pitchFamily="34" charset="-122"/>
                          <a:cs typeface="Lato" pitchFamily="34" charset="-120"/>
                        </a:rPr>
                        <a:t>7 500</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3B1B0F"/>
                          </a:solidFill>
                          <a:latin typeface="Lato" pitchFamily="34" charset="0"/>
                          <a:ea typeface="Lato" pitchFamily="34" charset="-122"/>
                          <a:cs typeface="Lato" pitchFamily="34" charset="-120"/>
                        </a:rPr>
                        <a:t>Sessions site / an</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B1B0F"/>
                          </a:solidFill>
                          <a:latin typeface="Lato" pitchFamily="34" charset="0"/>
                          <a:ea typeface="Lato" pitchFamily="34" charset="-122"/>
                          <a:cs typeface="Lato" pitchFamily="34" charset="-120"/>
                        </a:rPr>
                        <a:t>66 215 (8 mois 2026)</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E45728"/>
                          </a:solidFill>
                          <a:latin typeface="Lato" pitchFamily="34" charset="0"/>
                          <a:ea typeface="Lato" pitchFamily="34" charset="-122"/>
                          <a:cs typeface="Lato" pitchFamily="34" charset="-120"/>
                        </a:rPr>
                        <a:t>120 000</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3B1B0F"/>
                          </a:solidFill>
                          <a:latin typeface="Lato" pitchFamily="34" charset="0"/>
                          <a:ea typeface="Lato" pitchFamily="34" charset="-122"/>
                          <a:cs typeface="Lato" pitchFamily="34" charset="-120"/>
                        </a:rPr>
                        <a:t>Sessions engagées depuis le paid</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B1B0F"/>
                          </a:solidFill>
                          <a:latin typeface="Lato" pitchFamily="34" charset="0"/>
                          <a:ea typeface="Lato" pitchFamily="34" charset="-122"/>
                          <a:cs typeface="Lato" pitchFamily="34" charset="-120"/>
                        </a:rPr>
                        <a:t>8 %</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E45728"/>
                          </a:solidFill>
                          <a:latin typeface="Lato" pitchFamily="34" charset="0"/>
                          <a:ea typeface="Lato" pitchFamily="34" charset="-122"/>
                          <a:cs typeface="Lato" pitchFamily="34" charset="-120"/>
                        </a:rPr>
                        <a:t>30 %</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3B1B0F"/>
                          </a:solidFill>
                          <a:latin typeface="Lato" pitchFamily="34" charset="0"/>
                          <a:ea typeface="Lato" pitchFamily="34" charset="-122"/>
                          <a:cs typeface="Lato" pitchFamily="34" charset="-120"/>
                        </a:rPr>
                        <a:t>Leads mesurés (visite, rappel, candidature)</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B1B0F"/>
                          </a:solidFill>
                          <a:latin typeface="Lato" pitchFamily="34" charset="0"/>
                          <a:ea typeface="Lato" pitchFamily="34" charset="-122"/>
                          <a:cs typeface="Lato" pitchFamily="34" charset="-120"/>
                        </a:rPr>
                        <a:t>non mesuré</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E45728"/>
                          </a:solidFill>
                          <a:latin typeface="Lato" pitchFamily="34" charset="0"/>
                          <a:ea typeface="Lato" pitchFamily="34" charset="-122"/>
                          <a:cs typeface="Lato" pitchFamily="34" charset="-120"/>
                        </a:rPr>
                        <a:t>500</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3B1B0F"/>
                          </a:solidFill>
                          <a:latin typeface="Lato" pitchFamily="34" charset="0"/>
                          <a:ea typeface="Lato" pitchFamily="34" charset="-122"/>
                          <a:cs typeface="Lato" pitchFamily="34" charset="-120"/>
                        </a:rPr>
                        <a:t>CPC Meta · CPM TikTok</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3B1B0F"/>
                          </a:solidFill>
                          <a:latin typeface="Lato" pitchFamily="34" charset="0"/>
                          <a:ea typeface="Lato" pitchFamily="34" charset="-122"/>
                          <a:cs typeface="Lato" pitchFamily="34" charset="-120"/>
                        </a:rPr>
                        <a:t>0,04 € · 0,26 €</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E45728"/>
                          </a:solidFill>
                          <a:latin typeface="Lato" pitchFamily="34" charset="0"/>
                          <a:ea typeface="Lato" pitchFamily="34" charset="-122"/>
                          <a:cs typeface="Lato" pitchFamily="34" charset="-120"/>
                        </a:rPr>
                        <a:t>≤ 0,05 € · ≤ 0,30 €</a:t>
                      </a:r>
                      <a:endParaRPr lang="en-US" sz="1000" dirty="0">
                        <a:latin typeface="Lato" charset="0"/>
                        <a:ea typeface="Lato" charset="0"/>
                        <a:cs typeface="Lato" charset="0"/>
                      </a:endParaRPr>
                    </a:p>
                  </a:txBody>
                  <a:tcPr marL="76200" marR="76200" marT="25400" marB="25400">
                    <a:lnL w="6350" cap="flat" cmpd="sng" algn="ctr">
                      <a:solidFill>
                        <a:srgbClr val="EFE4D3"/>
                      </a:solidFill>
                      <a:prstDash val="solid"/>
                      <a:round/>
                      <a:headEnd type="none" w="med" len="med"/>
                      <a:tailEnd type="none" w="med" len="med"/>
                    </a:lnL>
                    <a:lnR w="6350" cap="flat" cmpd="sng" algn="ctr">
                      <a:solidFill>
                        <a:srgbClr val="EFE4D3"/>
                      </a:solidFill>
                      <a:prstDash val="solid"/>
                      <a:round/>
                      <a:headEnd type="none" w="med" len="med"/>
                      <a:tailEnd type="none" w="med" len="med"/>
                    </a:lnR>
                    <a:lnT w="6350" cap="flat" cmpd="sng" algn="ctr">
                      <a:solidFill>
                        <a:srgbClr val="EFE4D3"/>
                      </a:solidFill>
                      <a:prstDash val="solid"/>
                      <a:round/>
                      <a:headEnd type="none" w="med" len="med"/>
                      <a:tailEnd type="none" w="med" len="med"/>
                    </a:lnT>
                    <a:lnB w="6350" cap="flat" cmpd="sng" algn="ctr">
                      <a:solidFill>
                        <a:srgbClr val="EFE4D3"/>
                      </a:solidFill>
                      <a:prstDash val="solid"/>
                      <a:round/>
                      <a:headEnd type="none" w="med" len="med"/>
                      <a:tailEnd type="none" w="med" len="med"/>
                    </a:lnB>
                    <a:solidFill>
                      <a:srgbClr val="FFFFFF"/>
                    </a:solidFill>
                  </a:tcPr>
                </a:tc>
              </a:tr>
            </a:tbl>
          </a:graphicData>
        </a:graphic>
      </p:graphicFrame>
      <p:sp>
        <p:nvSpPr>
          <p:cNvPr id="8" name="Shape 5"/>
          <p:cNvSpPr/>
          <p:nvPr/>
        </p:nvSpPr>
        <p:spPr>
          <a:xfrm>
            <a:off x="7178040" y="1371600"/>
            <a:ext cx="4480560" cy="3246120"/>
          </a:xfrm>
          <a:prstGeom prst="roundRect">
            <a:avLst>
              <a:gd name="adj" fmla="val 5070"/>
            </a:avLst>
          </a:prstGeom>
          <a:solidFill>
            <a:srgbClr val="922D18"/>
          </a:solidFill>
          <a:ln w="12700">
            <a:solidFill>
              <a:srgbClr val="922D18"/>
            </a:solidFill>
            <a:prstDash val="solid"/>
          </a:ln>
          <a:effectLst>
            <a:outerShdw sx="100000" sy="100000" kx="0" ky="0" algn="bl" rotWithShape="0" blurRad="101600" dist="25400" dir="5400000">
              <a:srgbClr val="5A3A28">
                <a:alpha val="10000"/>
              </a:srgbClr>
            </a:outerShdw>
          </a:effectLst>
        </p:spPr>
      </p:sp>
      <p:sp>
        <p:nvSpPr>
          <p:cNvPr id="9" name="Text 6"/>
          <p:cNvSpPr txBox="1"/>
          <p:nvPr/>
        </p:nvSpPr>
        <p:spPr>
          <a:xfrm>
            <a:off x="7406640" y="1481328"/>
            <a:ext cx="4023360" cy="320040"/>
          </a:xfrm>
          <a:prstGeom prst="rect">
            <a:avLst/>
          </a:prstGeom>
          <a:noFill/>
          <a:ln/>
        </p:spPr>
        <p:txBody>
          <a:bodyPr wrap="square" lIns="0" tIns="0" rIns="0" bIns="0" rtlCol="0" anchor="t"/>
          <a:lstStyle/>
          <a:p>
            <a:pPr indent="0" marL="0">
              <a:buNone/>
            </a:pPr>
            <a:r>
              <a:rPr lang="en-US" sz="1200" b="1" dirty="0">
                <a:solidFill>
                  <a:srgbClr val="FEBE5C"/>
                </a:solidFill>
                <a:latin typeface="Lato" pitchFamily="34" charset="0"/>
                <a:ea typeface="Lato" pitchFamily="34" charset="-122"/>
                <a:cs typeface="Lato" pitchFamily="34" charset="-120"/>
              </a:rPr>
              <a:t>Le dispositif 2027</a:t>
            </a:r>
            <a:endParaRPr lang="en-US" sz="1200" dirty="0"/>
          </a:p>
        </p:txBody>
      </p:sp>
      <p:sp>
        <p:nvSpPr>
          <p:cNvPr id="10" name="Text 7"/>
          <p:cNvSpPr txBox="1"/>
          <p:nvPr/>
        </p:nvSpPr>
        <p:spPr>
          <a:xfrm>
            <a:off x="7406640" y="1874520"/>
            <a:ext cx="4023360" cy="2697480"/>
          </a:xfrm>
          <a:prstGeom prst="rect">
            <a:avLst/>
          </a:prstGeom>
          <a:noFill/>
          <a:ln/>
        </p:spPr>
        <p:txBody>
          <a:bodyPr wrap="square" lIns="0" tIns="0" rIns="0" bIns="0" rtlCol="0" anchor="t"/>
          <a:lstStyle/>
          <a:p>
            <a:pPr marL="177800" indent="-177800">
              <a:lnSpc>
                <a:spcPct val="105000"/>
              </a:lnSpc>
              <a:spcAft>
                <a:spcPts val="500"/>
              </a:spcAft>
              <a:buSzPct val="100000"/>
              <a:buChar char="•"/>
            </a:pPr>
            <a:r>
              <a:rPr lang="en-US" sz="1050" dirty="0">
                <a:solidFill>
                  <a:srgbClr val="FFFFFF"/>
                </a:solidFill>
                <a:latin typeface="Lato" pitchFamily="34" charset="0"/>
                <a:ea typeface="Lato" pitchFamily="34" charset="-122"/>
                <a:cs typeface="Lato" pitchFamily="34" charset="-120"/>
              </a:rPr>
              <a:t>12 mois sans trou d'inter-campagne : les abonnés stagnent dès que ça s'arrête</a:t>
            </a:r>
            <a:endParaRPr lang="en-US" sz="1050" dirty="0"/>
          </a:p>
          <a:p>
            <a:pPr marL="177800" indent="-177800">
              <a:lnSpc>
                <a:spcPct val="105000"/>
              </a:lnSpc>
              <a:spcAft>
                <a:spcPts val="500"/>
              </a:spcAft>
              <a:buSzPct val="100000"/>
              <a:buChar char="•"/>
            </a:pPr>
            <a:r>
              <a:rPr lang="en-US" sz="1050" dirty="0">
                <a:solidFill>
                  <a:srgbClr val="FFFFFF"/>
                </a:solidFill>
                <a:latin typeface="Lato" pitchFamily="34" charset="0"/>
                <a:ea typeface="Lato" pitchFamily="34" charset="-122"/>
                <a:cs typeface="Lato" pitchFamily="34" charset="-120"/>
              </a:rPr>
              <a:t>18 publications / mois + 3 sets de stories, diffusés aussi sur Snapchat et Shorts</a:t>
            </a:r>
            <a:endParaRPr lang="en-US" sz="1050" dirty="0"/>
          </a:p>
          <a:p>
            <a:pPr marL="177800" indent="-177800">
              <a:lnSpc>
                <a:spcPct val="105000"/>
              </a:lnSpc>
              <a:spcAft>
                <a:spcPts val="500"/>
              </a:spcAft>
              <a:buSzPct val="100000"/>
              <a:buChar char="•"/>
            </a:pPr>
            <a:r>
              <a:rPr lang="en-US" sz="1050" dirty="0">
                <a:solidFill>
                  <a:srgbClr val="FFFFFF"/>
                </a:solidFill>
                <a:latin typeface="Lato" pitchFamily="34" charset="0"/>
                <a:ea typeface="Lato" pitchFamily="34" charset="-122"/>
                <a:cs typeface="Lato" pitchFamily="34" charset="-120"/>
              </a:rPr>
              <a:t>Opération Parcoursup (janv.-mars) et rentrée : dark concentré, optimisé sur le lead</a:t>
            </a:r>
            <a:endParaRPr lang="en-US" sz="1050" dirty="0"/>
          </a:p>
          <a:p>
            <a:pPr marL="177800" indent="-177800">
              <a:lnSpc>
                <a:spcPct val="105000"/>
              </a:lnSpc>
              <a:spcAft>
                <a:spcPts val="500"/>
              </a:spcAft>
              <a:buSzPct val="100000"/>
              <a:buChar char="•"/>
            </a:pPr>
            <a:r>
              <a:rPr lang="en-US" sz="1050" dirty="0">
                <a:solidFill>
                  <a:srgbClr val="FFFFFF"/>
                </a:solidFill>
                <a:latin typeface="Lato" pitchFamily="34" charset="0"/>
                <a:ea typeface="Lato" pitchFamily="34" charset="-122"/>
                <a:cs typeface="Lato" pitchFamily="34" charset="-120"/>
              </a:rPr>
              <a:t>4 apprentis-ambassadeurs, 2 créateurs orientation, tournée de 4 CFA</a:t>
            </a:r>
            <a:endParaRPr lang="en-US" sz="1050" dirty="0"/>
          </a:p>
          <a:p>
            <a:pPr marL="177800" indent="-177800">
              <a:lnSpc>
                <a:spcPct val="105000"/>
              </a:lnSpc>
              <a:spcAft>
                <a:spcPts val="500"/>
              </a:spcAft>
              <a:buSzPct val="100000"/>
              <a:buChar char="•"/>
            </a:pPr>
            <a:r>
              <a:rPr lang="en-US" sz="1050" dirty="0">
                <a:solidFill>
                  <a:srgbClr val="FFFFFF"/>
                </a:solidFill>
                <a:latin typeface="Lato" pitchFamily="34" charset="0"/>
                <a:ea typeface="Lato" pitchFamily="34" charset="-122"/>
                <a:cs typeface="Lato" pitchFamily="34" charset="-120"/>
              </a:rPr>
              <a:t>DM automatisés, retargeting, pages d'atterrissage, tunnel et SEO</a:t>
            </a:r>
            <a:endParaRPr lang="en-US" sz="1050" dirty="0"/>
          </a:p>
          <a:p>
            <a:pPr marL="177800" indent="-177800">
              <a:lnSpc>
                <a:spcPct val="105000"/>
              </a:lnSpc>
              <a:spcAft>
                <a:spcPts val="500"/>
              </a:spcAft>
              <a:buSzPct val="100000"/>
              <a:buChar char="•"/>
            </a:pPr>
            <a:r>
              <a:rPr lang="en-US" sz="1050" dirty="0">
                <a:solidFill>
                  <a:srgbClr val="FFFFFF"/>
                </a:solidFill>
                <a:latin typeface="Lato" pitchFamily="34" charset="0"/>
                <a:ea typeface="Lato" pitchFamily="34" charset="-122"/>
                <a:cs typeface="Lato" pitchFamily="34" charset="-120"/>
              </a:rPr>
              <a:t>Un dashboard social + site + leads, lu ensemble chaque mois</a:t>
            </a:r>
            <a:endParaRPr lang="en-US" sz="1050" dirty="0"/>
          </a:p>
        </p:txBody>
      </p:sp>
      <p:sp>
        <p:nvSpPr>
          <p:cNvPr id="11" name="Shape 8"/>
          <p:cNvSpPr/>
          <p:nvPr/>
        </p:nvSpPr>
        <p:spPr>
          <a:xfrm>
            <a:off x="548640" y="4846320"/>
            <a:ext cx="2697480" cy="1417320"/>
          </a:xfrm>
          <a:prstGeom prst="roundRect">
            <a:avLst>
              <a:gd name="adj" fmla="val 11613"/>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12" name="Shape 9"/>
          <p:cNvSpPr/>
          <p:nvPr/>
        </p:nvSpPr>
        <p:spPr>
          <a:xfrm>
            <a:off x="749808" y="5029200"/>
            <a:ext cx="329184" cy="329184"/>
          </a:xfrm>
          <a:prstGeom prst="ellipse">
            <a:avLst/>
          </a:prstGeom>
          <a:solidFill>
            <a:srgbClr val="FEBE5C"/>
          </a:solidFill>
          <a:ln w="12700">
            <a:solidFill>
              <a:srgbClr val="FEBE5C"/>
            </a:solidFill>
            <a:prstDash val="solid"/>
          </a:ln>
        </p:spPr>
      </p:sp>
      <p:sp>
        <p:nvSpPr>
          <p:cNvPr id="13" name="Text 10"/>
          <p:cNvSpPr txBox="1"/>
          <p:nvPr/>
        </p:nvSpPr>
        <p:spPr>
          <a:xfrm>
            <a:off x="749808" y="5029200"/>
            <a:ext cx="329184" cy="329184"/>
          </a:xfrm>
          <a:prstGeom prst="rect">
            <a:avLst/>
          </a:prstGeom>
          <a:noFill/>
          <a:ln/>
        </p:spPr>
        <p:txBody>
          <a:bodyPr wrap="square" lIns="0" tIns="0" rIns="0" bIns="0" rtlCol="0" anchor="ctr"/>
          <a:lstStyle/>
          <a:p>
            <a:pPr algn="ctr" indent="0" marL="0">
              <a:buNone/>
            </a:pPr>
            <a:r>
              <a:rPr lang="en-US" sz="1100" b="1" dirty="0">
                <a:solidFill>
                  <a:srgbClr val="922D18"/>
                </a:solidFill>
                <a:latin typeface="Fredoka" pitchFamily="34" charset="0"/>
                <a:ea typeface="Fredoka" pitchFamily="34" charset="-122"/>
                <a:cs typeface="Fredoka" pitchFamily="34" charset="-120"/>
              </a:rPr>
              <a:t>1</a:t>
            </a:r>
            <a:endParaRPr lang="en-US" sz="1100" dirty="0"/>
          </a:p>
        </p:txBody>
      </p:sp>
      <p:sp>
        <p:nvSpPr>
          <p:cNvPr id="14" name="Text 11"/>
          <p:cNvSpPr txBox="1"/>
          <p:nvPr/>
        </p:nvSpPr>
        <p:spPr>
          <a:xfrm>
            <a:off x="1188720" y="5029200"/>
            <a:ext cx="1920240" cy="329184"/>
          </a:xfrm>
          <a:prstGeom prst="rect">
            <a:avLst/>
          </a:prstGeom>
          <a:noFill/>
          <a:ln/>
        </p:spPr>
        <p:txBody>
          <a:bodyPr wrap="square" lIns="0" tIns="0" rIns="0" bIns="0" rtlCol="0" anchor="ctr"/>
          <a:lstStyle/>
          <a:p>
            <a:pPr indent="0" marL="0">
              <a:buNone/>
            </a:pPr>
            <a:r>
              <a:rPr lang="en-US" sz="1150" b="1" dirty="0">
                <a:solidFill>
                  <a:srgbClr val="922D18"/>
                </a:solidFill>
                <a:latin typeface="Lato" pitchFamily="34" charset="0"/>
                <a:ea typeface="Lato" pitchFamily="34" charset="-122"/>
                <a:cs typeface="Lato" pitchFamily="34" charset="-120"/>
              </a:rPr>
              <a:t>Octobre 2026</a:t>
            </a:r>
            <a:endParaRPr lang="en-US" sz="1150" dirty="0"/>
          </a:p>
        </p:txBody>
      </p:sp>
      <p:sp>
        <p:nvSpPr>
          <p:cNvPr id="15" name="Text 12"/>
          <p:cNvSpPr txBox="1"/>
          <p:nvPr/>
        </p:nvSpPr>
        <p:spPr>
          <a:xfrm>
            <a:off x="749808" y="5440680"/>
            <a:ext cx="2331720" cy="731520"/>
          </a:xfrm>
          <a:prstGeom prst="rect">
            <a:avLst/>
          </a:prstGeom>
          <a:noFill/>
          <a:ln/>
        </p:spPr>
        <p:txBody>
          <a:bodyPr wrap="square" lIns="0" tIns="0" rIns="0" bIns="0" rtlCol="0" anchor="t"/>
          <a:lstStyle/>
          <a:p>
            <a:pPr indent="0" marL="0">
              <a:lnSpc>
                <a:spcPct val="105000"/>
              </a:lnSpc>
              <a:buNone/>
            </a:pPr>
            <a:r>
              <a:rPr lang="en-US" sz="980" dirty="0">
                <a:solidFill>
                  <a:srgbClr val="3B1B0F"/>
                </a:solidFill>
                <a:latin typeface="Lato" pitchFamily="34" charset="0"/>
                <a:ea typeface="Lato" pitchFamily="34" charset="-122"/>
                <a:cs typeface="Lato" pitchFamily="34" charset="-120"/>
              </a:rPr>
              <a:t>Présentation du bilan et des recommandations</a:t>
            </a:r>
            <a:endParaRPr lang="en-US" sz="980" dirty="0"/>
          </a:p>
        </p:txBody>
      </p:sp>
      <p:sp>
        <p:nvSpPr>
          <p:cNvPr id="16" name="Shape 13"/>
          <p:cNvSpPr/>
          <p:nvPr/>
        </p:nvSpPr>
        <p:spPr>
          <a:xfrm>
            <a:off x="3374136" y="4846320"/>
            <a:ext cx="2697480" cy="1417320"/>
          </a:xfrm>
          <a:prstGeom prst="roundRect">
            <a:avLst>
              <a:gd name="adj" fmla="val 11613"/>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17" name="Shape 14"/>
          <p:cNvSpPr/>
          <p:nvPr/>
        </p:nvSpPr>
        <p:spPr>
          <a:xfrm>
            <a:off x="3575304" y="5029200"/>
            <a:ext cx="329184" cy="329184"/>
          </a:xfrm>
          <a:prstGeom prst="ellipse">
            <a:avLst/>
          </a:prstGeom>
          <a:solidFill>
            <a:srgbClr val="FEBE5C"/>
          </a:solidFill>
          <a:ln w="12700">
            <a:solidFill>
              <a:srgbClr val="FEBE5C"/>
            </a:solidFill>
            <a:prstDash val="solid"/>
          </a:ln>
        </p:spPr>
      </p:sp>
      <p:sp>
        <p:nvSpPr>
          <p:cNvPr id="18" name="Text 15"/>
          <p:cNvSpPr txBox="1"/>
          <p:nvPr/>
        </p:nvSpPr>
        <p:spPr>
          <a:xfrm>
            <a:off x="3575304" y="5029200"/>
            <a:ext cx="329184" cy="329184"/>
          </a:xfrm>
          <a:prstGeom prst="rect">
            <a:avLst/>
          </a:prstGeom>
          <a:noFill/>
          <a:ln/>
        </p:spPr>
        <p:txBody>
          <a:bodyPr wrap="square" lIns="0" tIns="0" rIns="0" bIns="0" rtlCol="0" anchor="ctr"/>
          <a:lstStyle/>
          <a:p>
            <a:pPr algn="ctr" indent="0" marL="0">
              <a:buNone/>
            </a:pPr>
            <a:r>
              <a:rPr lang="en-US" sz="1100" b="1" dirty="0">
                <a:solidFill>
                  <a:srgbClr val="922D18"/>
                </a:solidFill>
                <a:latin typeface="Fredoka" pitchFamily="34" charset="0"/>
                <a:ea typeface="Fredoka" pitchFamily="34" charset="-122"/>
                <a:cs typeface="Fredoka" pitchFamily="34" charset="-120"/>
              </a:rPr>
              <a:t>2</a:t>
            </a:r>
            <a:endParaRPr lang="en-US" sz="1100" dirty="0"/>
          </a:p>
        </p:txBody>
      </p:sp>
      <p:sp>
        <p:nvSpPr>
          <p:cNvPr id="19" name="Text 16"/>
          <p:cNvSpPr txBox="1"/>
          <p:nvPr/>
        </p:nvSpPr>
        <p:spPr>
          <a:xfrm>
            <a:off x="4014216" y="5029200"/>
            <a:ext cx="1920240" cy="329184"/>
          </a:xfrm>
          <a:prstGeom prst="rect">
            <a:avLst/>
          </a:prstGeom>
          <a:noFill/>
          <a:ln/>
        </p:spPr>
        <p:txBody>
          <a:bodyPr wrap="square" lIns="0" tIns="0" rIns="0" bIns="0" rtlCol="0" anchor="ctr"/>
          <a:lstStyle/>
          <a:p>
            <a:pPr indent="0" marL="0">
              <a:buNone/>
            </a:pPr>
            <a:r>
              <a:rPr lang="en-US" sz="1150" b="1" dirty="0">
                <a:solidFill>
                  <a:srgbClr val="922D18"/>
                </a:solidFill>
                <a:latin typeface="Lato" pitchFamily="34" charset="0"/>
                <a:ea typeface="Lato" pitchFamily="34" charset="-122"/>
                <a:cs typeface="Lato" pitchFamily="34" charset="-120"/>
              </a:rPr>
              <a:t>Novembre</a:t>
            </a:r>
            <a:endParaRPr lang="en-US" sz="1150" dirty="0"/>
          </a:p>
        </p:txBody>
      </p:sp>
      <p:sp>
        <p:nvSpPr>
          <p:cNvPr id="20" name="Text 17"/>
          <p:cNvSpPr txBox="1"/>
          <p:nvPr/>
        </p:nvSpPr>
        <p:spPr>
          <a:xfrm>
            <a:off x="3575304" y="5440680"/>
            <a:ext cx="2331720" cy="731520"/>
          </a:xfrm>
          <a:prstGeom prst="rect">
            <a:avLst/>
          </a:prstGeom>
          <a:noFill/>
          <a:ln/>
        </p:spPr>
        <p:txBody>
          <a:bodyPr wrap="square" lIns="0" tIns="0" rIns="0" bIns="0" rtlCol="0" anchor="t"/>
          <a:lstStyle/>
          <a:p>
            <a:pPr indent="0" marL="0">
              <a:lnSpc>
                <a:spcPct val="105000"/>
              </a:lnSpc>
              <a:buNone/>
            </a:pPr>
            <a:r>
              <a:rPr lang="en-US" sz="980" dirty="0">
                <a:solidFill>
                  <a:srgbClr val="3B1B0F"/>
                </a:solidFill>
                <a:latin typeface="Lato" pitchFamily="34" charset="0"/>
                <a:ea typeface="Lato" pitchFamily="34" charset="-122"/>
                <a:cs typeface="Lato" pitchFamily="34" charset="-120"/>
              </a:rPr>
              <a:t>Proposition 2027 chiffrée : social + site</a:t>
            </a:r>
            <a:endParaRPr lang="en-US" sz="980" dirty="0"/>
          </a:p>
        </p:txBody>
      </p:sp>
      <p:sp>
        <p:nvSpPr>
          <p:cNvPr id="21" name="Shape 18"/>
          <p:cNvSpPr/>
          <p:nvPr/>
        </p:nvSpPr>
        <p:spPr>
          <a:xfrm>
            <a:off x="6199632" y="4846320"/>
            <a:ext cx="2697480" cy="1417320"/>
          </a:xfrm>
          <a:prstGeom prst="roundRect">
            <a:avLst>
              <a:gd name="adj" fmla="val 11613"/>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22" name="Shape 19"/>
          <p:cNvSpPr/>
          <p:nvPr/>
        </p:nvSpPr>
        <p:spPr>
          <a:xfrm>
            <a:off x="6400800" y="5029200"/>
            <a:ext cx="329184" cy="329184"/>
          </a:xfrm>
          <a:prstGeom prst="ellipse">
            <a:avLst/>
          </a:prstGeom>
          <a:solidFill>
            <a:srgbClr val="FEBE5C"/>
          </a:solidFill>
          <a:ln w="12700">
            <a:solidFill>
              <a:srgbClr val="FEBE5C"/>
            </a:solidFill>
            <a:prstDash val="solid"/>
          </a:ln>
        </p:spPr>
      </p:sp>
      <p:sp>
        <p:nvSpPr>
          <p:cNvPr id="23" name="Text 20"/>
          <p:cNvSpPr txBox="1"/>
          <p:nvPr/>
        </p:nvSpPr>
        <p:spPr>
          <a:xfrm>
            <a:off x="6400800" y="5029200"/>
            <a:ext cx="329184" cy="329184"/>
          </a:xfrm>
          <a:prstGeom prst="rect">
            <a:avLst/>
          </a:prstGeom>
          <a:noFill/>
          <a:ln/>
        </p:spPr>
        <p:txBody>
          <a:bodyPr wrap="square" lIns="0" tIns="0" rIns="0" bIns="0" rtlCol="0" anchor="ctr"/>
          <a:lstStyle/>
          <a:p>
            <a:pPr algn="ctr" indent="0" marL="0">
              <a:buNone/>
            </a:pPr>
            <a:r>
              <a:rPr lang="en-US" sz="1100" b="1" dirty="0">
                <a:solidFill>
                  <a:srgbClr val="922D18"/>
                </a:solidFill>
                <a:latin typeface="Fredoka" pitchFamily="34" charset="0"/>
                <a:ea typeface="Fredoka" pitchFamily="34" charset="-122"/>
                <a:cs typeface="Fredoka" pitchFamily="34" charset="-120"/>
              </a:rPr>
              <a:t>3</a:t>
            </a:r>
            <a:endParaRPr lang="en-US" sz="1100" dirty="0"/>
          </a:p>
        </p:txBody>
      </p:sp>
      <p:sp>
        <p:nvSpPr>
          <p:cNvPr id="24" name="Text 21"/>
          <p:cNvSpPr txBox="1"/>
          <p:nvPr/>
        </p:nvSpPr>
        <p:spPr>
          <a:xfrm>
            <a:off x="6839712" y="5029200"/>
            <a:ext cx="1920240" cy="329184"/>
          </a:xfrm>
          <a:prstGeom prst="rect">
            <a:avLst/>
          </a:prstGeom>
          <a:noFill/>
          <a:ln/>
        </p:spPr>
        <p:txBody>
          <a:bodyPr wrap="square" lIns="0" tIns="0" rIns="0" bIns="0" rtlCol="0" anchor="ctr"/>
          <a:lstStyle/>
          <a:p>
            <a:pPr indent="0" marL="0">
              <a:buNone/>
            </a:pPr>
            <a:r>
              <a:rPr lang="en-US" sz="1150" b="1" dirty="0">
                <a:solidFill>
                  <a:srgbClr val="922D18"/>
                </a:solidFill>
                <a:latin typeface="Lato" pitchFamily="34" charset="0"/>
                <a:ea typeface="Lato" pitchFamily="34" charset="-122"/>
                <a:cs typeface="Lato" pitchFamily="34" charset="-120"/>
              </a:rPr>
              <a:t>Décembre</a:t>
            </a:r>
            <a:endParaRPr lang="en-US" sz="1150" dirty="0"/>
          </a:p>
        </p:txBody>
      </p:sp>
      <p:sp>
        <p:nvSpPr>
          <p:cNvPr id="25" name="Text 22"/>
          <p:cNvSpPr txBox="1"/>
          <p:nvPr/>
        </p:nvSpPr>
        <p:spPr>
          <a:xfrm>
            <a:off x="6400800" y="5440680"/>
            <a:ext cx="2331720" cy="731520"/>
          </a:xfrm>
          <a:prstGeom prst="rect">
            <a:avLst/>
          </a:prstGeom>
          <a:noFill/>
          <a:ln/>
        </p:spPr>
        <p:txBody>
          <a:bodyPr wrap="square" lIns="0" tIns="0" rIns="0" bIns="0" rtlCol="0" anchor="t"/>
          <a:lstStyle/>
          <a:p>
            <a:pPr indent="0" marL="0">
              <a:lnSpc>
                <a:spcPct val="105000"/>
              </a:lnSpc>
              <a:buNone/>
            </a:pPr>
            <a:r>
              <a:rPr lang="en-US" sz="980" dirty="0">
                <a:solidFill>
                  <a:srgbClr val="3B1B0F"/>
                </a:solidFill>
                <a:latin typeface="Lato" pitchFamily="34" charset="0"/>
                <a:ea typeface="Lato" pitchFamily="34" charset="-122"/>
                <a:cs typeface="Lato" pitchFamily="34" charset="-120"/>
              </a:rPr>
              <a:t>Signature, brief créa et plan de tournage</a:t>
            </a:r>
            <a:endParaRPr lang="en-US" sz="980" dirty="0"/>
          </a:p>
        </p:txBody>
      </p:sp>
      <p:sp>
        <p:nvSpPr>
          <p:cNvPr id="26" name="Shape 23"/>
          <p:cNvSpPr/>
          <p:nvPr/>
        </p:nvSpPr>
        <p:spPr>
          <a:xfrm>
            <a:off x="9025128" y="4846320"/>
            <a:ext cx="2697480" cy="1417320"/>
          </a:xfrm>
          <a:prstGeom prst="roundRect">
            <a:avLst>
              <a:gd name="adj" fmla="val 11613"/>
            </a:avLst>
          </a:prstGeom>
          <a:solidFill>
            <a:srgbClr val="FFFFFF"/>
          </a:solidFill>
          <a:ln w="12700">
            <a:solidFill>
              <a:srgbClr val="FFFFFF"/>
            </a:solidFill>
            <a:prstDash val="solid"/>
          </a:ln>
          <a:effectLst>
            <a:outerShdw sx="100000" sy="100000" kx="0" ky="0" algn="bl" rotWithShape="0" blurRad="101600" dist="25400" dir="5400000">
              <a:srgbClr val="5A3A28">
                <a:alpha val="10000"/>
              </a:srgbClr>
            </a:outerShdw>
          </a:effectLst>
        </p:spPr>
      </p:sp>
      <p:sp>
        <p:nvSpPr>
          <p:cNvPr id="27" name="Shape 24"/>
          <p:cNvSpPr/>
          <p:nvPr/>
        </p:nvSpPr>
        <p:spPr>
          <a:xfrm>
            <a:off x="9226296" y="5029200"/>
            <a:ext cx="329184" cy="329184"/>
          </a:xfrm>
          <a:prstGeom prst="ellipse">
            <a:avLst/>
          </a:prstGeom>
          <a:solidFill>
            <a:srgbClr val="E45728"/>
          </a:solidFill>
          <a:ln w="12700">
            <a:solidFill>
              <a:srgbClr val="E45728"/>
            </a:solidFill>
            <a:prstDash val="solid"/>
          </a:ln>
        </p:spPr>
      </p:sp>
      <p:sp>
        <p:nvSpPr>
          <p:cNvPr id="28" name="Text 25"/>
          <p:cNvSpPr txBox="1"/>
          <p:nvPr/>
        </p:nvSpPr>
        <p:spPr>
          <a:xfrm>
            <a:off x="9226296" y="502920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Fredoka" pitchFamily="34" charset="0"/>
                <a:ea typeface="Fredoka" pitchFamily="34" charset="-122"/>
                <a:cs typeface="Fredoka" pitchFamily="34" charset="-120"/>
              </a:rPr>
              <a:t>4</a:t>
            </a:r>
            <a:endParaRPr lang="en-US" sz="1100" dirty="0"/>
          </a:p>
        </p:txBody>
      </p:sp>
      <p:sp>
        <p:nvSpPr>
          <p:cNvPr id="29" name="Text 26"/>
          <p:cNvSpPr txBox="1"/>
          <p:nvPr/>
        </p:nvSpPr>
        <p:spPr>
          <a:xfrm>
            <a:off x="9665208" y="5029200"/>
            <a:ext cx="1920240" cy="329184"/>
          </a:xfrm>
          <a:prstGeom prst="rect">
            <a:avLst/>
          </a:prstGeom>
          <a:noFill/>
          <a:ln/>
        </p:spPr>
        <p:txBody>
          <a:bodyPr wrap="square" lIns="0" tIns="0" rIns="0" bIns="0" rtlCol="0" anchor="ctr"/>
          <a:lstStyle/>
          <a:p>
            <a:pPr indent="0" marL="0">
              <a:buNone/>
            </a:pPr>
            <a:r>
              <a:rPr lang="en-US" sz="1150" b="1" dirty="0">
                <a:solidFill>
                  <a:srgbClr val="922D18"/>
                </a:solidFill>
                <a:latin typeface="Lato" pitchFamily="34" charset="0"/>
                <a:ea typeface="Lato" pitchFamily="34" charset="-122"/>
                <a:cs typeface="Lato" pitchFamily="34" charset="-120"/>
              </a:rPr>
              <a:t>Janvier 2027</a:t>
            </a:r>
            <a:endParaRPr lang="en-US" sz="1150" dirty="0"/>
          </a:p>
        </p:txBody>
      </p:sp>
      <p:sp>
        <p:nvSpPr>
          <p:cNvPr id="30" name="Text 27"/>
          <p:cNvSpPr txBox="1"/>
          <p:nvPr/>
        </p:nvSpPr>
        <p:spPr>
          <a:xfrm>
            <a:off x="9226296" y="5440680"/>
            <a:ext cx="2331720" cy="731520"/>
          </a:xfrm>
          <a:prstGeom prst="rect">
            <a:avLst/>
          </a:prstGeom>
          <a:noFill/>
          <a:ln/>
        </p:spPr>
        <p:txBody>
          <a:bodyPr wrap="square" lIns="0" tIns="0" rIns="0" bIns="0" rtlCol="0" anchor="t"/>
          <a:lstStyle/>
          <a:p>
            <a:pPr indent="0" marL="0">
              <a:lnSpc>
                <a:spcPct val="105000"/>
              </a:lnSpc>
              <a:buNone/>
            </a:pPr>
            <a:r>
              <a:rPr lang="en-US" sz="980" dirty="0">
                <a:solidFill>
                  <a:srgbClr val="3B1B0F"/>
                </a:solidFill>
                <a:latin typeface="Lato" pitchFamily="34" charset="0"/>
                <a:ea typeface="Lato" pitchFamily="34" charset="-122"/>
                <a:cs typeface="Lato" pitchFamily="34" charset="-120"/>
              </a:rPr>
              <a:t>Pages d'atterrissage en ligne avant les vœux Parcoursup</a:t>
            </a:r>
            <a:endParaRPr lang="en-US" sz="980" dirty="0"/>
          </a:p>
        </p:txBody>
      </p:sp>
      <p:sp>
        <p:nvSpPr>
          <p:cNvPr id="31" name="Text 28"/>
          <p:cNvSpPr txBox="1"/>
          <p:nvPr/>
        </p:nvSpPr>
        <p:spPr>
          <a:xfrm>
            <a:off x="548640" y="6446520"/>
            <a:ext cx="9601200" cy="274320"/>
          </a:xfrm>
          <a:prstGeom prst="rect">
            <a:avLst/>
          </a:prstGeom>
          <a:noFill/>
          <a:ln/>
        </p:spPr>
        <p:txBody>
          <a:bodyPr wrap="square" lIns="0" tIns="0" rIns="0" bIns="0" rtlCol="0" anchor="ctr"/>
          <a:lstStyle/>
          <a:p>
            <a:pPr indent="0" marL="0">
              <a:buNone/>
            </a:pPr>
            <a:r>
              <a:rPr lang="en-US" sz="850" i="1" dirty="0">
                <a:solidFill>
                  <a:srgbClr val="7A5A4A"/>
                </a:solidFill>
                <a:latin typeface="Lato" pitchFamily="34" charset="0"/>
                <a:ea typeface="Lato" pitchFamily="34" charset="-122"/>
                <a:cs typeface="Lato" pitchFamily="34" charset="-120"/>
              </a:rPr>
              <a:t>Objectifs proposés à partir des tendances 2025-2026 ; à valider avec l'ANMF. « Leads mesurés » suppose le tunnel et les événements GA4 décrits en page précédente.</a:t>
            </a:r>
            <a:endParaRPr lang="en-US" sz="850" dirty="0"/>
          </a:p>
        </p:txBody>
      </p:sp>
      <p:pic>
        <p:nvPicPr>
          <p:cNvPr id="32" name="Image 0" descr="/tmp/claude-0/-home-user-Dashboard-Antidotes/19e64f65-f236-5057-97fe-8b787e5e46cb/scratchpad/assets/ChasseursDeGraines_Logo_Quadri.png">    </p:cNvPr>
          <p:cNvPicPr>
            <a:picLocks noChangeAspect="1"/>
          </p:cNvPicPr>
          <p:nvPr/>
        </p:nvPicPr>
        <p:blipFill>
          <a:blip r:embed="rId1"/>
          <a:stretch>
            <a:fillRect/>
          </a:stretch>
        </p:blipFill>
        <p:spPr>
          <a:xfrm>
            <a:off x="10561320" y="6263640"/>
            <a:ext cx="1188720" cy="57607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Chasseurs de Graines — Bilan 2025-2026 &amp; cap 2027</dc:title>
  <dc:subject>PptxGenJS Presentation</dc:subject>
  <dc:creator>Alessandro Di Giovanni</dc:creator>
  <cp:lastModifiedBy>Alessandro Di Giovanni</cp:lastModifiedBy>
  <cp:revision>1</cp:revision>
  <dcterms:created xsi:type="dcterms:W3CDTF">2026-09-05T12:45:02Z</dcterms:created>
  <dcterms:modified xsi:type="dcterms:W3CDTF">2026-09-05T12:45:03Z</dcterms:modified>
</cp:coreProperties>
</file>